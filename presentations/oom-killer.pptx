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dias/tardes. Mi presentacion desarrolla el caso de estudio del OOM Killer: el mecanismo que usa Linux cuando el sistema literalmente se queda sin memoria. Voy a seguir la guia de preguntas del profesor, y voy a cerrar con la pregunta de discusion.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presentacion sigue la guia de preguntas del caso de estudio entregada por el profesor: que significa usar memoria, que pasa cuando varios procesos compiten, como el kernel mide la memoria disponible, que es el OOM Killer, por que decide terminar un proceso, y que consecuencias tiene. Cerramos con la pregunta de discusion.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escenario que plantea la guia: un sistema Linux con muy poca memoria disponible, donde varios procesos siguen pidiendo memoria hasta que el sistema llega a un punto critico y el kernel tiene que decidir como recuperar memoria. Vamos a diseccionar exactamente esto, paso por paso, respondiendo las seis preguntas guia y cerrando con la discusion.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Cuando decimos que un proceso usa memoria, hay que distinguir dos capas. Primero, la memoria virtual: el espacio de direcciones que el proceso ve, reservado mediante malloc, el stack, el codigo y bibliotecas mapeadas, o mmap. Segundo, la memoria fisica real, o RSS: las paginas que de verdad estan cargadas en RAM. Un proceso puede reservar mucho espacio virtual sin que eso implique consumo fisico inmediato -- eso solo pasa en el primer page fault, cuando el proceso realmente escribe o lee esa pagina. Esto se puede ver en /proc/pid/status, comparando VmSize contra VmRSS.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Cuando varios procesos piden memoria simultaneamente, el kernel no reserva RAM fisica de inmediato para cada uno. Usa demand paging: solo mapea espacio de direcciones virtuales, y la memoria fisica real no se asigna hasta el primer page fault. Como muchos procesos nunca usan todo lo que pidieron, el kernel permite overcommit: un sistema con 16GB de RAM y 8GB de swap puede tener 40GB comprometidos entre todos los procesos activos.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kernel controla la contencion entre procesos con vm.overcommit_memory, con tres modos. Modo 0, el default: heuristico, rechaza asignaciones absurdas pero permite el resto. Modo 1: siempre concede. Modo 2: modo estricto, nunca promete mas de swap mas un porcentaje de RAM fisica. En el diagrama vemos el flujo completo hasta la invocacion final del OOM Killer si todo lo demas falla.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kernel no espera a quedarse literalmente en cero para actuar. La memoria fisica se organiza en zonas, y cada zona tiene tres marcas de agua: min, low y high. Cuando las paginas libres caen bajo low, se despierta kswapd para reclamar en background. Si caen bajo min, el propio proceso que esta asignando memoria hace reclaim directo -- tiene que esperar mientras el kernel libera paginas. Todo este estado se resume para el usuario en /proc/meminfo.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OOM Killer es un mecanismo del kernel de Linux -- la funcion oom_kill en mm/oom_kill.c -- que se activa cuando el sistema esta criticamente bajo de memoria fisica y de swap, y ya no queda nada mas que reclamar. Su unica tarea es elegir un proceso y terminarlo para liberar memoria y mantener el sistema vivo. No es un proceso aparte ni un antivirus: es parte del subsistema de gestion de memoria del kernel.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 que el kernel decide terminar un proceso en vez de simplemente fallar la asignacion? El problema es que, bajo overcommit, esa memoria ya fue prometida a otro proceso. Ademas, muchisimo software en C nunca comprueba si malloc devolvio NULL. Entonces el kernel decide: en vez de arriesgar corrupcion de datos en todo el sistema, termina un proceso especifico de forma controlada.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Como decide exactamente cual proceso matar? Con oom_badness(), en mm/oom_kill.c. A cada proceso candidato se le asigna un puntaje de 0 a 1000. La formula: se suman las paginas RSS, las paginas en swap, y las paginas de tablas de paginas. A ese total se le suma un ajuste basado en oom_score_adj multiplicado por la RAM total del sistema. El resultado se consulta en /proc/pid/oom_score.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 es configurable. oom_score_adj acepta valores de -1000 a +1000. En -1000, el proceso es inmune. En +1000, es casi seguro que sera la primera victima. En produccion, con systemd uno puede poner OOMScoreAdjust=-1000 en un servicio critico como una base de datos. Tambien existe el principio del sacrificio del hijo.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Terminar un proceso no es gratis. Primero, recibe SIGKILL de inmediato -- no puede capturar la senal ni cerrar limpiamente. Segundo, cualquier trabajo en memoria que no se habia guardado en disco se pierde. Tercero, aunque systemd o Kubernetes puedan reiniciar el servicio automaticamente, hay downtime real durante ese lapso. Cuarto, si el algoritmo elige mal -- por ejemplo, mata sshd en vez del proceso realmente responsable -- el diagnostico se complica muchisimo. Y aunque queda rastro en los logs, eso ayuda al post-mortem pero no evita el impacto inicial.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Como profundizacion: en cgroups v2, cada grupo puede tener su propio limite, memory.max. En Kubernetes, el kubelet monitorea container_memory_working_set_bytes y puede matar un pod con su propia logica, incluso antes de que el kernel active su OOM Killer.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kernel siempre deja rastro. En dmesg o journalctl -k va a aparecer invoked oom-killer, junto con el proceso elegido y su puntaje. Tambien existe panic_on_oom, que en lugar de matar un proceso, hace un panic completo del sistema.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Aqui abrimos la discusion. Tenemos cinco procesos candidatos en un sistema bajo presion de memoria: sshd, una pestana de Chrome, postgres, un script de respaldo, y un proceso propio del estudiante con una fuga de memoria. Con lo que vimos de oom_badness -- memoria usada, tiempo de vida, oom_score_adj -- y con las consecuencias de matar cada uno, a cual matarian y por que? Este es un buen punto para abrir el debate con la clase antes de pasar a las conclusiones.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cerrar: el OOM Killer no es un bug ni algo aleatorio. Es la consecuencia logica y necesaria de que Linux permita overcommit de memoria. Es predecible y configurable si uno entiende oom_score_adj y los limites de cgroup. Tiene un costo real: SIGKILL, perdida de trabajo no guardado y downtime. Con esto termino, hay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Gracias por su atencion.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690372" y="1764792"/>
            <a:ext cx="10698480" cy="1188720"/>
          </a:xfrm>
          <a:prstGeom prst="rect">
            <a:avLst/>
          </a:prstGeom>
          <a:noFill/>
          <a:ln/>
        </p:spPr>
        <p:txBody>
          <a:bodyPr wrap="square" lIns="0" tIns="0" rIns="0" bIns="0" rtlCol="0" anchor="ctr"/>
          <a:lstStyle/>
          <a:p>
            <a:pPr algn="l" indent="0" marL="0">
              <a:buNone/>
            </a:pPr>
            <a:r>
              <a:rPr lang="en-US" sz="6600" b="1" dirty="0">
                <a:solidFill>
                  <a:srgbClr val="00E5FF">
                    <a:alpha val="45000"/>
                  </a:srgbClr>
                </a:solidFill>
                <a:latin typeface="Arial Black" pitchFamily="34" charset="0"/>
                <a:ea typeface="Arial Black" pitchFamily="34" charset="-122"/>
                <a:cs typeface="Arial Black" pitchFamily="34" charset="-120"/>
              </a:rPr>
              <a:t>OOM KILLER</a:t>
            </a:r>
            <a:endParaRPr lang="en-US" sz="6600" dirty="0"/>
          </a:p>
        </p:txBody>
      </p:sp>
      <p:sp>
        <p:nvSpPr>
          <p:cNvPr id="3" name="Text 1"/>
          <p:cNvSpPr txBox="1"/>
          <p:nvPr/>
        </p:nvSpPr>
        <p:spPr>
          <a:xfrm>
            <a:off x="772668" y="1805940"/>
            <a:ext cx="10698480" cy="1188720"/>
          </a:xfrm>
          <a:prstGeom prst="rect">
            <a:avLst/>
          </a:prstGeom>
          <a:noFill/>
          <a:ln/>
        </p:spPr>
        <p:txBody>
          <a:bodyPr wrap="square" lIns="0" tIns="0" rIns="0" bIns="0" rtlCol="0" anchor="ctr"/>
          <a:lstStyle/>
          <a:p>
            <a:pPr algn="l" indent="0" marL="0">
              <a:buNone/>
            </a:pPr>
            <a:r>
              <a:rPr lang="en-US" sz="6600" b="1" dirty="0">
                <a:solidFill>
                  <a:srgbClr val="8A0000">
                    <a:alpha val="65000"/>
                  </a:srgbClr>
                </a:solidFill>
                <a:latin typeface="Arial Black" pitchFamily="34" charset="0"/>
                <a:ea typeface="Arial Black" pitchFamily="34" charset="-122"/>
                <a:cs typeface="Arial Black" pitchFamily="34" charset="-120"/>
              </a:rPr>
              <a:t>OOM KILLER</a:t>
            </a:r>
            <a:endParaRPr lang="en-US" sz="6600" dirty="0"/>
          </a:p>
        </p:txBody>
      </p:sp>
      <p:sp>
        <p:nvSpPr>
          <p:cNvPr id="4" name="Text 2"/>
          <p:cNvSpPr txBox="1"/>
          <p:nvPr/>
        </p:nvSpPr>
        <p:spPr>
          <a:xfrm>
            <a:off x="731520" y="1783080"/>
            <a:ext cx="10698480" cy="1188720"/>
          </a:xfrm>
          <a:prstGeom prst="rect">
            <a:avLst/>
          </a:prstGeom>
          <a:noFill/>
          <a:ln/>
        </p:spPr>
        <p:txBody>
          <a:bodyPr wrap="square" lIns="0" tIns="0" rIns="0" bIns="0" rtlCol="0" anchor="ctr"/>
          <a:lstStyle/>
          <a:p>
            <a:pPr algn="l" indent="0" marL="0">
              <a:buNone/>
            </a:pPr>
            <a:r>
              <a:rPr lang="en-US" sz="6600" b="1" dirty="0">
                <a:solidFill>
                  <a:srgbClr val="FF1A1A"/>
                </a:solidFill>
                <a:latin typeface="Arial Black" pitchFamily="34" charset="0"/>
                <a:ea typeface="Arial Black" pitchFamily="34" charset="-122"/>
                <a:cs typeface="Arial Black" pitchFamily="34" charset="-120"/>
              </a:rPr>
              <a:t>OOM KILLER</a:t>
            </a:r>
            <a:endParaRPr lang="en-US" sz="6600" dirty="0"/>
          </a:p>
        </p:txBody>
      </p:sp>
      <p:sp>
        <p:nvSpPr>
          <p:cNvPr id="5" name="Shape 3"/>
          <p:cNvSpPr/>
          <p:nvPr/>
        </p:nvSpPr>
        <p:spPr>
          <a:xfrm>
            <a:off x="1587398" y="1997050"/>
            <a:ext cx="2353666" cy="32004"/>
          </a:xfrm>
          <a:prstGeom prst="rect">
            <a:avLst/>
          </a:prstGeom>
          <a:solidFill>
            <a:srgbClr val="00E5FF">
              <a:alpha val="70000"/>
            </a:srgbClr>
          </a:solidFill>
          <a:ln/>
        </p:spPr>
      </p:sp>
      <p:sp>
        <p:nvSpPr>
          <p:cNvPr id="6" name="Shape 4"/>
          <p:cNvSpPr/>
          <p:nvPr/>
        </p:nvSpPr>
        <p:spPr>
          <a:xfrm>
            <a:off x="6615684" y="2710282"/>
            <a:ext cx="3209544" cy="32004"/>
          </a:xfrm>
          <a:prstGeom prst="rect">
            <a:avLst/>
          </a:prstGeom>
          <a:solidFill>
            <a:srgbClr val="FF1A1A">
              <a:alpha val="80000"/>
            </a:srgbClr>
          </a:solidFill>
          <a:ln/>
        </p:spPr>
      </p:sp>
      <p:sp>
        <p:nvSpPr>
          <p:cNvPr id="7" name="Text 5"/>
          <p:cNvSpPr txBox="1"/>
          <p:nvPr/>
        </p:nvSpPr>
        <p:spPr>
          <a:xfrm>
            <a:off x="777240" y="2880360"/>
            <a:ext cx="10058400" cy="502920"/>
          </a:xfrm>
          <a:prstGeom prst="rect">
            <a:avLst/>
          </a:prstGeom>
          <a:noFill/>
          <a:ln/>
        </p:spPr>
        <p:txBody>
          <a:bodyPr wrap="square" lIns="0" tIns="0" rIns="0" bIns="0" rtlCol="0" anchor="ctr"/>
          <a:lstStyle/>
          <a:p>
            <a:pPr indent="0" marL="0">
              <a:buNone/>
            </a:pPr>
            <a:r>
              <a:rPr lang="en-US" sz="2200" spc="100" kern="0" dirty="0">
                <a:solidFill>
                  <a:srgbClr val="FFFFFF"/>
                </a:solidFill>
                <a:latin typeface="Arial" pitchFamily="34" charset="0"/>
                <a:ea typeface="Arial" pitchFamily="34" charset="-122"/>
                <a:cs typeface="Arial" pitchFamily="34" charset="-120"/>
              </a:rPr>
              <a:t>CUANDO LINUX SE QUEDA SIN MEMORIA</a:t>
            </a:r>
            <a:endParaRPr lang="en-US" sz="2200" dirty="0"/>
          </a:p>
        </p:txBody>
      </p:sp>
      <p:sp>
        <p:nvSpPr>
          <p:cNvPr id="8" name="Text 6"/>
          <p:cNvSpPr txBox="1"/>
          <p:nvPr/>
        </p:nvSpPr>
        <p:spPr>
          <a:xfrm>
            <a:off x="777240" y="3429000"/>
            <a:ext cx="8686800" cy="640080"/>
          </a:xfrm>
          <a:prstGeom prst="rect">
            <a:avLst/>
          </a:prstGeom>
          <a:noFill/>
          <a:ln/>
        </p:spPr>
        <p:txBody>
          <a:bodyPr wrap="square" lIns="0" tIns="0" rIns="0" bIns="0" rtlCol="0" anchor="ctr"/>
          <a:lstStyle/>
          <a:p>
            <a:pPr indent="0" marL="0">
              <a:lnSpc>
                <a:spcPct val="120000"/>
              </a:lnSpc>
              <a:buNone/>
            </a:pPr>
            <a:r>
              <a:rPr lang="en-US" sz="1400" dirty="0">
                <a:solidFill>
                  <a:srgbClr val="B8B8B8"/>
                </a:solidFill>
                <a:latin typeface="Calibri" pitchFamily="34" charset="0"/>
                <a:ea typeface="Calibri" pitchFamily="34" charset="-122"/>
                <a:cs typeface="Calibri" pitchFamily="34" charset="-120"/>
              </a:rPr>
              <a:t>Caso de estudio: arquitectura, heurística de decisión y comportamiento</a:t>
            </a:r>
            <a:endParaRPr lang="en-US" sz="1400" dirty="0"/>
          </a:p>
          <a:p>
            <a:pPr indent="0" marL="0">
              <a:lnSpc>
                <a:spcPct val="120000"/>
              </a:lnSpc>
              <a:buNone/>
            </a:pPr>
            <a:r>
              <a:rPr lang="en-US" sz="1400" dirty="0">
                <a:solidFill>
                  <a:srgbClr val="B8B8B8"/>
                </a:solidFill>
                <a:latin typeface="Calibri" pitchFamily="34" charset="0"/>
                <a:ea typeface="Calibri" pitchFamily="34" charset="-122"/>
                <a:cs typeface="Calibri" pitchFamily="34" charset="-120"/>
              </a:rPr>
              <a:t>del kernel ante el agotamiento de memoria</a:t>
            </a:r>
            <a:endParaRPr lang="en-US" sz="1400" dirty="0"/>
          </a:p>
        </p:txBody>
      </p:sp>
      <p:sp>
        <p:nvSpPr>
          <p:cNvPr id="9" name="Shape 7"/>
          <p:cNvSpPr/>
          <p:nvPr/>
        </p:nvSpPr>
        <p:spPr>
          <a:xfrm>
            <a:off x="777240" y="4526280"/>
            <a:ext cx="2926080" cy="0"/>
          </a:xfrm>
          <a:prstGeom prst="line">
            <a:avLst/>
          </a:prstGeom>
          <a:noFill/>
          <a:ln w="12700">
            <a:solidFill>
              <a:srgbClr val="333333"/>
            </a:solidFill>
            <a:prstDash val="solid"/>
          </a:ln>
        </p:spPr>
      </p:sp>
      <p:sp>
        <p:nvSpPr>
          <p:cNvPr id="10" name="Text 8"/>
          <p:cNvSpPr txBox="1"/>
          <p:nvPr/>
        </p:nvSpPr>
        <p:spPr>
          <a:xfrm>
            <a:off x="777240" y="4709160"/>
            <a:ext cx="5029200" cy="1280160"/>
          </a:xfrm>
          <a:prstGeom prst="rect">
            <a:avLst/>
          </a:prstGeom>
          <a:noFill/>
          <a:ln/>
        </p:spPr>
        <p:txBody>
          <a:bodyPr wrap="square" lIns="0" tIns="0" rIns="0" bIns="0" rtlCol="0" anchor="ctr"/>
          <a:lstStyle/>
          <a:p>
            <a:pPr indent="0" marL="0">
              <a:lnSpc>
                <a:spcPct val="135000"/>
              </a:lnSpc>
              <a:buNone/>
            </a:pPr>
            <a:r>
              <a:rPr lang="en-US" sz="1400" dirty="0">
                <a:solidFill>
                  <a:srgbClr val="B8B8B8"/>
                </a:solidFill>
                <a:latin typeface="Calibri" pitchFamily="34" charset="0"/>
                <a:ea typeface="Calibri" pitchFamily="34" charset="-122"/>
                <a:cs typeface="Calibri" pitchFamily="34" charset="-120"/>
              </a:rPr>
              <a:t>Estudiante:  </a:t>
            </a:r>
            <a:pPr indent="0" marL="0">
              <a:lnSpc>
                <a:spcPct val="135000"/>
              </a:lnSpc>
              <a:buNone/>
            </a:pPr>
            <a:r>
              <a:rPr lang="en-US" sz="1400" b="1" dirty="0">
                <a:solidFill>
                  <a:srgbClr val="FFFFFF"/>
                </a:solidFill>
                <a:latin typeface="Calibri" pitchFamily="34" charset="0"/>
                <a:ea typeface="Calibri" pitchFamily="34" charset="-122"/>
                <a:cs typeface="Calibri" pitchFamily="34" charset="-120"/>
              </a:rPr>
              <a:t>James Tack
</a:t>
            </a:r>
            <a:pPr indent="0" marL="0">
              <a:lnSpc>
                <a:spcPct val="135000"/>
              </a:lnSpc>
              <a:buNone/>
            </a:pPr>
            <a:r>
              <a:rPr lang="en-US" sz="1400" dirty="0">
                <a:solidFill>
                  <a:srgbClr val="B8B8B8"/>
                </a:solidFill>
                <a:latin typeface="Calibri" pitchFamily="34" charset="0"/>
                <a:ea typeface="Calibri" pitchFamily="34" charset="-122"/>
                <a:cs typeface="Calibri" pitchFamily="34" charset="-120"/>
              </a:rPr>
              <a:t>Profesor:  </a:t>
            </a:r>
            <a:pPr indent="0" marL="0">
              <a:lnSpc>
                <a:spcPct val="135000"/>
              </a:lnSpc>
              <a:buNone/>
            </a:pPr>
            <a:r>
              <a:rPr lang="en-US" sz="1400" b="1" dirty="0">
                <a:solidFill>
                  <a:srgbClr val="FFFFFF"/>
                </a:solidFill>
                <a:latin typeface="Calibri" pitchFamily="34" charset="0"/>
                <a:ea typeface="Calibri" pitchFamily="34" charset="-122"/>
                <a:cs typeface="Calibri" pitchFamily="34" charset="-120"/>
              </a:rPr>
              <a:t>Isacio Tamayo
</a:t>
            </a:r>
            <a:pPr indent="0" marL="0">
              <a:lnSpc>
                <a:spcPct val="135000"/>
              </a:lnSpc>
              <a:buNone/>
            </a:pPr>
            <a:r>
              <a:rPr lang="en-US" sz="1400" dirty="0">
                <a:solidFill>
                  <a:srgbClr val="B8B8B8"/>
                </a:solidFill>
                <a:latin typeface="Calibri" pitchFamily="34" charset="0"/>
                <a:ea typeface="Calibri" pitchFamily="34" charset="-122"/>
                <a:cs typeface="Calibri" pitchFamily="34" charset="-120"/>
              </a:rPr>
              <a:t>Grupo:  </a:t>
            </a:r>
            <a:pPr indent="0" marL="0">
              <a:lnSpc>
                <a:spcPct val="135000"/>
              </a:lnSpc>
              <a:buNone/>
            </a:pPr>
            <a:r>
              <a:rPr lang="en-US" sz="1400" b="1" dirty="0">
                <a:solidFill>
                  <a:srgbClr val="FFFFFF"/>
                </a:solidFill>
                <a:latin typeface="Calibri" pitchFamily="34" charset="0"/>
                <a:ea typeface="Calibri" pitchFamily="34" charset="-122"/>
                <a:cs typeface="Calibri" pitchFamily="34" charset="-120"/>
              </a:rPr>
              <a:t>1IL143</a:t>
            </a:r>
            <a:endParaRPr lang="en-US" sz="1400" dirty="0"/>
          </a:p>
        </p:txBody>
      </p:sp>
      <p:sp>
        <p:nvSpPr>
          <p:cNvPr id="11" name="Text 9"/>
          <p:cNvSpPr txBox="1"/>
          <p:nvPr/>
        </p:nvSpPr>
        <p:spPr>
          <a:xfrm>
            <a:off x="6400800" y="4709160"/>
            <a:ext cx="5029200" cy="1280160"/>
          </a:xfrm>
          <a:prstGeom prst="rect">
            <a:avLst/>
          </a:prstGeom>
          <a:noFill/>
          <a:ln/>
        </p:spPr>
        <p:txBody>
          <a:bodyPr wrap="square" lIns="0" tIns="0" rIns="0" bIns="0" rtlCol="0" anchor="ctr"/>
          <a:lstStyle/>
          <a:p>
            <a:pPr algn="r" indent="0" marL="0">
              <a:lnSpc>
                <a:spcPct val="135000"/>
              </a:lnSpc>
              <a:buNone/>
            </a:pPr>
            <a:r>
              <a:rPr lang="en-US" sz="1250" dirty="0">
                <a:solidFill>
                  <a:srgbClr val="B8B8B8"/>
                </a:solidFill>
                <a:latin typeface="Calibri" pitchFamily="34" charset="0"/>
                <a:ea typeface="Calibri" pitchFamily="34" charset="-122"/>
                <a:cs typeface="Calibri" pitchFamily="34" charset="-120"/>
              </a:rPr>
              <a:t>Universidad Tecnológica de Panamá</a:t>
            </a:r>
            <a:endParaRPr lang="en-US" sz="1250" dirty="0"/>
          </a:p>
          <a:p>
            <a:pPr algn="r" indent="0" marL="0">
              <a:lnSpc>
                <a:spcPct val="135000"/>
              </a:lnSpc>
              <a:buNone/>
            </a:pPr>
            <a:r>
              <a:rPr lang="en-US" sz="1250" dirty="0">
                <a:solidFill>
                  <a:srgbClr val="B8B8B8"/>
                </a:solidFill>
                <a:latin typeface="Calibri" pitchFamily="34" charset="0"/>
                <a:ea typeface="Calibri" pitchFamily="34" charset="-122"/>
                <a:cs typeface="Calibri" pitchFamily="34" charset="-120"/>
              </a:rPr>
              <a:t>Facultad de Ingeniería de Sistemas Computacionales</a:t>
            </a:r>
            <a:endParaRPr lang="en-US" sz="1250" dirty="0"/>
          </a:p>
          <a:p>
            <a:pPr algn="r" indent="0" marL="0">
              <a:lnSpc>
                <a:spcPct val="135000"/>
              </a:lnSpc>
              <a:buNone/>
            </a:pPr>
            <a:r>
              <a:rPr lang="en-US" sz="1250" dirty="0">
                <a:solidFill>
                  <a:srgbClr val="B8B8B8"/>
                </a:solidFill>
                <a:latin typeface="Calibri" pitchFamily="34" charset="0"/>
                <a:ea typeface="Calibri" pitchFamily="34" charset="-122"/>
                <a:cs typeface="Calibri" pitchFamily="34" charset="-120"/>
              </a:rPr>
              <a:t>Departamento de Computación y Simulación de Sistemas</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10881360" y="457200"/>
            <a:ext cx="1097280" cy="320040"/>
          </a:xfrm>
          <a:prstGeom prst="rect">
            <a:avLst/>
          </a:prstGeom>
          <a:noFill/>
          <a:ln/>
        </p:spPr>
        <p:txBody>
          <a:bodyPr wrap="square" lIns="0" tIns="0" rIns="0" bIns="0" rtlCol="0" anchor="ctr"/>
          <a:lstStyle/>
          <a:p>
            <a:pPr algn="r" indent="0" marL="0">
              <a:buNone/>
            </a:pPr>
            <a:r>
              <a:rPr lang="en-US" sz="1100" dirty="0">
                <a:solidFill>
                  <a:srgbClr val="B8B8B8"/>
                </a:solidFill>
                <a:latin typeface="Arial" pitchFamily="34" charset="0"/>
                <a:ea typeface="Arial" pitchFamily="34" charset="-122"/>
                <a:cs typeface="Arial" pitchFamily="34" charset="-120"/>
              </a:rPr>
              <a:t>2 / 17</a:t>
            </a:r>
            <a:endParaRPr lang="en-US" sz="1100" dirty="0"/>
          </a:p>
        </p:txBody>
      </p:sp>
      <p:sp>
        <p:nvSpPr>
          <p:cNvPr id="3" name="Text 1"/>
          <p:cNvSpPr txBox="1"/>
          <p:nvPr/>
        </p:nvSpPr>
        <p:spPr>
          <a:xfrm>
            <a:off x="731520" y="502920"/>
            <a:ext cx="7315200" cy="320040"/>
          </a:xfrm>
          <a:prstGeom prst="rect">
            <a:avLst/>
          </a:prstGeom>
          <a:noFill/>
          <a:ln/>
        </p:spPr>
        <p:txBody>
          <a:bodyPr wrap="square" lIns="0" tIns="0" rIns="0" bIns="0" rtlCol="0" anchor="ctr"/>
          <a:lstStyle/>
          <a:p>
            <a:pPr indent="0" marL="0">
              <a:buNone/>
            </a:pPr>
            <a:r>
              <a:rPr lang="en-US" sz="1200" b="1" spc="200" kern="0" dirty="0">
                <a:solidFill>
                  <a:srgbClr val="FF1A1A"/>
                </a:solidFill>
                <a:latin typeface="Arial" pitchFamily="34" charset="0"/>
                <a:ea typeface="Arial" pitchFamily="34" charset="-122"/>
                <a:cs typeface="Arial" pitchFamily="34" charset="-120"/>
              </a:rPr>
              <a:t>AGENDA</a:t>
            </a:r>
            <a:endParaRPr lang="en-US" sz="1200" dirty="0"/>
          </a:p>
        </p:txBody>
      </p:sp>
      <p:sp>
        <p:nvSpPr>
          <p:cNvPr id="4" name="Text 2"/>
          <p:cNvSpPr txBox="1"/>
          <p:nvPr/>
        </p:nvSpPr>
        <p:spPr>
          <a:xfrm>
            <a:off x="644652" y="758952"/>
            <a:ext cx="9144000" cy="777240"/>
          </a:xfrm>
          <a:prstGeom prst="rect">
            <a:avLst/>
          </a:prstGeom>
          <a:noFill/>
          <a:ln/>
        </p:spPr>
        <p:txBody>
          <a:bodyPr wrap="square" lIns="0" tIns="0" rIns="0" bIns="0" rtlCol="0" anchor="ctr"/>
          <a:lstStyle/>
          <a:p>
            <a:pPr algn="l" indent="0" marL="0">
              <a:buNone/>
            </a:pPr>
            <a:r>
              <a:rPr lang="en-US" sz="3200" b="1" dirty="0">
                <a:solidFill>
                  <a:srgbClr val="00E5FF">
                    <a:alpha val="45000"/>
                  </a:srgbClr>
                </a:solidFill>
                <a:latin typeface="Arial Black" pitchFamily="34" charset="0"/>
                <a:ea typeface="Arial Black" pitchFamily="34" charset="-122"/>
                <a:cs typeface="Arial Black" pitchFamily="34" charset="-120"/>
              </a:rPr>
              <a:t>QUÉ VAMOS A VER</a:t>
            </a:r>
            <a:endParaRPr lang="en-US" sz="3200" dirty="0"/>
          </a:p>
        </p:txBody>
      </p:sp>
      <p:sp>
        <p:nvSpPr>
          <p:cNvPr id="5" name="Text 3"/>
          <p:cNvSpPr txBox="1"/>
          <p:nvPr/>
        </p:nvSpPr>
        <p:spPr>
          <a:xfrm>
            <a:off x="726948" y="800100"/>
            <a:ext cx="9144000" cy="777240"/>
          </a:xfrm>
          <a:prstGeom prst="rect">
            <a:avLst/>
          </a:prstGeom>
          <a:noFill/>
          <a:ln/>
        </p:spPr>
        <p:txBody>
          <a:bodyPr wrap="square" lIns="0" tIns="0" rIns="0" bIns="0" rtlCol="0" anchor="ctr"/>
          <a:lstStyle/>
          <a:p>
            <a:pPr algn="l" indent="0" marL="0">
              <a:buNone/>
            </a:pPr>
            <a:r>
              <a:rPr lang="en-US" sz="3200" b="1" dirty="0">
                <a:solidFill>
                  <a:srgbClr val="8A0000">
                    <a:alpha val="65000"/>
                  </a:srgbClr>
                </a:solidFill>
                <a:latin typeface="Arial Black" pitchFamily="34" charset="0"/>
                <a:ea typeface="Arial Black" pitchFamily="34" charset="-122"/>
                <a:cs typeface="Arial Black" pitchFamily="34" charset="-120"/>
              </a:rPr>
              <a:t>QUÉ VAMOS A VER</a:t>
            </a:r>
            <a:endParaRPr lang="en-US" sz="3200" dirty="0"/>
          </a:p>
        </p:txBody>
      </p:sp>
      <p:sp>
        <p:nvSpPr>
          <p:cNvPr id="6" name="Text 4"/>
          <p:cNvSpPr txBox="1"/>
          <p:nvPr/>
        </p:nvSpPr>
        <p:spPr>
          <a:xfrm>
            <a:off x="685800" y="777240"/>
            <a:ext cx="9144000" cy="777240"/>
          </a:xfrm>
          <a:prstGeom prst="rect">
            <a:avLst/>
          </a:prstGeom>
          <a:noFill/>
          <a:ln/>
        </p:spPr>
        <p:txBody>
          <a:bodyPr wrap="square" lIns="0" tIns="0" rIns="0" bIns="0" rtlCol="0" anchor="ctr"/>
          <a:lstStyle/>
          <a:p>
            <a:pPr algn="l" indent="0" marL="0">
              <a:buNone/>
            </a:pPr>
            <a:r>
              <a:rPr lang="en-US" sz="3200" b="1" dirty="0">
                <a:solidFill>
                  <a:srgbClr val="FF1A1A"/>
                </a:solidFill>
                <a:latin typeface="Arial Black" pitchFamily="34" charset="0"/>
                <a:ea typeface="Arial Black" pitchFamily="34" charset="-122"/>
                <a:cs typeface="Arial Black" pitchFamily="34" charset="-120"/>
              </a:rPr>
              <a:t>QUÉ VAMOS A VER</a:t>
            </a:r>
            <a:endParaRPr lang="en-US" sz="3200" dirty="0"/>
          </a:p>
        </p:txBody>
      </p:sp>
      <p:sp>
        <p:nvSpPr>
          <p:cNvPr id="7" name="Shape 5"/>
          <p:cNvSpPr/>
          <p:nvPr/>
        </p:nvSpPr>
        <p:spPr>
          <a:xfrm>
            <a:off x="1417320" y="917143"/>
            <a:ext cx="2011680" cy="32004"/>
          </a:xfrm>
          <a:prstGeom prst="rect">
            <a:avLst/>
          </a:prstGeom>
          <a:solidFill>
            <a:srgbClr val="00E5FF">
              <a:alpha val="70000"/>
            </a:srgbClr>
          </a:solidFill>
          <a:ln/>
        </p:spPr>
      </p:sp>
      <p:sp>
        <p:nvSpPr>
          <p:cNvPr id="8" name="Shape 6"/>
          <p:cNvSpPr/>
          <p:nvPr/>
        </p:nvSpPr>
        <p:spPr>
          <a:xfrm>
            <a:off x="5715000" y="1383487"/>
            <a:ext cx="2743200" cy="32004"/>
          </a:xfrm>
          <a:prstGeom prst="rect">
            <a:avLst/>
          </a:prstGeom>
          <a:solidFill>
            <a:srgbClr val="FF1A1A">
              <a:alpha val="80000"/>
            </a:srgbClr>
          </a:solidFill>
          <a:ln/>
        </p:spPr>
      </p:sp>
      <p:sp>
        <p:nvSpPr>
          <p:cNvPr id="9" name="Text 7"/>
          <p:cNvSpPr txBox="1"/>
          <p:nvPr/>
        </p:nvSpPr>
        <p:spPr>
          <a:xfrm>
            <a:off x="731520" y="1463040"/>
            <a:ext cx="9144000" cy="292608"/>
          </a:xfrm>
          <a:prstGeom prst="rect">
            <a:avLst/>
          </a:prstGeom>
          <a:noFill/>
          <a:ln/>
        </p:spPr>
        <p:txBody>
          <a:bodyPr wrap="square" lIns="0" tIns="0" rIns="0" bIns="0" rtlCol="0" anchor="ctr"/>
          <a:lstStyle/>
          <a:p>
            <a:pPr indent="0" marL="0">
              <a:buNone/>
            </a:pPr>
            <a:r>
              <a:rPr lang="en-US" sz="1250" i="1" dirty="0">
                <a:solidFill>
                  <a:srgbClr val="B8B8B8"/>
                </a:solidFill>
                <a:latin typeface="Calibri" pitchFamily="34" charset="0"/>
                <a:ea typeface="Calibri" pitchFamily="34" charset="-122"/>
                <a:cs typeface="Calibri" pitchFamily="34" charset="-120"/>
              </a:rPr>
              <a:t>Estructurado sobre la guía de preguntas del caso de estudio</a:t>
            </a:r>
            <a:endParaRPr lang="en-US" sz="1250" dirty="0"/>
          </a:p>
        </p:txBody>
      </p:sp>
      <p:sp>
        <p:nvSpPr>
          <p:cNvPr id="10" name="Text 8"/>
          <p:cNvSpPr txBox="1"/>
          <p:nvPr/>
        </p:nvSpPr>
        <p:spPr>
          <a:xfrm>
            <a:off x="777240" y="1965960"/>
            <a:ext cx="548640" cy="457200"/>
          </a:xfrm>
          <a:prstGeom prst="rect">
            <a:avLst/>
          </a:prstGeom>
          <a:noFill/>
          <a:ln/>
        </p:spPr>
        <p:txBody>
          <a:bodyPr wrap="square" lIns="0" tIns="0" rIns="0" bIns="0" rtlCol="0" anchor="ctr"/>
          <a:lstStyle/>
          <a:p>
            <a:pPr indent="0" marL="0">
              <a:buNone/>
            </a:pPr>
            <a:r>
              <a:rPr lang="en-US" sz="1600" b="1" dirty="0">
                <a:solidFill>
                  <a:srgbClr val="FF1A1A"/>
                </a:solidFill>
                <a:latin typeface="Arial Black" pitchFamily="34" charset="0"/>
                <a:ea typeface="Arial Black" pitchFamily="34" charset="-122"/>
                <a:cs typeface="Arial Black" pitchFamily="34" charset="-120"/>
              </a:rPr>
              <a:t>P1</a:t>
            </a:r>
            <a:endParaRPr lang="en-US" sz="1600" dirty="0"/>
          </a:p>
        </p:txBody>
      </p:sp>
      <p:sp>
        <p:nvSpPr>
          <p:cNvPr id="11" name="Text 9"/>
          <p:cNvSpPr txBox="1"/>
          <p:nvPr/>
        </p:nvSpPr>
        <p:spPr>
          <a:xfrm>
            <a:off x="1417320" y="1984248"/>
            <a:ext cx="9418320" cy="41148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¿Qué significa que un proceso use memoria?</a:t>
            </a:r>
            <a:endParaRPr lang="en-US" sz="1500" dirty="0"/>
          </a:p>
        </p:txBody>
      </p:sp>
      <p:sp>
        <p:nvSpPr>
          <p:cNvPr id="12" name="Text 10"/>
          <p:cNvSpPr txBox="1"/>
          <p:nvPr/>
        </p:nvSpPr>
        <p:spPr>
          <a:xfrm>
            <a:off x="777240" y="2532888"/>
            <a:ext cx="548640" cy="457200"/>
          </a:xfrm>
          <a:prstGeom prst="rect">
            <a:avLst/>
          </a:prstGeom>
          <a:noFill/>
          <a:ln/>
        </p:spPr>
        <p:txBody>
          <a:bodyPr wrap="square" lIns="0" tIns="0" rIns="0" bIns="0" rtlCol="0" anchor="ctr"/>
          <a:lstStyle/>
          <a:p>
            <a:pPr indent="0" marL="0">
              <a:buNone/>
            </a:pPr>
            <a:r>
              <a:rPr lang="en-US" sz="1600" b="1" dirty="0">
                <a:solidFill>
                  <a:srgbClr val="FF1A1A"/>
                </a:solidFill>
                <a:latin typeface="Arial Black" pitchFamily="34" charset="0"/>
                <a:ea typeface="Arial Black" pitchFamily="34" charset="-122"/>
                <a:cs typeface="Arial Black" pitchFamily="34" charset="-120"/>
              </a:rPr>
              <a:t>P2</a:t>
            </a:r>
            <a:endParaRPr lang="en-US" sz="1600" dirty="0"/>
          </a:p>
        </p:txBody>
      </p:sp>
      <p:sp>
        <p:nvSpPr>
          <p:cNvPr id="13" name="Text 11"/>
          <p:cNvSpPr txBox="1"/>
          <p:nvPr/>
        </p:nvSpPr>
        <p:spPr>
          <a:xfrm>
            <a:off x="1417320" y="2551176"/>
            <a:ext cx="9418320" cy="41148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¿Qué ocurre cuando varios procesos piden más memoria?</a:t>
            </a:r>
            <a:endParaRPr lang="en-US" sz="1500" dirty="0"/>
          </a:p>
        </p:txBody>
      </p:sp>
      <p:sp>
        <p:nvSpPr>
          <p:cNvPr id="14" name="Text 12"/>
          <p:cNvSpPr txBox="1"/>
          <p:nvPr/>
        </p:nvSpPr>
        <p:spPr>
          <a:xfrm>
            <a:off x="777240" y="3099816"/>
            <a:ext cx="548640" cy="457200"/>
          </a:xfrm>
          <a:prstGeom prst="rect">
            <a:avLst/>
          </a:prstGeom>
          <a:noFill/>
          <a:ln/>
        </p:spPr>
        <p:txBody>
          <a:bodyPr wrap="square" lIns="0" tIns="0" rIns="0" bIns="0" rtlCol="0" anchor="ctr"/>
          <a:lstStyle/>
          <a:p>
            <a:pPr indent="0" marL="0">
              <a:buNone/>
            </a:pPr>
            <a:r>
              <a:rPr lang="en-US" sz="1600" b="1" dirty="0">
                <a:solidFill>
                  <a:srgbClr val="FF1A1A"/>
                </a:solidFill>
                <a:latin typeface="Arial Black" pitchFamily="34" charset="0"/>
                <a:ea typeface="Arial Black" pitchFamily="34" charset="-122"/>
                <a:cs typeface="Arial Black" pitchFamily="34" charset="-120"/>
              </a:rPr>
              <a:t>P3</a:t>
            </a:r>
            <a:endParaRPr lang="en-US" sz="1600" dirty="0"/>
          </a:p>
        </p:txBody>
      </p:sp>
      <p:sp>
        <p:nvSpPr>
          <p:cNvPr id="15" name="Text 13"/>
          <p:cNvSpPr txBox="1"/>
          <p:nvPr/>
        </p:nvSpPr>
        <p:spPr>
          <a:xfrm>
            <a:off x="1417320" y="3118104"/>
            <a:ext cx="9418320" cy="41148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¿Cómo sabe el kernel cuánta memoria hay disponible?</a:t>
            </a:r>
            <a:endParaRPr lang="en-US" sz="1500" dirty="0"/>
          </a:p>
        </p:txBody>
      </p:sp>
      <p:sp>
        <p:nvSpPr>
          <p:cNvPr id="16" name="Text 14"/>
          <p:cNvSpPr txBox="1"/>
          <p:nvPr/>
        </p:nvSpPr>
        <p:spPr>
          <a:xfrm>
            <a:off x="777240" y="3666744"/>
            <a:ext cx="548640" cy="457200"/>
          </a:xfrm>
          <a:prstGeom prst="rect">
            <a:avLst/>
          </a:prstGeom>
          <a:noFill/>
          <a:ln/>
        </p:spPr>
        <p:txBody>
          <a:bodyPr wrap="square" lIns="0" tIns="0" rIns="0" bIns="0" rtlCol="0" anchor="ctr"/>
          <a:lstStyle/>
          <a:p>
            <a:pPr indent="0" marL="0">
              <a:buNone/>
            </a:pPr>
            <a:r>
              <a:rPr lang="en-US" sz="1600" b="1" dirty="0">
                <a:solidFill>
                  <a:srgbClr val="FF1A1A"/>
                </a:solidFill>
                <a:latin typeface="Arial Black" pitchFamily="34" charset="0"/>
                <a:ea typeface="Arial Black" pitchFamily="34" charset="-122"/>
                <a:cs typeface="Arial Black" pitchFamily="34" charset="-120"/>
              </a:rPr>
              <a:t>P4</a:t>
            </a:r>
            <a:endParaRPr lang="en-US" sz="1600" dirty="0"/>
          </a:p>
        </p:txBody>
      </p:sp>
      <p:sp>
        <p:nvSpPr>
          <p:cNvPr id="17" name="Text 15"/>
          <p:cNvSpPr txBox="1"/>
          <p:nvPr/>
        </p:nvSpPr>
        <p:spPr>
          <a:xfrm>
            <a:off x="1417320" y="3685032"/>
            <a:ext cx="9418320" cy="41148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¿Qué es el OOM Killer?</a:t>
            </a:r>
            <a:endParaRPr lang="en-US" sz="1500" dirty="0"/>
          </a:p>
        </p:txBody>
      </p:sp>
      <p:sp>
        <p:nvSpPr>
          <p:cNvPr id="18" name="Text 16"/>
          <p:cNvSpPr txBox="1"/>
          <p:nvPr/>
        </p:nvSpPr>
        <p:spPr>
          <a:xfrm>
            <a:off x="777240" y="4233672"/>
            <a:ext cx="548640" cy="457200"/>
          </a:xfrm>
          <a:prstGeom prst="rect">
            <a:avLst/>
          </a:prstGeom>
          <a:noFill/>
          <a:ln/>
        </p:spPr>
        <p:txBody>
          <a:bodyPr wrap="square" lIns="0" tIns="0" rIns="0" bIns="0" rtlCol="0" anchor="ctr"/>
          <a:lstStyle/>
          <a:p>
            <a:pPr indent="0" marL="0">
              <a:buNone/>
            </a:pPr>
            <a:r>
              <a:rPr lang="en-US" sz="1600" b="1" dirty="0">
                <a:solidFill>
                  <a:srgbClr val="FF1A1A"/>
                </a:solidFill>
                <a:latin typeface="Arial Black" pitchFamily="34" charset="0"/>
                <a:ea typeface="Arial Black" pitchFamily="34" charset="-122"/>
                <a:cs typeface="Arial Black" pitchFamily="34" charset="-120"/>
              </a:rPr>
              <a:t>P5</a:t>
            </a:r>
            <a:endParaRPr lang="en-US" sz="1600" dirty="0"/>
          </a:p>
        </p:txBody>
      </p:sp>
      <p:sp>
        <p:nvSpPr>
          <p:cNvPr id="19" name="Text 17"/>
          <p:cNvSpPr txBox="1"/>
          <p:nvPr/>
        </p:nvSpPr>
        <p:spPr>
          <a:xfrm>
            <a:off x="1417320" y="4251960"/>
            <a:ext cx="9418320" cy="41148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¿Por qué el kernel decide terminar un proceso?</a:t>
            </a:r>
            <a:endParaRPr lang="en-US" sz="1500" dirty="0"/>
          </a:p>
        </p:txBody>
      </p:sp>
      <p:sp>
        <p:nvSpPr>
          <p:cNvPr id="20" name="Text 18"/>
          <p:cNvSpPr txBox="1"/>
          <p:nvPr/>
        </p:nvSpPr>
        <p:spPr>
          <a:xfrm>
            <a:off x="777240" y="4800600"/>
            <a:ext cx="548640" cy="457200"/>
          </a:xfrm>
          <a:prstGeom prst="rect">
            <a:avLst/>
          </a:prstGeom>
          <a:noFill/>
          <a:ln/>
        </p:spPr>
        <p:txBody>
          <a:bodyPr wrap="square" lIns="0" tIns="0" rIns="0" bIns="0" rtlCol="0" anchor="ctr"/>
          <a:lstStyle/>
          <a:p>
            <a:pPr indent="0" marL="0">
              <a:buNone/>
            </a:pPr>
            <a:r>
              <a:rPr lang="en-US" sz="1600" b="1" dirty="0">
                <a:solidFill>
                  <a:srgbClr val="FF1A1A"/>
                </a:solidFill>
                <a:latin typeface="Arial Black" pitchFamily="34" charset="0"/>
                <a:ea typeface="Arial Black" pitchFamily="34" charset="-122"/>
                <a:cs typeface="Arial Black" pitchFamily="34" charset="-120"/>
              </a:rPr>
              <a:t>P6</a:t>
            </a:r>
            <a:endParaRPr lang="en-US" sz="1600" dirty="0"/>
          </a:p>
        </p:txBody>
      </p:sp>
      <p:sp>
        <p:nvSpPr>
          <p:cNvPr id="21" name="Text 19"/>
          <p:cNvSpPr txBox="1"/>
          <p:nvPr/>
        </p:nvSpPr>
        <p:spPr>
          <a:xfrm>
            <a:off x="1417320" y="4818888"/>
            <a:ext cx="9418320" cy="41148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¿Qué consecuencias tiene terminar ese proceso?</a:t>
            </a:r>
            <a:endParaRPr lang="en-US" sz="1500" dirty="0"/>
          </a:p>
        </p:txBody>
      </p:sp>
      <p:sp>
        <p:nvSpPr>
          <p:cNvPr id="22" name="Text 20"/>
          <p:cNvSpPr txBox="1"/>
          <p:nvPr/>
        </p:nvSpPr>
        <p:spPr>
          <a:xfrm>
            <a:off x="777240" y="5367528"/>
            <a:ext cx="548640" cy="457200"/>
          </a:xfrm>
          <a:prstGeom prst="rect">
            <a:avLst/>
          </a:prstGeom>
          <a:noFill/>
          <a:ln/>
        </p:spPr>
        <p:txBody>
          <a:bodyPr wrap="square" lIns="0" tIns="0" rIns="0" bIns="0" rtlCol="0" anchor="ctr"/>
          <a:lstStyle/>
          <a:p>
            <a:pPr indent="0" marL="0">
              <a:buNone/>
            </a:pPr>
            <a:r>
              <a:rPr lang="en-US" sz="1600" b="1" dirty="0">
                <a:solidFill>
                  <a:srgbClr val="FF1A1A"/>
                </a:solidFill>
                <a:latin typeface="Arial Black" pitchFamily="34" charset="0"/>
                <a:ea typeface="Arial Black" pitchFamily="34" charset="-122"/>
                <a:cs typeface="Arial Black" pitchFamily="34" charset="-120"/>
              </a:rPr>
              <a:t>★</a:t>
            </a:r>
            <a:endParaRPr lang="en-US" sz="1600" dirty="0"/>
          </a:p>
        </p:txBody>
      </p:sp>
      <p:sp>
        <p:nvSpPr>
          <p:cNvPr id="23" name="Text 21"/>
          <p:cNvSpPr txBox="1"/>
          <p:nvPr/>
        </p:nvSpPr>
        <p:spPr>
          <a:xfrm>
            <a:off x="1417320" y="5385816"/>
            <a:ext cx="9418320" cy="41148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Discusión: si fueran el kernel, ¿a quién matarían?</a:t>
            </a:r>
            <a:endParaRPr lang="en-US" sz="1500" dirty="0"/>
          </a:p>
        </p:txBody>
      </p:sp>
      <p:sp>
        <p:nvSpPr>
          <p:cNvPr id="24" name="Text 22"/>
          <p:cNvSpPr txBox="1"/>
          <p:nvPr/>
        </p:nvSpPr>
        <p:spPr>
          <a:xfrm>
            <a:off x="502920" y="6473952"/>
            <a:ext cx="5486400" cy="274320"/>
          </a:xfrm>
          <a:prstGeom prst="rect">
            <a:avLst/>
          </a:prstGeom>
          <a:noFill/>
          <a:ln/>
        </p:spPr>
        <p:txBody>
          <a:bodyPr wrap="square" lIns="0" tIns="0" rIns="0" bIns="0" rtlCol="0" anchor="ctr"/>
          <a:lstStyle/>
          <a:p>
            <a:pPr indent="0" marL="0">
              <a:buNone/>
            </a:pPr>
            <a:r>
              <a:rPr lang="en-US" sz="1000" dirty="0">
                <a:solidFill>
                  <a:srgbClr val="B8B8B8"/>
                </a:solidFill>
                <a:latin typeface="Arial" pitchFamily="34" charset="0"/>
                <a:ea typeface="Arial" pitchFamily="34" charset="-122"/>
                <a:cs typeface="Arial" pitchFamily="34" charset="-120"/>
              </a:rPr>
              <a:t>OOM KILLER  ·  UTP – FISC  ·  1IL143</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10881360" y="457200"/>
            <a:ext cx="1097280" cy="320040"/>
          </a:xfrm>
          <a:prstGeom prst="rect">
            <a:avLst/>
          </a:prstGeom>
          <a:noFill/>
          <a:ln/>
        </p:spPr>
        <p:txBody>
          <a:bodyPr wrap="square" lIns="0" tIns="0" rIns="0" bIns="0" rtlCol="0" anchor="ctr"/>
          <a:lstStyle/>
          <a:p>
            <a:pPr algn="r" indent="0" marL="0">
              <a:buNone/>
            </a:pPr>
            <a:r>
              <a:rPr lang="en-US" sz="1100" dirty="0">
                <a:solidFill>
                  <a:srgbClr val="B8B8B8"/>
                </a:solidFill>
                <a:latin typeface="Arial" pitchFamily="34" charset="0"/>
                <a:ea typeface="Arial" pitchFamily="34" charset="-122"/>
                <a:cs typeface="Arial" pitchFamily="34" charset="-120"/>
              </a:rPr>
              <a:t>3 / 17</a:t>
            </a:r>
            <a:endParaRPr lang="en-US" sz="1100" dirty="0"/>
          </a:p>
        </p:txBody>
      </p:sp>
      <p:sp>
        <p:nvSpPr>
          <p:cNvPr id="3" name="Text 1"/>
          <p:cNvSpPr txBox="1"/>
          <p:nvPr/>
        </p:nvSpPr>
        <p:spPr>
          <a:xfrm>
            <a:off x="731520" y="502920"/>
            <a:ext cx="7315200" cy="320040"/>
          </a:xfrm>
          <a:prstGeom prst="rect">
            <a:avLst/>
          </a:prstGeom>
          <a:noFill/>
          <a:ln/>
        </p:spPr>
        <p:txBody>
          <a:bodyPr wrap="square" lIns="0" tIns="0" rIns="0" bIns="0" rtlCol="0" anchor="ctr"/>
          <a:lstStyle/>
          <a:p>
            <a:pPr indent="0" marL="0">
              <a:buNone/>
            </a:pPr>
            <a:r>
              <a:rPr lang="en-US" sz="1200" b="1" spc="200" kern="0" dirty="0">
                <a:solidFill>
                  <a:srgbClr val="FF1A1A"/>
                </a:solidFill>
                <a:latin typeface="Arial" pitchFamily="34" charset="0"/>
                <a:ea typeface="Arial" pitchFamily="34" charset="-122"/>
                <a:cs typeface="Arial" pitchFamily="34" charset="-120"/>
              </a:rPr>
              <a:t>CASO DE ESTUDIO</a:t>
            </a:r>
            <a:endParaRPr lang="en-US" sz="1200" dirty="0"/>
          </a:p>
        </p:txBody>
      </p:sp>
      <p:sp>
        <p:nvSpPr>
          <p:cNvPr id="4" name="Text 2"/>
          <p:cNvSpPr txBox="1"/>
          <p:nvPr/>
        </p:nvSpPr>
        <p:spPr>
          <a:xfrm>
            <a:off x="644652" y="758952"/>
            <a:ext cx="7315200" cy="777240"/>
          </a:xfrm>
          <a:prstGeom prst="rect">
            <a:avLst/>
          </a:prstGeom>
          <a:noFill/>
          <a:ln/>
        </p:spPr>
        <p:txBody>
          <a:bodyPr wrap="square" lIns="0" tIns="0" rIns="0" bIns="0" rtlCol="0" anchor="ctr"/>
          <a:lstStyle/>
          <a:p>
            <a:pPr algn="l" indent="0" marL="0">
              <a:buNone/>
            </a:pPr>
            <a:r>
              <a:rPr lang="en-US" sz="3400" b="1" dirty="0">
                <a:solidFill>
                  <a:srgbClr val="00E5FF">
                    <a:alpha val="45000"/>
                  </a:srgbClr>
                </a:solidFill>
                <a:latin typeface="Arial Black" pitchFamily="34" charset="0"/>
                <a:ea typeface="Arial Black" pitchFamily="34" charset="-122"/>
                <a:cs typeface="Arial Black" pitchFamily="34" charset="-120"/>
              </a:rPr>
              <a:t>LA SITUACIÓN</a:t>
            </a:r>
            <a:endParaRPr lang="en-US" sz="3400" dirty="0"/>
          </a:p>
        </p:txBody>
      </p:sp>
      <p:sp>
        <p:nvSpPr>
          <p:cNvPr id="5" name="Text 3"/>
          <p:cNvSpPr txBox="1"/>
          <p:nvPr/>
        </p:nvSpPr>
        <p:spPr>
          <a:xfrm>
            <a:off x="726948" y="800100"/>
            <a:ext cx="7315200" cy="777240"/>
          </a:xfrm>
          <a:prstGeom prst="rect">
            <a:avLst/>
          </a:prstGeom>
          <a:noFill/>
          <a:ln/>
        </p:spPr>
        <p:txBody>
          <a:bodyPr wrap="square" lIns="0" tIns="0" rIns="0" bIns="0" rtlCol="0" anchor="ctr"/>
          <a:lstStyle/>
          <a:p>
            <a:pPr algn="l" indent="0" marL="0">
              <a:buNone/>
            </a:pPr>
            <a:r>
              <a:rPr lang="en-US" sz="3400" b="1" dirty="0">
                <a:solidFill>
                  <a:srgbClr val="8A0000">
                    <a:alpha val="65000"/>
                  </a:srgbClr>
                </a:solidFill>
                <a:latin typeface="Arial Black" pitchFamily="34" charset="0"/>
                <a:ea typeface="Arial Black" pitchFamily="34" charset="-122"/>
                <a:cs typeface="Arial Black" pitchFamily="34" charset="-120"/>
              </a:rPr>
              <a:t>LA SITUACIÓN</a:t>
            </a:r>
            <a:endParaRPr lang="en-US" sz="3400" dirty="0"/>
          </a:p>
        </p:txBody>
      </p:sp>
      <p:sp>
        <p:nvSpPr>
          <p:cNvPr id="6" name="Text 4"/>
          <p:cNvSpPr txBox="1"/>
          <p:nvPr/>
        </p:nvSpPr>
        <p:spPr>
          <a:xfrm>
            <a:off x="685800" y="777240"/>
            <a:ext cx="7315200" cy="777240"/>
          </a:xfrm>
          <a:prstGeom prst="rect">
            <a:avLst/>
          </a:prstGeom>
          <a:noFill/>
          <a:ln/>
        </p:spPr>
        <p:txBody>
          <a:bodyPr wrap="square" lIns="0" tIns="0" rIns="0" bIns="0" rtlCol="0" anchor="ctr"/>
          <a:lstStyle/>
          <a:p>
            <a:pPr algn="l" indent="0" marL="0">
              <a:buNone/>
            </a:pPr>
            <a:r>
              <a:rPr lang="en-US" sz="3400" b="1" dirty="0">
                <a:solidFill>
                  <a:srgbClr val="FF1A1A"/>
                </a:solidFill>
                <a:latin typeface="Arial Black" pitchFamily="34" charset="0"/>
                <a:ea typeface="Arial Black" pitchFamily="34" charset="-122"/>
                <a:cs typeface="Arial Black" pitchFamily="34" charset="-120"/>
              </a:rPr>
              <a:t>LA SITUACIÓN</a:t>
            </a:r>
            <a:endParaRPr lang="en-US" sz="3400" dirty="0"/>
          </a:p>
        </p:txBody>
      </p:sp>
      <p:sp>
        <p:nvSpPr>
          <p:cNvPr id="7" name="Shape 5"/>
          <p:cNvSpPr/>
          <p:nvPr/>
        </p:nvSpPr>
        <p:spPr>
          <a:xfrm>
            <a:off x="1271016" y="917143"/>
            <a:ext cx="1609344" cy="32004"/>
          </a:xfrm>
          <a:prstGeom prst="rect">
            <a:avLst/>
          </a:prstGeom>
          <a:solidFill>
            <a:srgbClr val="00E5FF">
              <a:alpha val="70000"/>
            </a:srgbClr>
          </a:solidFill>
          <a:ln/>
        </p:spPr>
      </p:sp>
      <p:sp>
        <p:nvSpPr>
          <p:cNvPr id="8" name="Shape 6"/>
          <p:cNvSpPr/>
          <p:nvPr/>
        </p:nvSpPr>
        <p:spPr>
          <a:xfrm>
            <a:off x="4709160" y="1383487"/>
            <a:ext cx="2194560" cy="32004"/>
          </a:xfrm>
          <a:prstGeom prst="rect">
            <a:avLst/>
          </a:prstGeom>
          <a:solidFill>
            <a:srgbClr val="FF1A1A">
              <a:alpha val="80000"/>
            </a:srgbClr>
          </a:solidFill>
          <a:ln/>
        </p:spPr>
      </p:sp>
      <p:sp>
        <p:nvSpPr>
          <p:cNvPr id="9" name="Shape 7"/>
          <p:cNvSpPr/>
          <p:nvPr/>
        </p:nvSpPr>
        <p:spPr>
          <a:xfrm>
            <a:off x="731520" y="1828800"/>
            <a:ext cx="10744200" cy="1965960"/>
          </a:xfrm>
          <a:prstGeom prst="roundRect">
            <a:avLst>
              <a:gd name="adj" fmla="val 3721"/>
            </a:avLst>
          </a:prstGeom>
          <a:solidFill>
            <a:srgbClr val="0D0D0D"/>
          </a:solidFill>
          <a:ln w="12700">
            <a:solidFill>
              <a:srgbClr val="FF1A1A"/>
            </a:solidFill>
            <a:prstDash val="solid"/>
          </a:ln>
        </p:spPr>
      </p:sp>
      <p:sp>
        <p:nvSpPr>
          <p:cNvPr id="10" name="Text 8"/>
          <p:cNvSpPr txBox="1"/>
          <p:nvPr/>
        </p:nvSpPr>
        <p:spPr>
          <a:xfrm>
            <a:off x="1051560" y="2057400"/>
            <a:ext cx="10104120" cy="1554480"/>
          </a:xfrm>
          <a:prstGeom prst="rect">
            <a:avLst/>
          </a:prstGeom>
          <a:noFill/>
          <a:ln/>
        </p:spPr>
        <p:txBody>
          <a:bodyPr wrap="square" lIns="0" tIns="0" rIns="0" bIns="0" rtlCol="0" anchor="ctr"/>
          <a:lstStyle/>
          <a:p>
            <a:pPr indent="0" marL="0">
              <a:lnSpc>
                <a:spcPct val="130000"/>
              </a:lnSpc>
              <a:buNone/>
            </a:pPr>
            <a:r>
              <a:rPr lang="en-US" sz="1800" i="1" dirty="0">
                <a:solidFill>
                  <a:srgbClr val="FFFFFF"/>
                </a:solidFill>
                <a:latin typeface="Calibri" pitchFamily="34" charset="0"/>
                <a:ea typeface="Calibri" pitchFamily="34" charset="-122"/>
                <a:cs typeface="Calibri" pitchFamily="34" charset="-120"/>
              </a:rPr>
              <a:t>Un sistema Linux tiene muy poca memoria disponible. Varios procesos continúan solicitando memoria hasta que el sistema alcanza una situación crítica y el kernel debe tomar una decisión para recuperar memoria.</a:t>
            </a:r>
            <a:endParaRPr lang="en-US" sz="1800" dirty="0"/>
          </a:p>
        </p:txBody>
      </p:sp>
      <p:sp>
        <p:nvSpPr>
          <p:cNvPr id="11" name="Text 9"/>
          <p:cNvSpPr txBox="1"/>
          <p:nvPr/>
        </p:nvSpPr>
        <p:spPr>
          <a:xfrm>
            <a:off x="731520" y="4114800"/>
            <a:ext cx="10698480" cy="2011680"/>
          </a:xfrm>
          <a:prstGeom prst="rect">
            <a:avLst/>
          </a:prstGeom>
          <a:noFill/>
          <a:ln/>
        </p:spPr>
        <p:txBody>
          <a:bodyPr wrap="square" lIns="0" tIns="0" rIns="0" bIns="0" rtlCol="0" anchor="t"/>
          <a:lstStyle/>
          <a:p>
            <a:pPr marL="228600" indent="-228600">
              <a:spcAft>
                <a:spcPts val="1400"/>
              </a:spcAft>
              <a:buSzPct val="100000"/>
              <a:buChar char="■"/>
            </a:pPr>
            <a:r>
              <a:rPr lang="en-US" sz="1500" dirty="0">
                <a:solidFill>
                  <a:srgbClr val="FFFFFF"/>
                </a:solidFill>
                <a:latin typeface="Calibri" pitchFamily="34" charset="0"/>
                <a:ea typeface="Calibri" pitchFamily="34" charset="-122"/>
                <a:cs typeface="Calibri" pitchFamily="34" charset="-120"/>
              </a:rPr>
              <a:t>Este es el escenario exacto que vamos a diseccionar técnicamente, capa por capa.</a:t>
            </a:r>
            <a:endParaRPr lang="en-US" sz="1500" dirty="0"/>
          </a:p>
          <a:p>
            <a:pPr marL="228600" indent="-228600">
              <a:spcAft>
                <a:spcPts val="1400"/>
              </a:spcAft>
              <a:buSzPct val="100000"/>
              <a:buChar char="■"/>
            </a:pPr>
            <a:r>
              <a:rPr lang="en-US" sz="1500" dirty="0">
                <a:solidFill>
                  <a:srgbClr val="FFFFFF"/>
                </a:solidFill>
                <a:latin typeface="Calibri" pitchFamily="34" charset="0"/>
                <a:ea typeface="Calibri" pitchFamily="34" charset="-122"/>
                <a:cs typeface="Calibri" pitchFamily="34" charset="-120"/>
              </a:rPr>
              <a:t>No lo vamos a dejar como una "caja negra": vamos a ver qué hace el kernel en cada paso, con la documentación oficial como fuente.</a:t>
            </a:r>
            <a:endParaRPr lang="en-US" sz="1500" dirty="0"/>
          </a:p>
          <a:p>
            <a:pPr marL="228600" indent="-228600">
              <a:spcAft>
                <a:spcPts val="1400"/>
              </a:spcAft>
              <a:buSzPct val="100000"/>
              <a:buChar char="■"/>
            </a:pPr>
            <a:r>
              <a:rPr lang="en-US" sz="1500" dirty="0">
                <a:solidFill>
                  <a:srgbClr val="FFFFFF"/>
                </a:solidFill>
                <a:latin typeface="Calibri" pitchFamily="34" charset="0"/>
                <a:ea typeface="Calibri" pitchFamily="34" charset="-122"/>
                <a:cs typeface="Calibri" pitchFamily="34" charset="-120"/>
              </a:rPr>
              <a:t>La guía plantea 6 preguntas — las vamos a responder en orden, y cerramos con una discusión abierta.</a:t>
            </a:r>
            <a:endParaRPr lang="en-US" sz="1500" dirty="0"/>
          </a:p>
        </p:txBody>
      </p:sp>
      <p:sp>
        <p:nvSpPr>
          <p:cNvPr id="12" name="Text 10"/>
          <p:cNvSpPr txBox="1"/>
          <p:nvPr/>
        </p:nvSpPr>
        <p:spPr>
          <a:xfrm>
            <a:off x="502920" y="6473952"/>
            <a:ext cx="5486400" cy="274320"/>
          </a:xfrm>
          <a:prstGeom prst="rect">
            <a:avLst/>
          </a:prstGeom>
          <a:noFill/>
          <a:ln/>
        </p:spPr>
        <p:txBody>
          <a:bodyPr wrap="square" lIns="0" tIns="0" rIns="0" bIns="0" rtlCol="0" anchor="ctr"/>
          <a:lstStyle/>
          <a:p>
            <a:pPr indent="0" marL="0">
              <a:buNone/>
            </a:pPr>
            <a:r>
              <a:rPr lang="en-US" sz="1000" dirty="0">
                <a:solidFill>
                  <a:srgbClr val="B8B8B8"/>
                </a:solidFill>
                <a:latin typeface="Arial" pitchFamily="34" charset="0"/>
                <a:ea typeface="Arial" pitchFamily="34" charset="-122"/>
                <a:cs typeface="Arial" pitchFamily="34" charset="-120"/>
              </a:rPr>
              <a:t>OOM KILLER  ·  UTP – FISC  ·  1IL143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10881360" y="457200"/>
            <a:ext cx="1097280" cy="320040"/>
          </a:xfrm>
          <a:prstGeom prst="rect">
            <a:avLst/>
          </a:prstGeom>
          <a:noFill/>
          <a:ln/>
        </p:spPr>
        <p:txBody>
          <a:bodyPr wrap="square" lIns="0" tIns="0" rIns="0" bIns="0" rtlCol="0" anchor="ctr"/>
          <a:lstStyle/>
          <a:p>
            <a:pPr algn="r" indent="0" marL="0">
              <a:buNone/>
            </a:pPr>
            <a:r>
              <a:rPr lang="en-US" sz="1100" dirty="0">
                <a:solidFill>
                  <a:srgbClr val="B8B8B8"/>
                </a:solidFill>
                <a:latin typeface="Arial" pitchFamily="34" charset="0"/>
                <a:ea typeface="Arial" pitchFamily="34" charset="-122"/>
                <a:cs typeface="Arial" pitchFamily="34" charset="-120"/>
              </a:rPr>
              <a:t>4 / 17</a:t>
            </a:r>
            <a:endParaRPr lang="en-US" sz="1100" dirty="0"/>
          </a:p>
        </p:txBody>
      </p:sp>
      <p:sp>
        <p:nvSpPr>
          <p:cNvPr id="3" name="Shape 1"/>
          <p:cNvSpPr/>
          <p:nvPr/>
        </p:nvSpPr>
        <p:spPr>
          <a:xfrm>
            <a:off x="731520" y="457200"/>
            <a:ext cx="1417320" cy="365760"/>
          </a:xfrm>
          <a:prstGeom prst="roundRect">
            <a:avLst>
              <a:gd name="adj" fmla="val 50000"/>
            </a:avLst>
          </a:prstGeom>
          <a:solidFill>
            <a:srgbClr val="FF1A1A"/>
          </a:solidFill>
          <a:ln/>
        </p:spPr>
      </p:sp>
      <p:sp>
        <p:nvSpPr>
          <p:cNvPr id="4" name="Text 2"/>
          <p:cNvSpPr txBox="1"/>
          <p:nvPr/>
        </p:nvSpPr>
        <p:spPr>
          <a:xfrm>
            <a:off x="731520" y="457200"/>
            <a:ext cx="1417320" cy="36576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PREGUNTA 1</a:t>
            </a:r>
            <a:endParaRPr lang="en-US" sz="1200" dirty="0"/>
          </a:p>
        </p:txBody>
      </p:sp>
      <p:sp>
        <p:nvSpPr>
          <p:cNvPr id="5" name="Text 3"/>
          <p:cNvSpPr txBox="1"/>
          <p:nvPr/>
        </p:nvSpPr>
        <p:spPr>
          <a:xfrm>
            <a:off x="644652" y="941832"/>
            <a:ext cx="9601200" cy="1234440"/>
          </a:xfrm>
          <a:prstGeom prst="rect">
            <a:avLst/>
          </a:prstGeom>
          <a:noFill/>
          <a:ln/>
        </p:spPr>
        <p:txBody>
          <a:bodyPr wrap="square" lIns="0" tIns="0" rIns="0" bIns="0" rtlCol="0" anchor="ctr"/>
          <a:lstStyle/>
          <a:p>
            <a:pPr algn="l" indent="0" marL="0">
              <a:buNone/>
            </a:pPr>
            <a:r>
              <a:rPr lang="en-US" sz="2700" b="1" dirty="0">
                <a:solidFill>
                  <a:srgbClr val="00E5FF">
                    <a:alpha val="45000"/>
                  </a:srgbClr>
                </a:solidFill>
                <a:latin typeface="Arial Black" pitchFamily="34" charset="0"/>
                <a:ea typeface="Arial Black" pitchFamily="34" charset="-122"/>
                <a:cs typeface="Arial Black" pitchFamily="34" charset="-120"/>
              </a:rPr>
              <a:t>¿QUÉ SIGNIFICA QUE</a:t>
            </a:r>
            <a:endParaRPr lang="en-US" sz="2700" dirty="0"/>
          </a:p>
          <a:p>
            <a:pPr algn="l" indent="0" marL="0">
              <a:buNone/>
            </a:pPr>
            <a:r>
              <a:rPr lang="en-US" sz="2700" b="1" dirty="0">
                <a:solidFill>
                  <a:srgbClr val="00E5FF">
                    <a:alpha val="45000"/>
                  </a:srgbClr>
                </a:solidFill>
                <a:latin typeface="Arial Black" pitchFamily="34" charset="0"/>
                <a:ea typeface="Arial Black" pitchFamily="34" charset="-122"/>
                <a:cs typeface="Arial Black" pitchFamily="34" charset="-120"/>
              </a:rPr>
              <a:t>UN PROCESO USE MEMORIA?</a:t>
            </a:r>
            <a:endParaRPr lang="en-US" sz="2700" dirty="0"/>
          </a:p>
        </p:txBody>
      </p:sp>
      <p:sp>
        <p:nvSpPr>
          <p:cNvPr id="6" name="Text 4"/>
          <p:cNvSpPr txBox="1"/>
          <p:nvPr/>
        </p:nvSpPr>
        <p:spPr>
          <a:xfrm>
            <a:off x="726948" y="982980"/>
            <a:ext cx="9601200" cy="1234440"/>
          </a:xfrm>
          <a:prstGeom prst="rect">
            <a:avLst/>
          </a:prstGeom>
          <a:noFill/>
          <a:ln/>
        </p:spPr>
        <p:txBody>
          <a:bodyPr wrap="square" lIns="0" tIns="0" rIns="0" bIns="0" rtlCol="0" anchor="ctr"/>
          <a:lstStyle/>
          <a:p>
            <a:pPr algn="l" indent="0" marL="0">
              <a:buNone/>
            </a:pPr>
            <a:r>
              <a:rPr lang="en-US" sz="2700" b="1" dirty="0">
                <a:solidFill>
                  <a:srgbClr val="8A0000">
                    <a:alpha val="65000"/>
                  </a:srgbClr>
                </a:solidFill>
                <a:latin typeface="Arial Black" pitchFamily="34" charset="0"/>
                <a:ea typeface="Arial Black" pitchFamily="34" charset="-122"/>
                <a:cs typeface="Arial Black" pitchFamily="34" charset="-120"/>
              </a:rPr>
              <a:t>¿QUÉ SIGNIFICA QUE</a:t>
            </a:r>
            <a:endParaRPr lang="en-US" sz="2700" dirty="0"/>
          </a:p>
          <a:p>
            <a:pPr algn="l" indent="0" marL="0">
              <a:buNone/>
            </a:pPr>
            <a:r>
              <a:rPr lang="en-US" sz="2700" b="1" dirty="0">
                <a:solidFill>
                  <a:srgbClr val="8A0000">
                    <a:alpha val="65000"/>
                  </a:srgbClr>
                </a:solidFill>
                <a:latin typeface="Arial Black" pitchFamily="34" charset="0"/>
                <a:ea typeface="Arial Black" pitchFamily="34" charset="-122"/>
                <a:cs typeface="Arial Black" pitchFamily="34" charset="-120"/>
              </a:rPr>
              <a:t>UN PROCESO USE MEMORIA?</a:t>
            </a:r>
            <a:endParaRPr lang="en-US" sz="2700" dirty="0"/>
          </a:p>
        </p:txBody>
      </p:sp>
      <p:sp>
        <p:nvSpPr>
          <p:cNvPr id="7" name="Text 5"/>
          <p:cNvSpPr txBox="1"/>
          <p:nvPr/>
        </p:nvSpPr>
        <p:spPr>
          <a:xfrm>
            <a:off x="685800" y="960120"/>
            <a:ext cx="9601200" cy="1234440"/>
          </a:xfrm>
          <a:prstGeom prst="rect">
            <a:avLst/>
          </a:prstGeom>
          <a:noFill/>
          <a:ln/>
        </p:spPr>
        <p:txBody>
          <a:bodyPr wrap="square" lIns="0" tIns="0" rIns="0" bIns="0" rtlCol="0" anchor="ctr"/>
          <a:lstStyle/>
          <a:p>
            <a:pPr algn="l" indent="0" marL="0">
              <a:buNone/>
            </a:pPr>
            <a:r>
              <a:rPr lang="en-US" sz="2700" b="1" dirty="0">
                <a:solidFill>
                  <a:srgbClr val="FF1A1A"/>
                </a:solidFill>
                <a:latin typeface="Arial Black" pitchFamily="34" charset="0"/>
                <a:ea typeface="Arial Black" pitchFamily="34" charset="-122"/>
                <a:cs typeface="Arial Black" pitchFamily="34" charset="-120"/>
              </a:rPr>
              <a:t>¿QUÉ SIGNIFICA QUE</a:t>
            </a:r>
            <a:endParaRPr lang="en-US" sz="2700" dirty="0"/>
          </a:p>
          <a:p>
            <a:pPr algn="l" indent="0" marL="0">
              <a:buNone/>
            </a:pPr>
            <a:r>
              <a:rPr lang="en-US" sz="2700" b="1" dirty="0">
                <a:solidFill>
                  <a:srgbClr val="FF1A1A"/>
                </a:solidFill>
                <a:latin typeface="Arial Black" pitchFamily="34" charset="0"/>
                <a:ea typeface="Arial Black" pitchFamily="34" charset="-122"/>
                <a:cs typeface="Arial Black" pitchFamily="34" charset="-120"/>
              </a:rPr>
              <a:t>UN PROCESO USE MEMORIA?</a:t>
            </a:r>
            <a:endParaRPr lang="en-US" sz="2700" dirty="0"/>
          </a:p>
        </p:txBody>
      </p:sp>
      <p:sp>
        <p:nvSpPr>
          <p:cNvPr id="8" name="Shape 6"/>
          <p:cNvSpPr/>
          <p:nvPr/>
        </p:nvSpPr>
        <p:spPr>
          <a:xfrm>
            <a:off x="1453896" y="1182319"/>
            <a:ext cx="2112264" cy="32004"/>
          </a:xfrm>
          <a:prstGeom prst="rect">
            <a:avLst/>
          </a:prstGeom>
          <a:solidFill>
            <a:srgbClr val="00E5FF">
              <a:alpha val="70000"/>
            </a:srgbClr>
          </a:solidFill>
          <a:ln/>
        </p:spPr>
      </p:sp>
      <p:sp>
        <p:nvSpPr>
          <p:cNvPr id="9" name="Shape 7"/>
          <p:cNvSpPr/>
          <p:nvPr/>
        </p:nvSpPr>
        <p:spPr>
          <a:xfrm>
            <a:off x="5966460" y="1922983"/>
            <a:ext cx="2880360" cy="32004"/>
          </a:xfrm>
          <a:prstGeom prst="rect">
            <a:avLst/>
          </a:prstGeom>
          <a:solidFill>
            <a:srgbClr val="FF1A1A">
              <a:alpha val="80000"/>
            </a:srgbClr>
          </a:solidFill>
          <a:ln/>
        </p:spPr>
      </p:sp>
      <p:sp>
        <p:nvSpPr>
          <p:cNvPr id="10" name="Text 8"/>
          <p:cNvSpPr txBox="1"/>
          <p:nvPr/>
        </p:nvSpPr>
        <p:spPr>
          <a:xfrm>
            <a:off x="731520" y="2377440"/>
            <a:ext cx="6492240" cy="3840480"/>
          </a:xfrm>
          <a:prstGeom prst="rect">
            <a:avLst/>
          </a:prstGeom>
          <a:noFill/>
          <a:ln/>
        </p:spPr>
        <p:txBody>
          <a:bodyPr wrap="square" lIns="0" tIns="0" rIns="0" bIns="0" rtlCol="0" anchor="t"/>
          <a:lstStyle/>
          <a:p>
            <a:pPr marL="228600" indent="-228600">
              <a:spcAft>
                <a:spcPts val="1400"/>
              </a:spcAft>
              <a:buSzPct val="100000"/>
              <a:buChar char="■"/>
            </a:pPr>
            <a:r>
              <a:rPr lang="en-US" sz="1500" dirty="0">
                <a:solidFill>
                  <a:srgbClr val="FFFFFF"/>
                </a:solidFill>
                <a:latin typeface="Calibri" pitchFamily="34" charset="0"/>
                <a:ea typeface="Calibri" pitchFamily="34" charset="-122"/>
                <a:cs typeface="Calibri" pitchFamily="34" charset="-120"/>
              </a:rPr>
              <a:t>Memoria virtual: el espacio de direcciones que el proceso "ve" — no es RAM física todavía.</a:t>
            </a:r>
            <a:endParaRPr lang="en-US" sz="1500" dirty="0"/>
          </a:p>
          <a:p>
            <a:pPr marL="228600" indent="-228600">
              <a:spcAft>
                <a:spcPts val="1400"/>
              </a:spcAft>
              <a:buSzPct val="100000"/>
              <a:buChar char="■"/>
            </a:pPr>
            <a:r>
              <a:rPr lang="en-US" sz="1500" dirty="0">
                <a:solidFill>
                  <a:srgbClr val="FFFFFF"/>
                </a:solidFill>
                <a:latin typeface="Calibri" pitchFamily="34" charset="0"/>
                <a:ea typeface="Calibri" pitchFamily="34" charset="-122"/>
                <a:cs typeface="Calibri" pitchFamily="34" charset="-120"/>
              </a:rPr>
              <a:t>Memoria física (RSS): las páginas que realmente están cargadas en RAM en este momento.</a:t>
            </a:r>
            <a:endParaRPr lang="en-US" sz="1500" dirty="0"/>
          </a:p>
          <a:p>
            <a:pPr marL="228600" indent="-228600">
              <a:spcAft>
                <a:spcPts val="1400"/>
              </a:spcAft>
              <a:buSzPct val="100000"/>
              <a:buChar char="■"/>
            </a:pPr>
            <a:r>
              <a:rPr lang="en-US" sz="1500" dirty="0">
                <a:solidFill>
                  <a:srgbClr val="FFFFFF"/>
                </a:solidFill>
                <a:latin typeface="Calibri" pitchFamily="34" charset="0"/>
                <a:ea typeface="Calibri" pitchFamily="34" charset="-122"/>
                <a:cs typeface="Calibri" pitchFamily="34" charset="-120"/>
              </a:rPr>
              <a:t>Un proceso usa memoria en varias formas: heap (malloc/new), stack, código y bibliotecas mapeadas, y mmap.</a:t>
            </a:r>
            <a:endParaRPr lang="en-US" sz="1500" dirty="0"/>
          </a:p>
          <a:p>
            <a:pPr marL="228600" indent="-228600">
              <a:spcAft>
                <a:spcPts val="1400"/>
              </a:spcAft>
              <a:buSzPct val="100000"/>
              <a:buChar char="■"/>
            </a:pPr>
            <a:r>
              <a:rPr lang="en-US" sz="1500" dirty="0">
                <a:solidFill>
                  <a:srgbClr val="FFFFFF"/>
                </a:solidFill>
                <a:latin typeface="Calibri" pitchFamily="34" charset="0"/>
                <a:ea typeface="Calibri" pitchFamily="34" charset="-122"/>
                <a:cs typeface="Calibri" pitchFamily="34" charset="-120"/>
              </a:rPr>
              <a:t>Ninguna de esas páginas se vuelve física hasta el primer page fault — cuando el proceso realmente escribe o lee.</a:t>
            </a:r>
            <a:endParaRPr lang="en-US" sz="1500" dirty="0"/>
          </a:p>
        </p:txBody>
      </p:sp>
      <p:sp>
        <p:nvSpPr>
          <p:cNvPr id="11" name="Shape 9"/>
          <p:cNvSpPr/>
          <p:nvPr/>
        </p:nvSpPr>
        <p:spPr>
          <a:xfrm>
            <a:off x="7589520" y="2423160"/>
            <a:ext cx="3886200" cy="3520440"/>
          </a:xfrm>
          <a:prstGeom prst="roundRect">
            <a:avLst>
              <a:gd name="adj" fmla="val 2078"/>
            </a:avLst>
          </a:prstGeom>
          <a:solidFill>
            <a:srgbClr val="0D0D0D"/>
          </a:solidFill>
          <a:ln w="12700">
            <a:solidFill>
              <a:srgbClr val="FF1A1A"/>
            </a:solidFill>
            <a:prstDash val="solid"/>
          </a:ln>
        </p:spPr>
      </p:sp>
      <p:sp>
        <p:nvSpPr>
          <p:cNvPr id="12" name="Text 10"/>
          <p:cNvSpPr txBox="1"/>
          <p:nvPr/>
        </p:nvSpPr>
        <p:spPr>
          <a:xfrm>
            <a:off x="7818120" y="2651760"/>
            <a:ext cx="3429000" cy="457200"/>
          </a:xfrm>
          <a:prstGeom prst="rect">
            <a:avLst/>
          </a:prstGeom>
          <a:noFill/>
          <a:ln/>
        </p:spPr>
        <p:txBody>
          <a:bodyPr wrap="square" lIns="0" tIns="0" rIns="0" bIns="0" rtlCol="0" anchor="ctr"/>
          <a:lstStyle/>
          <a:p>
            <a:pPr algn="ctr" indent="0" marL="0">
              <a:buNone/>
            </a:pPr>
            <a:r>
              <a:rPr lang="en-US" sz="1900" b="1" dirty="0">
                <a:solidFill>
                  <a:srgbClr val="FF1A1A"/>
                </a:solidFill>
                <a:latin typeface="Arial Black" pitchFamily="34" charset="0"/>
                <a:ea typeface="Arial Black" pitchFamily="34" charset="-122"/>
                <a:cs typeface="Arial Black" pitchFamily="34" charset="-120"/>
              </a:rPr>
              <a:t>VIRTUAL ≠ FÍSICA</a:t>
            </a:r>
            <a:endParaRPr lang="en-US" sz="1900" dirty="0"/>
          </a:p>
        </p:txBody>
      </p:sp>
      <p:sp>
        <p:nvSpPr>
          <p:cNvPr id="13" name="Text 11"/>
          <p:cNvSpPr txBox="1"/>
          <p:nvPr/>
        </p:nvSpPr>
        <p:spPr>
          <a:xfrm>
            <a:off x="7818120" y="3200400"/>
            <a:ext cx="3429000" cy="1051560"/>
          </a:xfrm>
          <a:prstGeom prst="rect">
            <a:avLst/>
          </a:prstGeom>
          <a:noFill/>
          <a:ln/>
        </p:spPr>
        <p:txBody>
          <a:bodyPr wrap="square" lIns="0" tIns="0" rIns="0" bIns="0" rtlCol="0" anchor="ctr"/>
          <a:lstStyle/>
          <a:p>
            <a:pPr algn="ctr" indent="0" marL="0">
              <a:buNone/>
            </a:pPr>
            <a:r>
              <a:rPr lang="en-US" sz="1250" dirty="0">
                <a:solidFill>
                  <a:srgbClr val="FFFFFF"/>
                </a:solidFill>
                <a:latin typeface="Calibri" pitchFamily="34" charset="0"/>
                <a:ea typeface="Calibri" pitchFamily="34" charset="-122"/>
                <a:cs typeface="Calibri" pitchFamily="34" charset="-120"/>
              </a:rPr>
              <a:t>"Usar memoria" tiene dos capas: la promesa (espacio de direcciones) y el consumo real (páginas físicas residentes).</a:t>
            </a:r>
            <a:endParaRPr lang="en-US" sz="1250" dirty="0"/>
          </a:p>
        </p:txBody>
      </p:sp>
      <p:sp>
        <p:nvSpPr>
          <p:cNvPr id="14" name="Text 12"/>
          <p:cNvSpPr txBox="1"/>
          <p:nvPr/>
        </p:nvSpPr>
        <p:spPr>
          <a:xfrm>
            <a:off x="7772400" y="4480560"/>
            <a:ext cx="3520440" cy="1188720"/>
          </a:xfrm>
          <a:prstGeom prst="rect">
            <a:avLst/>
          </a:prstGeom>
          <a:noFill/>
          <a:ln/>
        </p:spPr>
        <p:txBody>
          <a:bodyPr wrap="square" lIns="0" tIns="0" rIns="0" bIns="0" rtlCol="0" anchor="ctr"/>
          <a:lstStyle/>
          <a:p>
            <a:pPr algn="ctr" indent="0" marL="0">
              <a:lnSpc>
                <a:spcPct val="130000"/>
              </a:lnSpc>
              <a:buNone/>
            </a:pPr>
            <a:r>
              <a:rPr lang="en-US" sz="1200" dirty="0">
                <a:solidFill>
                  <a:srgbClr val="00E5FF"/>
                </a:solidFill>
                <a:latin typeface="Courier New" pitchFamily="34" charset="0"/>
                <a:ea typeface="Courier New" pitchFamily="34" charset="-122"/>
                <a:cs typeface="Courier New" pitchFamily="34" charset="-120"/>
              </a:rPr>
              <a:t>Se puede consultar en:</a:t>
            </a:r>
            <a:endParaRPr lang="en-US" sz="1200" dirty="0"/>
          </a:p>
          <a:p>
            <a:pPr algn="ctr" indent="0" marL="0">
              <a:lnSpc>
                <a:spcPct val="130000"/>
              </a:lnSpc>
              <a:buNone/>
            </a:pPr>
            <a:r>
              <a:rPr lang="en-US" sz="1200" dirty="0">
                <a:solidFill>
                  <a:srgbClr val="00E5FF"/>
                </a:solidFill>
                <a:latin typeface="Courier New" pitchFamily="34" charset="0"/>
                <a:ea typeface="Courier New" pitchFamily="34" charset="-122"/>
                <a:cs typeface="Courier New" pitchFamily="34" charset="-120"/>
              </a:rPr>
              <a:t>/proc/&lt;pid&gt;/status → VmSize (virtual) vs VmRSS (física)</a:t>
            </a:r>
            <a:endParaRPr lang="en-US" sz="1200" dirty="0"/>
          </a:p>
        </p:txBody>
      </p:sp>
      <p:sp>
        <p:nvSpPr>
          <p:cNvPr id="15" name="Text 13"/>
          <p:cNvSpPr txBox="1"/>
          <p:nvPr/>
        </p:nvSpPr>
        <p:spPr>
          <a:xfrm>
            <a:off x="502920" y="6473952"/>
            <a:ext cx="5486400" cy="274320"/>
          </a:xfrm>
          <a:prstGeom prst="rect">
            <a:avLst/>
          </a:prstGeom>
          <a:noFill/>
          <a:ln/>
        </p:spPr>
        <p:txBody>
          <a:bodyPr wrap="square" lIns="0" tIns="0" rIns="0" bIns="0" rtlCol="0" anchor="ctr"/>
          <a:lstStyle/>
          <a:p>
            <a:pPr indent="0" marL="0">
              <a:buNone/>
            </a:pPr>
            <a:r>
              <a:rPr lang="en-US" sz="1000" dirty="0">
                <a:solidFill>
                  <a:srgbClr val="B8B8B8"/>
                </a:solidFill>
                <a:latin typeface="Arial" pitchFamily="34" charset="0"/>
                <a:ea typeface="Arial" pitchFamily="34" charset="-122"/>
                <a:cs typeface="Arial" pitchFamily="34" charset="-120"/>
              </a:rPr>
              <a:t>OOM KILLER  ·  UTP – FISC  ·  1IL143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10881360" y="457200"/>
            <a:ext cx="1097280" cy="320040"/>
          </a:xfrm>
          <a:prstGeom prst="rect">
            <a:avLst/>
          </a:prstGeom>
          <a:noFill/>
          <a:ln/>
        </p:spPr>
        <p:txBody>
          <a:bodyPr wrap="square" lIns="0" tIns="0" rIns="0" bIns="0" rtlCol="0" anchor="ctr"/>
          <a:lstStyle/>
          <a:p>
            <a:pPr algn="r" indent="0" marL="0">
              <a:buNone/>
            </a:pPr>
            <a:r>
              <a:rPr lang="en-US" sz="1100" dirty="0">
                <a:solidFill>
                  <a:srgbClr val="B8B8B8"/>
                </a:solidFill>
                <a:latin typeface="Arial" pitchFamily="34" charset="0"/>
                <a:ea typeface="Arial" pitchFamily="34" charset="-122"/>
                <a:cs typeface="Arial" pitchFamily="34" charset="-120"/>
              </a:rPr>
              <a:t>5 / 17</a:t>
            </a:r>
            <a:endParaRPr lang="en-US" sz="1100" dirty="0"/>
          </a:p>
        </p:txBody>
      </p:sp>
      <p:sp>
        <p:nvSpPr>
          <p:cNvPr id="3" name="Shape 1"/>
          <p:cNvSpPr/>
          <p:nvPr/>
        </p:nvSpPr>
        <p:spPr>
          <a:xfrm>
            <a:off x="731520" y="457200"/>
            <a:ext cx="1417320" cy="365760"/>
          </a:xfrm>
          <a:prstGeom prst="roundRect">
            <a:avLst>
              <a:gd name="adj" fmla="val 50000"/>
            </a:avLst>
          </a:prstGeom>
          <a:solidFill>
            <a:srgbClr val="FF1A1A"/>
          </a:solidFill>
          <a:ln/>
        </p:spPr>
      </p:sp>
      <p:sp>
        <p:nvSpPr>
          <p:cNvPr id="4" name="Text 2"/>
          <p:cNvSpPr txBox="1"/>
          <p:nvPr/>
        </p:nvSpPr>
        <p:spPr>
          <a:xfrm>
            <a:off x="731520" y="457200"/>
            <a:ext cx="1417320" cy="36576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PREGUNTA 2</a:t>
            </a:r>
            <a:endParaRPr lang="en-US" sz="1200" dirty="0"/>
          </a:p>
        </p:txBody>
      </p:sp>
      <p:sp>
        <p:nvSpPr>
          <p:cNvPr id="5" name="Text 3"/>
          <p:cNvSpPr txBox="1"/>
          <p:nvPr/>
        </p:nvSpPr>
        <p:spPr>
          <a:xfrm>
            <a:off x="644652" y="941832"/>
            <a:ext cx="7772400" cy="1234440"/>
          </a:xfrm>
          <a:prstGeom prst="rect">
            <a:avLst/>
          </a:prstGeom>
          <a:noFill/>
          <a:ln/>
        </p:spPr>
        <p:txBody>
          <a:bodyPr wrap="square" lIns="0" tIns="0" rIns="0" bIns="0" rtlCol="0" anchor="ctr"/>
          <a:lstStyle/>
          <a:p>
            <a:pPr algn="l" indent="0" marL="0">
              <a:buNone/>
            </a:pPr>
            <a:r>
              <a:rPr lang="en-US" sz="2900" b="1" dirty="0">
                <a:solidFill>
                  <a:srgbClr val="00E5FF">
                    <a:alpha val="45000"/>
                  </a:srgbClr>
                </a:solidFill>
                <a:latin typeface="Arial Black" pitchFamily="34" charset="0"/>
                <a:ea typeface="Arial Black" pitchFamily="34" charset="-122"/>
                <a:cs typeface="Arial Black" pitchFamily="34" charset="-120"/>
              </a:rPr>
              <a:t>LINUX TE MIENTE</a:t>
            </a:r>
            <a:endParaRPr lang="en-US" sz="2900" dirty="0"/>
          </a:p>
          <a:p>
            <a:pPr algn="l" indent="0" marL="0">
              <a:buNone/>
            </a:pPr>
            <a:r>
              <a:rPr lang="en-US" sz="2900" b="1" dirty="0">
                <a:solidFill>
                  <a:srgbClr val="00E5FF">
                    <a:alpha val="45000"/>
                  </a:srgbClr>
                </a:solidFill>
                <a:latin typeface="Arial Black" pitchFamily="34" charset="0"/>
                <a:ea typeface="Arial Black" pitchFamily="34" charset="-122"/>
                <a:cs typeface="Arial Black" pitchFamily="34" charset="-120"/>
              </a:rPr>
              <a:t>SOBRE LA MEMORIA</a:t>
            </a:r>
            <a:endParaRPr lang="en-US" sz="2900" dirty="0"/>
          </a:p>
        </p:txBody>
      </p:sp>
      <p:sp>
        <p:nvSpPr>
          <p:cNvPr id="6" name="Text 4"/>
          <p:cNvSpPr txBox="1"/>
          <p:nvPr/>
        </p:nvSpPr>
        <p:spPr>
          <a:xfrm>
            <a:off x="726948" y="982980"/>
            <a:ext cx="7772400" cy="1234440"/>
          </a:xfrm>
          <a:prstGeom prst="rect">
            <a:avLst/>
          </a:prstGeom>
          <a:noFill/>
          <a:ln/>
        </p:spPr>
        <p:txBody>
          <a:bodyPr wrap="square" lIns="0" tIns="0" rIns="0" bIns="0" rtlCol="0" anchor="ctr"/>
          <a:lstStyle/>
          <a:p>
            <a:pPr algn="l" indent="0" marL="0">
              <a:buNone/>
            </a:pPr>
            <a:r>
              <a:rPr lang="en-US" sz="2900" b="1" dirty="0">
                <a:solidFill>
                  <a:srgbClr val="8A0000">
                    <a:alpha val="65000"/>
                  </a:srgbClr>
                </a:solidFill>
                <a:latin typeface="Arial Black" pitchFamily="34" charset="0"/>
                <a:ea typeface="Arial Black" pitchFamily="34" charset="-122"/>
                <a:cs typeface="Arial Black" pitchFamily="34" charset="-120"/>
              </a:rPr>
              <a:t>LINUX TE MIENTE</a:t>
            </a:r>
            <a:endParaRPr lang="en-US" sz="2900" dirty="0"/>
          </a:p>
          <a:p>
            <a:pPr algn="l" indent="0" marL="0">
              <a:buNone/>
            </a:pPr>
            <a:r>
              <a:rPr lang="en-US" sz="2900" b="1" dirty="0">
                <a:solidFill>
                  <a:srgbClr val="8A0000">
                    <a:alpha val="65000"/>
                  </a:srgbClr>
                </a:solidFill>
                <a:latin typeface="Arial Black" pitchFamily="34" charset="0"/>
                <a:ea typeface="Arial Black" pitchFamily="34" charset="-122"/>
                <a:cs typeface="Arial Black" pitchFamily="34" charset="-120"/>
              </a:rPr>
              <a:t>SOBRE LA MEMORIA</a:t>
            </a:r>
            <a:endParaRPr lang="en-US" sz="2900" dirty="0"/>
          </a:p>
        </p:txBody>
      </p:sp>
      <p:sp>
        <p:nvSpPr>
          <p:cNvPr id="7" name="Text 5"/>
          <p:cNvSpPr txBox="1"/>
          <p:nvPr/>
        </p:nvSpPr>
        <p:spPr>
          <a:xfrm>
            <a:off x="685800" y="960120"/>
            <a:ext cx="7772400" cy="1234440"/>
          </a:xfrm>
          <a:prstGeom prst="rect">
            <a:avLst/>
          </a:prstGeom>
          <a:noFill/>
          <a:ln/>
        </p:spPr>
        <p:txBody>
          <a:bodyPr wrap="square" lIns="0" tIns="0" rIns="0" bIns="0" rtlCol="0" anchor="ctr"/>
          <a:lstStyle/>
          <a:p>
            <a:pPr algn="l" indent="0" marL="0">
              <a:buNone/>
            </a:pPr>
            <a:r>
              <a:rPr lang="en-US" sz="2900" b="1" dirty="0">
                <a:solidFill>
                  <a:srgbClr val="FF1A1A"/>
                </a:solidFill>
                <a:latin typeface="Arial Black" pitchFamily="34" charset="0"/>
                <a:ea typeface="Arial Black" pitchFamily="34" charset="-122"/>
                <a:cs typeface="Arial Black" pitchFamily="34" charset="-120"/>
              </a:rPr>
              <a:t>LINUX TE MIENTE</a:t>
            </a:r>
            <a:endParaRPr lang="en-US" sz="2900" dirty="0"/>
          </a:p>
          <a:p>
            <a:pPr algn="l" indent="0" marL="0">
              <a:buNone/>
            </a:pPr>
            <a:r>
              <a:rPr lang="en-US" sz="2900" b="1" dirty="0">
                <a:solidFill>
                  <a:srgbClr val="FF1A1A"/>
                </a:solidFill>
                <a:latin typeface="Arial Black" pitchFamily="34" charset="0"/>
                <a:ea typeface="Arial Black" pitchFamily="34" charset="-122"/>
                <a:cs typeface="Arial Black" pitchFamily="34" charset="-120"/>
              </a:rPr>
              <a:t>SOBRE LA MEMORIA</a:t>
            </a:r>
            <a:endParaRPr lang="en-US" sz="2900" dirty="0"/>
          </a:p>
        </p:txBody>
      </p:sp>
      <p:sp>
        <p:nvSpPr>
          <p:cNvPr id="8" name="Shape 6"/>
          <p:cNvSpPr/>
          <p:nvPr/>
        </p:nvSpPr>
        <p:spPr>
          <a:xfrm>
            <a:off x="1307592" y="1182319"/>
            <a:ext cx="1709928" cy="32004"/>
          </a:xfrm>
          <a:prstGeom prst="rect">
            <a:avLst/>
          </a:prstGeom>
          <a:solidFill>
            <a:srgbClr val="00E5FF">
              <a:alpha val="70000"/>
            </a:srgbClr>
          </a:solidFill>
          <a:ln/>
        </p:spPr>
      </p:sp>
      <p:sp>
        <p:nvSpPr>
          <p:cNvPr id="9" name="Shape 7"/>
          <p:cNvSpPr/>
          <p:nvPr/>
        </p:nvSpPr>
        <p:spPr>
          <a:xfrm>
            <a:off x="4960620" y="1922983"/>
            <a:ext cx="2331720" cy="32004"/>
          </a:xfrm>
          <a:prstGeom prst="rect">
            <a:avLst/>
          </a:prstGeom>
          <a:solidFill>
            <a:srgbClr val="FF1A1A">
              <a:alpha val="80000"/>
            </a:srgbClr>
          </a:solidFill>
          <a:ln/>
        </p:spPr>
      </p:sp>
      <p:sp>
        <p:nvSpPr>
          <p:cNvPr id="10" name="Text 8"/>
          <p:cNvSpPr txBox="1"/>
          <p:nvPr/>
        </p:nvSpPr>
        <p:spPr>
          <a:xfrm>
            <a:off x="731520" y="2377440"/>
            <a:ext cx="6400800" cy="3657600"/>
          </a:xfrm>
          <a:prstGeom prst="rect">
            <a:avLst/>
          </a:prstGeom>
          <a:noFill/>
          <a:ln/>
        </p:spPr>
        <p:txBody>
          <a:bodyPr wrap="square" lIns="0" tIns="0" rIns="0" bIns="0" rtlCol="0" anchor="t"/>
          <a:lstStyle/>
          <a:p>
            <a:pPr marL="228600" indent="-228600">
              <a:spcAft>
                <a:spcPts val="1400"/>
              </a:spcAft>
              <a:buSzPct val="100000"/>
              <a:buChar char="■"/>
            </a:pPr>
            <a:r>
              <a:rPr lang="en-US" sz="1450" dirty="0">
                <a:solidFill>
                  <a:srgbClr val="FFFFFF"/>
                </a:solidFill>
                <a:latin typeface="Calibri" pitchFamily="34" charset="0"/>
                <a:ea typeface="Calibri" pitchFamily="34" charset="-122"/>
                <a:cs typeface="Calibri" pitchFamily="34" charset="-120"/>
              </a:rPr>
              <a:t>Cuando varios procesos piden memoria a la vez, el kernel no reserva RAM física de inmediato para cada uno.</a:t>
            </a:r>
            <a:endParaRPr lang="en-US" sz="1450" dirty="0"/>
          </a:p>
          <a:p>
            <a:pPr marL="228600" indent="-228600">
              <a:spcAft>
                <a:spcPts val="1400"/>
              </a:spcAft>
              <a:buSzPct val="100000"/>
              <a:buChar char="■"/>
            </a:pPr>
            <a:r>
              <a:rPr lang="en-US" sz="1450" dirty="0">
                <a:solidFill>
                  <a:srgbClr val="FFFFFF"/>
                </a:solidFill>
                <a:latin typeface="Calibri" pitchFamily="34" charset="0"/>
                <a:ea typeface="Calibri" pitchFamily="34" charset="-122"/>
                <a:cs typeface="Calibri" pitchFamily="34" charset="-120"/>
              </a:rPr>
              <a:t>Las páginas físicas se asignan por demand paging — recén en el primer page fault de cada proceso.</a:t>
            </a:r>
            <a:endParaRPr lang="en-US" sz="1450" dirty="0"/>
          </a:p>
          <a:p>
            <a:pPr marL="228600" indent="-228600">
              <a:spcAft>
                <a:spcPts val="1400"/>
              </a:spcAft>
              <a:buSzPct val="100000"/>
              <a:buChar char="■"/>
            </a:pPr>
            <a:r>
              <a:rPr lang="en-US" sz="1450" dirty="0">
                <a:solidFill>
                  <a:srgbClr val="FFFFFF"/>
                </a:solidFill>
                <a:latin typeface="Calibri" pitchFamily="34" charset="0"/>
                <a:ea typeface="Calibri" pitchFamily="34" charset="-122"/>
                <a:cs typeface="Calibri" pitchFamily="34" charset="-120"/>
              </a:rPr>
              <a:t>Como muchos procesos nunca usan todo lo que reservaron, el kernel permite overcommit: prometer más memoria de la que existe físicamente.</a:t>
            </a:r>
            <a:endParaRPr lang="en-US" sz="1450" dirty="0"/>
          </a:p>
          <a:p>
            <a:pPr marL="228600" indent="-228600">
              <a:spcAft>
                <a:spcPts val="1400"/>
              </a:spcAft>
              <a:buSzPct val="100000"/>
              <a:buChar char="■"/>
            </a:pPr>
            <a:r>
              <a:rPr lang="en-US" sz="1450" dirty="0">
                <a:solidFill>
                  <a:srgbClr val="FFFFFF"/>
                </a:solidFill>
                <a:latin typeface="Calibri" pitchFamily="34" charset="0"/>
                <a:ea typeface="Calibri" pitchFamily="34" charset="-122"/>
                <a:cs typeface="Calibri" pitchFamily="34" charset="-120"/>
              </a:rPr>
              <a:t>Un sistema con 16GB RAM + 8GB swap puede tener 40GB comprometidos en el papel entre todos los procesos.</a:t>
            </a:r>
            <a:endParaRPr lang="en-US" sz="1450" dirty="0"/>
          </a:p>
        </p:txBody>
      </p:sp>
      <p:sp>
        <p:nvSpPr>
          <p:cNvPr id="11" name="Shape 9"/>
          <p:cNvSpPr/>
          <p:nvPr/>
        </p:nvSpPr>
        <p:spPr>
          <a:xfrm>
            <a:off x="7589520" y="2423160"/>
            <a:ext cx="3886200" cy="2743200"/>
          </a:xfrm>
          <a:prstGeom prst="roundRect">
            <a:avLst>
              <a:gd name="adj" fmla="val 2667"/>
            </a:avLst>
          </a:prstGeom>
          <a:solidFill>
            <a:srgbClr val="0D0D0D"/>
          </a:solidFill>
          <a:ln w="12700">
            <a:solidFill>
              <a:srgbClr val="FF1A1A"/>
            </a:solidFill>
            <a:prstDash val="solid"/>
          </a:ln>
        </p:spPr>
      </p:sp>
      <p:sp>
        <p:nvSpPr>
          <p:cNvPr id="12" name="Text 10"/>
          <p:cNvSpPr txBox="1"/>
          <p:nvPr/>
        </p:nvSpPr>
        <p:spPr>
          <a:xfrm>
            <a:off x="7589520" y="2743200"/>
            <a:ext cx="3886200" cy="914400"/>
          </a:xfrm>
          <a:prstGeom prst="rect">
            <a:avLst/>
          </a:prstGeom>
          <a:noFill/>
          <a:ln/>
        </p:spPr>
        <p:txBody>
          <a:bodyPr wrap="square" lIns="0" tIns="0" rIns="0" bIns="0" rtlCol="0" anchor="ctr"/>
          <a:lstStyle/>
          <a:p>
            <a:pPr algn="ctr" indent="0" marL="0">
              <a:buNone/>
            </a:pPr>
            <a:r>
              <a:rPr lang="en-US" sz="5000" b="1" dirty="0">
                <a:solidFill>
                  <a:srgbClr val="FF1A1A"/>
                </a:solidFill>
                <a:latin typeface="Arial Black" pitchFamily="34" charset="0"/>
                <a:ea typeface="Arial Black" pitchFamily="34" charset="-122"/>
                <a:cs typeface="Arial Black" pitchFamily="34" charset="-120"/>
              </a:rPr>
              <a:t>40GB</a:t>
            </a:r>
            <a:endParaRPr lang="en-US" sz="5000" dirty="0"/>
          </a:p>
        </p:txBody>
      </p:sp>
      <p:sp>
        <p:nvSpPr>
          <p:cNvPr id="13" name="Text 11"/>
          <p:cNvSpPr txBox="1"/>
          <p:nvPr/>
        </p:nvSpPr>
        <p:spPr>
          <a:xfrm>
            <a:off x="7909560" y="3639312"/>
            <a:ext cx="3291840" cy="1188720"/>
          </a:xfrm>
          <a:prstGeom prst="rect">
            <a:avLst/>
          </a:prstGeom>
          <a:noFill/>
          <a:ln/>
        </p:spPr>
        <p:txBody>
          <a:bodyPr wrap="square" lIns="0" tIns="0" rIns="0" bIns="0" rtlCol="0" anchor="ctr"/>
          <a:lstStyle/>
          <a:p>
            <a:pPr algn="ctr" indent="0" marL="0">
              <a:buNone/>
            </a:pPr>
            <a:r>
              <a:rPr lang="en-US" sz="1250" dirty="0">
                <a:solidFill>
                  <a:srgbClr val="FFFFFF"/>
                </a:solidFill>
                <a:latin typeface="Calibri" pitchFamily="34" charset="0"/>
                <a:ea typeface="Calibri" pitchFamily="34" charset="-122"/>
                <a:cs typeface="Calibri" pitchFamily="34" charset="-120"/>
              </a:rPr>
              <a:t>comprometidos entre todos los procesos, sobre solo 16GB de RAM física + 8GB de swap</a:t>
            </a:r>
            <a:endParaRPr lang="en-US" sz="1250" dirty="0"/>
          </a:p>
        </p:txBody>
      </p:sp>
      <p:sp>
        <p:nvSpPr>
          <p:cNvPr id="14" name="Text 12"/>
          <p:cNvSpPr txBox="1"/>
          <p:nvPr/>
        </p:nvSpPr>
        <p:spPr>
          <a:xfrm>
            <a:off x="7589520" y="4892040"/>
            <a:ext cx="3886200" cy="274320"/>
          </a:xfrm>
          <a:prstGeom prst="rect">
            <a:avLst/>
          </a:prstGeom>
          <a:noFill/>
          <a:ln/>
        </p:spPr>
        <p:txBody>
          <a:bodyPr wrap="square" lIns="0" tIns="0" rIns="0" bIns="0" rtlCol="0" anchor="ctr"/>
          <a:lstStyle/>
          <a:p>
            <a:pPr algn="ctr" indent="0" marL="0">
              <a:buNone/>
            </a:pPr>
            <a:r>
              <a:rPr lang="en-US" sz="1050" dirty="0">
                <a:solidFill>
                  <a:srgbClr val="B8B8B8"/>
                </a:solidFill>
                <a:latin typeface="Courier New" pitchFamily="34" charset="0"/>
                <a:ea typeface="Courier New" pitchFamily="34" charset="-122"/>
                <a:cs typeface="Courier New" pitchFamily="34" charset="-120"/>
              </a:rPr>
              <a:t>/proc/meminfo → CommitLimit vs Committed_AS</a:t>
            </a:r>
            <a:endParaRPr lang="en-US" sz="1050" dirty="0"/>
          </a:p>
        </p:txBody>
      </p:sp>
      <p:sp>
        <p:nvSpPr>
          <p:cNvPr id="15" name="Text 13"/>
          <p:cNvSpPr txBox="1"/>
          <p:nvPr/>
        </p:nvSpPr>
        <p:spPr>
          <a:xfrm>
            <a:off x="502920" y="6473952"/>
            <a:ext cx="5486400" cy="274320"/>
          </a:xfrm>
          <a:prstGeom prst="rect">
            <a:avLst/>
          </a:prstGeom>
          <a:noFill/>
          <a:ln/>
        </p:spPr>
        <p:txBody>
          <a:bodyPr wrap="square" lIns="0" tIns="0" rIns="0" bIns="0" rtlCol="0" anchor="ctr"/>
          <a:lstStyle/>
          <a:p>
            <a:pPr indent="0" marL="0">
              <a:buNone/>
            </a:pPr>
            <a:r>
              <a:rPr lang="en-US" sz="1000" dirty="0">
                <a:solidFill>
                  <a:srgbClr val="B8B8B8"/>
                </a:solidFill>
                <a:latin typeface="Arial" pitchFamily="34" charset="0"/>
                <a:ea typeface="Arial" pitchFamily="34" charset="-122"/>
                <a:cs typeface="Arial" pitchFamily="34" charset="-120"/>
              </a:rPr>
              <a:t>OOM KILLER  ·  UTP – FISC  ·  1IL143</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10881360" y="457200"/>
            <a:ext cx="1097280" cy="320040"/>
          </a:xfrm>
          <a:prstGeom prst="rect">
            <a:avLst/>
          </a:prstGeom>
          <a:noFill/>
          <a:ln/>
        </p:spPr>
        <p:txBody>
          <a:bodyPr wrap="square" lIns="0" tIns="0" rIns="0" bIns="0" rtlCol="0" anchor="ctr"/>
          <a:lstStyle/>
          <a:p>
            <a:pPr algn="r" indent="0" marL="0">
              <a:buNone/>
            </a:pPr>
            <a:r>
              <a:rPr lang="en-US" sz="1100" dirty="0">
                <a:solidFill>
                  <a:srgbClr val="B8B8B8"/>
                </a:solidFill>
                <a:latin typeface="Arial" pitchFamily="34" charset="0"/>
                <a:ea typeface="Arial" pitchFamily="34" charset="-122"/>
                <a:cs typeface="Arial" pitchFamily="34" charset="-120"/>
              </a:rPr>
              <a:t>6 / 17</a:t>
            </a:r>
            <a:endParaRPr lang="en-US" sz="1100" dirty="0"/>
          </a:p>
        </p:txBody>
      </p:sp>
      <p:sp>
        <p:nvSpPr>
          <p:cNvPr id="3" name="Shape 1"/>
          <p:cNvSpPr/>
          <p:nvPr/>
        </p:nvSpPr>
        <p:spPr>
          <a:xfrm>
            <a:off x="731520" y="457200"/>
            <a:ext cx="1417320" cy="365760"/>
          </a:xfrm>
          <a:prstGeom prst="roundRect">
            <a:avLst>
              <a:gd name="adj" fmla="val 50000"/>
            </a:avLst>
          </a:prstGeom>
          <a:solidFill>
            <a:srgbClr val="FF1A1A"/>
          </a:solidFill>
          <a:ln/>
        </p:spPr>
      </p:sp>
      <p:sp>
        <p:nvSpPr>
          <p:cNvPr id="4" name="Text 2"/>
          <p:cNvSpPr txBox="1"/>
          <p:nvPr/>
        </p:nvSpPr>
        <p:spPr>
          <a:xfrm>
            <a:off x="731520" y="457200"/>
            <a:ext cx="1417320" cy="36576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PREGUNTA 2</a:t>
            </a:r>
            <a:endParaRPr lang="en-US" sz="1200" dirty="0"/>
          </a:p>
        </p:txBody>
      </p:sp>
      <p:sp>
        <p:nvSpPr>
          <p:cNvPr id="5" name="Text 3"/>
          <p:cNvSpPr txBox="1"/>
          <p:nvPr/>
        </p:nvSpPr>
        <p:spPr>
          <a:xfrm>
            <a:off x="644652" y="896112"/>
            <a:ext cx="10515600" cy="685800"/>
          </a:xfrm>
          <a:prstGeom prst="rect">
            <a:avLst/>
          </a:prstGeom>
          <a:noFill/>
          <a:ln/>
        </p:spPr>
        <p:txBody>
          <a:bodyPr wrap="square" lIns="0" tIns="0" rIns="0" bIns="0" rtlCol="0" anchor="ctr"/>
          <a:lstStyle/>
          <a:p>
            <a:pPr algn="l" indent="0" marL="0">
              <a:buNone/>
            </a:pPr>
            <a:r>
              <a:rPr lang="en-US" sz="2600" b="1" dirty="0">
                <a:solidFill>
                  <a:srgbClr val="00E5FF">
                    <a:alpha val="45000"/>
                  </a:srgbClr>
                </a:solidFill>
                <a:latin typeface="Arial Black" pitchFamily="34" charset="0"/>
                <a:ea typeface="Arial Black" pitchFamily="34" charset="-122"/>
                <a:cs typeface="Arial Black" pitchFamily="34" charset="-120"/>
              </a:rPr>
              <a:t>TRES POLÍTICAS, UN INTERRUPTOR</a:t>
            </a:r>
            <a:endParaRPr lang="en-US" sz="2600" dirty="0"/>
          </a:p>
        </p:txBody>
      </p:sp>
      <p:sp>
        <p:nvSpPr>
          <p:cNvPr id="6" name="Text 4"/>
          <p:cNvSpPr txBox="1"/>
          <p:nvPr/>
        </p:nvSpPr>
        <p:spPr>
          <a:xfrm>
            <a:off x="726948" y="937260"/>
            <a:ext cx="10515600" cy="685800"/>
          </a:xfrm>
          <a:prstGeom prst="rect">
            <a:avLst/>
          </a:prstGeom>
          <a:noFill/>
          <a:ln/>
        </p:spPr>
        <p:txBody>
          <a:bodyPr wrap="square" lIns="0" tIns="0" rIns="0" bIns="0" rtlCol="0" anchor="ctr"/>
          <a:lstStyle/>
          <a:p>
            <a:pPr algn="l" indent="0" marL="0">
              <a:buNone/>
            </a:pPr>
            <a:r>
              <a:rPr lang="en-US" sz="2600" b="1" dirty="0">
                <a:solidFill>
                  <a:srgbClr val="8A0000">
                    <a:alpha val="65000"/>
                  </a:srgbClr>
                </a:solidFill>
                <a:latin typeface="Arial Black" pitchFamily="34" charset="0"/>
                <a:ea typeface="Arial Black" pitchFamily="34" charset="-122"/>
                <a:cs typeface="Arial Black" pitchFamily="34" charset="-120"/>
              </a:rPr>
              <a:t>TRES POLÍTICAS, UN INTERRUPTOR</a:t>
            </a:r>
            <a:endParaRPr lang="en-US" sz="2600" dirty="0"/>
          </a:p>
        </p:txBody>
      </p:sp>
      <p:sp>
        <p:nvSpPr>
          <p:cNvPr id="7" name="Text 5"/>
          <p:cNvSpPr txBox="1"/>
          <p:nvPr/>
        </p:nvSpPr>
        <p:spPr>
          <a:xfrm>
            <a:off x="685800" y="914400"/>
            <a:ext cx="10515600" cy="685800"/>
          </a:xfrm>
          <a:prstGeom prst="rect">
            <a:avLst/>
          </a:prstGeom>
          <a:noFill/>
          <a:ln/>
        </p:spPr>
        <p:txBody>
          <a:bodyPr wrap="square" lIns="0" tIns="0" rIns="0" bIns="0" rtlCol="0" anchor="ctr"/>
          <a:lstStyle/>
          <a:p>
            <a:pPr algn="l" indent="0" marL="0">
              <a:buNone/>
            </a:pPr>
            <a:r>
              <a:rPr lang="en-US" sz="2600" b="1" dirty="0">
                <a:solidFill>
                  <a:srgbClr val="FF1A1A"/>
                </a:solidFill>
                <a:latin typeface="Arial Black" pitchFamily="34" charset="0"/>
                <a:ea typeface="Arial Black" pitchFamily="34" charset="-122"/>
                <a:cs typeface="Arial Black" pitchFamily="34" charset="-120"/>
              </a:rPr>
              <a:t>TRES POLÍTICAS, UN INTERRUPTOR</a:t>
            </a:r>
            <a:endParaRPr lang="en-US" sz="2600" dirty="0"/>
          </a:p>
        </p:txBody>
      </p:sp>
      <p:sp>
        <p:nvSpPr>
          <p:cNvPr id="8" name="Shape 6"/>
          <p:cNvSpPr/>
          <p:nvPr/>
        </p:nvSpPr>
        <p:spPr>
          <a:xfrm>
            <a:off x="1527048" y="1037844"/>
            <a:ext cx="2313432" cy="32004"/>
          </a:xfrm>
          <a:prstGeom prst="rect">
            <a:avLst/>
          </a:prstGeom>
          <a:solidFill>
            <a:srgbClr val="00E5FF">
              <a:alpha val="70000"/>
            </a:srgbClr>
          </a:solidFill>
          <a:ln/>
        </p:spPr>
      </p:sp>
      <p:sp>
        <p:nvSpPr>
          <p:cNvPr id="9" name="Shape 7"/>
          <p:cNvSpPr/>
          <p:nvPr/>
        </p:nvSpPr>
        <p:spPr>
          <a:xfrm>
            <a:off x="6469380" y="1449324"/>
            <a:ext cx="3154680" cy="32004"/>
          </a:xfrm>
          <a:prstGeom prst="rect">
            <a:avLst/>
          </a:prstGeom>
          <a:solidFill>
            <a:srgbClr val="FF1A1A">
              <a:alpha val="80000"/>
            </a:srgbClr>
          </a:solidFill>
          <a:ln/>
        </p:spPr>
      </p:sp>
      <p:sp>
        <p:nvSpPr>
          <p:cNvPr id="10" name="Text 8"/>
          <p:cNvSpPr txBox="1"/>
          <p:nvPr/>
        </p:nvSpPr>
        <p:spPr>
          <a:xfrm>
            <a:off x="731520" y="1572768"/>
            <a:ext cx="8229600" cy="292608"/>
          </a:xfrm>
          <a:prstGeom prst="rect">
            <a:avLst/>
          </a:prstGeom>
          <a:noFill/>
          <a:ln/>
        </p:spPr>
        <p:txBody>
          <a:bodyPr wrap="square" lIns="0" tIns="0" rIns="0" bIns="0" rtlCol="0" anchor="ctr"/>
          <a:lstStyle/>
          <a:p>
            <a:pPr indent="0" marL="0">
              <a:buNone/>
            </a:pPr>
            <a:r>
              <a:rPr lang="en-US" sz="1250" dirty="0">
                <a:solidFill>
                  <a:srgbClr val="B8B8B8"/>
                </a:solidFill>
                <a:latin typeface="Courier New" pitchFamily="34" charset="0"/>
                <a:ea typeface="Courier New" pitchFamily="34" charset="-122"/>
                <a:cs typeface="Courier New" pitchFamily="34" charset="-120"/>
              </a:rPr>
              <a:t>vm.overcommit_memory — decide cómo se resuelve la contención entre procesos</a:t>
            </a:r>
            <a:endParaRPr lang="en-US" sz="1250" dirty="0"/>
          </a:p>
        </p:txBody>
      </p:sp>
      <p:sp>
        <p:nvSpPr>
          <p:cNvPr id="11" name="Shape 9"/>
          <p:cNvSpPr/>
          <p:nvPr/>
        </p:nvSpPr>
        <p:spPr>
          <a:xfrm>
            <a:off x="731520" y="1993392"/>
            <a:ext cx="3611880" cy="1325880"/>
          </a:xfrm>
          <a:prstGeom prst="roundRect">
            <a:avLst>
              <a:gd name="adj" fmla="val 4828"/>
            </a:avLst>
          </a:prstGeom>
          <a:solidFill>
            <a:srgbClr val="0D0D0D"/>
          </a:solidFill>
          <a:ln w="12700">
            <a:solidFill>
              <a:srgbClr val="333333"/>
            </a:solidFill>
            <a:prstDash val="solid"/>
          </a:ln>
        </p:spPr>
      </p:sp>
      <p:sp>
        <p:nvSpPr>
          <p:cNvPr id="12" name="Text 10"/>
          <p:cNvSpPr txBox="1"/>
          <p:nvPr/>
        </p:nvSpPr>
        <p:spPr>
          <a:xfrm>
            <a:off x="868680" y="2066544"/>
            <a:ext cx="640080" cy="502920"/>
          </a:xfrm>
          <a:prstGeom prst="rect">
            <a:avLst/>
          </a:prstGeom>
          <a:noFill/>
          <a:ln/>
        </p:spPr>
        <p:txBody>
          <a:bodyPr wrap="square" lIns="0" tIns="0" rIns="0" bIns="0" rtlCol="0" anchor="ctr"/>
          <a:lstStyle/>
          <a:p>
            <a:pPr indent="0" marL="0">
              <a:buNone/>
            </a:pPr>
            <a:r>
              <a:rPr lang="en-US" sz="2400" b="1" dirty="0">
                <a:solidFill>
                  <a:srgbClr val="FF1A1A"/>
                </a:solidFill>
                <a:latin typeface="Arial Black" pitchFamily="34" charset="0"/>
                <a:ea typeface="Arial Black" pitchFamily="34" charset="-122"/>
                <a:cs typeface="Arial Black" pitchFamily="34" charset="-120"/>
              </a:rPr>
              <a:t>0</a:t>
            </a:r>
            <a:endParaRPr lang="en-US" sz="2400" dirty="0"/>
          </a:p>
        </p:txBody>
      </p:sp>
      <p:sp>
        <p:nvSpPr>
          <p:cNvPr id="13" name="Text 11"/>
          <p:cNvSpPr txBox="1"/>
          <p:nvPr/>
        </p:nvSpPr>
        <p:spPr>
          <a:xfrm>
            <a:off x="868680" y="2542032"/>
            <a:ext cx="3337560"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Heurístico (default)</a:t>
            </a:r>
            <a:endParaRPr lang="en-US" sz="1350" dirty="0"/>
          </a:p>
        </p:txBody>
      </p:sp>
      <p:sp>
        <p:nvSpPr>
          <p:cNvPr id="14" name="Text 12"/>
          <p:cNvSpPr txBox="1"/>
          <p:nvPr/>
        </p:nvSpPr>
        <p:spPr>
          <a:xfrm>
            <a:off x="868680" y="2834640"/>
            <a:ext cx="3337560" cy="438912"/>
          </a:xfrm>
          <a:prstGeom prst="rect">
            <a:avLst/>
          </a:prstGeom>
          <a:noFill/>
          <a:ln/>
        </p:spPr>
        <p:txBody>
          <a:bodyPr wrap="square" lIns="0" tIns="0" rIns="0" bIns="0" rtlCol="0" anchor="ctr"/>
          <a:lstStyle/>
          <a:p>
            <a:pPr indent="0" marL="0">
              <a:buNone/>
            </a:pPr>
            <a:r>
              <a:rPr lang="en-US" sz="1100" dirty="0">
                <a:solidFill>
                  <a:srgbClr val="B8B8B8"/>
                </a:solidFill>
                <a:latin typeface="Calibri" pitchFamily="34" charset="0"/>
                <a:ea typeface="Calibri" pitchFamily="34" charset="-122"/>
                <a:cs typeface="Calibri" pitchFamily="34" charset="-120"/>
              </a:rPr>
              <a:t>Rechaza asignaciones obviamente excesivas; permite el resto.</a:t>
            </a:r>
            <a:endParaRPr lang="en-US" sz="1100" dirty="0"/>
          </a:p>
        </p:txBody>
      </p:sp>
      <p:sp>
        <p:nvSpPr>
          <p:cNvPr id="15" name="Shape 13"/>
          <p:cNvSpPr/>
          <p:nvPr/>
        </p:nvSpPr>
        <p:spPr>
          <a:xfrm>
            <a:off x="4480560" y="1993392"/>
            <a:ext cx="3611880" cy="1325880"/>
          </a:xfrm>
          <a:prstGeom prst="roundRect">
            <a:avLst>
              <a:gd name="adj" fmla="val 4828"/>
            </a:avLst>
          </a:prstGeom>
          <a:solidFill>
            <a:srgbClr val="0D0D0D"/>
          </a:solidFill>
          <a:ln w="12700">
            <a:solidFill>
              <a:srgbClr val="333333"/>
            </a:solidFill>
            <a:prstDash val="solid"/>
          </a:ln>
        </p:spPr>
      </p:sp>
      <p:sp>
        <p:nvSpPr>
          <p:cNvPr id="16" name="Text 14"/>
          <p:cNvSpPr txBox="1"/>
          <p:nvPr/>
        </p:nvSpPr>
        <p:spPr>
          <a:xfrm>
            <a:off x="4617720" y="2066544"/>
            <a:ext cx="640080" cy="502920"/>
          </a:xfrm>
          <a:prstGeom prst="rect">
            <a:avLst/>
          </a:prstGeom>
          <a:noFill/>
          <a:ln/>
        </p:spPr>
        <p:txBody>
          <a:bodyPr wrap="square" lIns="0" tIns="0" rIns="0" bIns="0" rtlCol="0" anchor="ctr"/>
          <a:lstStyle/>
          <a:p>
            <a:pPr indent="0" marL="0">
              <a:buNone/>
            </a:pPr>
            <a:r>
              <a:rPr lang="en-US" sz="2400" b="1" dirty="0">
                <a:solidFill>
                  <a:srgbClr val="FF1A1A"/>
                </a:solidFill>
                <a:latin typeface="Arial Black" pitchFamily="34" charset="0"/>
                <a:ea typeface="Arial Black" pitchFamily="34" charset="-122"/>
                <a:cs typeface="Arial Black" pitchFamily="34" charset="-120"/>
              </a:rPr>
              <a:t>1</a:t>
            </a:r>
            <a:endParaRPr lang="en-US" sz="2400" dirty="0"/>
          </a:p>
        </p:txBody>
      </p:sp>
      <p:sp>
        <p:nvSpPr>
          <p:cNvPr id="17" name="Text 15"/>
          <p:cNvSpPr txBox="1"/>
          <p:nvPr/>
        </p:nvSpPr>
        <p:spPr>
          <a:xfrm>
            <a:off x="4617720" y="2542032"/>
            <a:ext cx="3337560"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Siempre overcommit</a:t>
            </a:r>
            <a:endParaRPr lang="en-US" sz="1350" dirty="0"/>
          </a:p>
        </p:txBody>
      </p:sp>
      <p:sp>
        <p:nvSpPr>
          <p:cNvPr id="18" name="Text 16"/>
          <p:cNvSpPr txBox="1"/>
          <p:nvPr/>
        </p:nvSpPr>
        <p:spPr>
          <a:xfrm>
            <a:off x="4617720" y="2834640"/>
            <a:ext cx="3337560" cy="438912"/>
          </a:xfrm>
          <a:prstGeom prst="rect">
            <a:avLst/>
          </a:prstGeom>
          <a:noFill/>
          <a:ln/>
        </p:spPr>
        <p:txBody>
          <a:bodyPr wrap="square" lIns="0" tIns="0" rIns="0" bIns="0" rtlCol="0" anchor="ctr"/>
          <a:lstStyle/>
          <a:p>
            <a:pPr indent="0" marL="0">
              <a:buNone/>
            </a:pPr>
            <a:r>
              <a:rPr lang="en-US" sz="1100" dirty="0">
                <a:solidFill>
                  <a:srgbClr val="B8B8B8"/>
                </a:solidFill>
                <a:latin typeface="Calibri" pitchFamily="34" charset="0"/>
                <a:ea typeface="Calibri" pitchFamily="34" charset="-122"/>
                <a:cs typeface="Calibri" pitchFamily="34" charset="-120"/>
              </a:rPr>
              <a:t>Nunca rechaza. Útil en apps científicas con arrays dispersos.</a:t>
            </a:r>
            <a:endParaRPr lang="en-US" sz="1100" dirty="0"/>
          </a:p>
        </p:txBody>
      </p:sp>
      <p:sp>
        <p:nvSpPr>
          <p:cNvPr id="19" name="Shape 17"/>
          <p:cNvSpPr/>
          <p:nvPr/>
        </p:nvSpPr>
        <p:spPr>
          <a:xfrm>
            <a:off x="8229600" y="1993392"/>
            <a:ext cx="3611880" cy="1325880"/>
          </a:xfrm>
          <a:prstGeom prst="roundRect">
            <a:avLst>
              <a:gd name="adj" fmla="val 4828"/>
            </a:avLst>
          </a:prstGeom>
          <a:solidFill>
            <a:srgbClr val="0D0D0D"/>
          </a:solidFill>
          <a:ln w="12700">
            <a:solidFill>
              <a:srgbClr val="333333"/>
            </a:solidFill>
            <a:prstDash val="solid"/>
          </a:ln>
        </p:spPr>
      </p:sp>
      <p:sp>
        <p:nvSpPr>
          <p:cNvPr id="20" name="Text 18"/>
          <p:cNvSpPr txBox="1"/>
          <p:nvPr/>
        </p:nvSpPr>
        <p:spPr>
          <a:xfrm>
            <a:off x="8366760" y="2066544"/>
            <a:ext cx="640080" cy="502920"/>
          </a:xfrm>
          <a:prstGeom prst="rect">
            <a:avLst/>
          </a:prstGeom>
          <a:noFill/>
          <a:ln/>
        </p:spPr>
        <p:txBody>
          <a:bodyPr wrap="square" lIns="0" tIns="0" rIns="0" bIns="0" rtlCol="0" anchor="ctr"/>
          <a:lstStyle/>
          <a:p>
            <a:pPr indent="0" marL="0">
              <a:buNone/>
            </a:pPr>
            <a:r>
              <a:rPr lang="en-US" sz="2400" b="1" dirty="0">
                <a:solidFill>
                  <a:srgbClr val="FF1A1A"/>
                </a:solidFill>
                <a:latin typeface="Arial Black" pitchFamily="34" charset="0"/>
                <a:ea typeface="Arial Black" pitchFamily="34" charset="-122"/>
                <a:cs typeface="Arial Black" pitchFamily="34" charset="-120"/>
              </a:rPr>
              <a:t>2</a:t>
            </a:r>
            <a:endParaRPr lang="en-US" sz="2400" dirty="0"/>
          </a:p>
        </p:txBody>
      </p:sp>
      <p:sp>
        <p:nvSpPr>
          <p:cNvPr id="21" name="Text 19"/>
          <p:cNvSpPr txBox="1"/>
          <p:nvPr/>
        </p:nvSpPr>
        <p:spPr>
          <a:xfrm>
            <a:off x="8366760" y="2542032"/>
            <a:ext cx="3337560"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Sin overcommit</a:t>
            </a:r>
            <a:endParaRPr lang="en-US" sz="1350" dirty="0"/>
          </a:p>
        </p:txBody>
      </p:sp>
      <p:sp>
        <p:nvSpPr>
          <p:cNvPr id="22" name="Text 20"/>
          <p:cNvSpPr txBox="1"/>
          <p:nvPr/>
        </p:nvSpPr>
        <p:spPr>
          <a:xfrm>
            <a:off x="8366760" y="2834640"/>
            <a:ext cx="3337560" cy="438912"/>
          </a:xfrm>
          <a:prstGeom prst="rect">
            <a:avLst/>
          </a:prstGeom>
          <a:noFill/>
          <a:ln/>
        </p:spPr>
        <p:txBody>
          <a:bodyPr wrap="square" lIns="0" tIns="0" rIns="0" bIns="0" rtlCol="0" anchor="ctr"/>
          <a:lstStyle/>
          <a:p>
            <a:pPr indent="0" marL="0">
              <a:buNone/>
            </a:pPr>
            <a:r>
              <a:rPr lang="en-US" sz="1100" dirty="0">
                <a:solidFill>
                  <a:srgbClr val="B8B8B8"/>
                </a:solidFill>
                <a:latin typeface="Calibri" pitchFamily="34" charset="0"/>
                <a:ea typeface="Calibri" pitchFamily="34" charset="-122"/>
                <a:cs typeface="Calibri" pitchFamily="34" charset="-120"/>
              </a:rPr>
              <a:t>Límite estricto: swap + % configurable de RAM física.</a:t>
            </a:r>
            <a:endParaRPr lang="en-US" sz="1100" dirty="0"/>
          </a:p>
        </p:txBody>
      </p:sp>
      <p:sp>
        <p:nvSpPr>
          <p:cNvPr id="23" name="Shape 21"/>
          <p:cNvSpPr/>
          <p:nvPr/>
        </p:nvSpPr>
        <p:spPr>
          <a:xfrm>
            <a:off x="594360" y="3566160"/>
            <a:ext cx="11018520" cy="2606040"/>
          </a:xfrm>
          <a:prstGeom prst="roundRect">
            <a:avLst>
              <a:gd name="adj" fmla="val 2807"/>
            </a:avLst>
          </a:prstGeom>
          <a:solidFill>
            <a:srgbClr val="FFFFFF"/>
          </a:solidFill>
          <a:ln w="15875">
            <a:solidFill>
              <a:srgbClr val="FF1A1A"/>
            </a:solidFill>
            <a:prstDash val="solid"/>
          </a:ln>
          <a:effectLst>
            <a:outerShdw sx="100000" sy="100000" kx="0" ky="0" algn="bl" rotWithShape="0" blurRad="101600" dist="38100" dir="5400000">
              <a:srgbClr val="000000">
                <a:alpha val="50000"/>
              </a:srgbClr>
            </a:outerShdw>
          </a:effectLst>
        </p:spPr>
      </p:sp>
      <p:pic>
        <p:nvPicPr>
          <p:cNvPr id="24" name="Image 0" descr="/home/claude/oom/diagrams/d1_crop.png">    </p:cNvPr>
          <p:cNvPicPr>
            <a:picLocks noChangeAspect="1"/>
          </p:cNvPicPr>
          <p:nvPr/>
        </p:nvPicPr>
        <p:blipFill>
          <a:blip r:embed="rId1"/>
          <a:stretch>
            <a:fillRect/>
          </a:stretch>
        </p:blipFill>
        <p:spPr>
          <a:xfrm>
            <a:off x="731520" y="4302399"/>
            <a:ext cx="10744200" cy="1133562"/>
          </a:xfrm>
          <a:prstGeom prst="rect">
            <a:avLst/>
          </a:prstGeom>
        </p:spPr>
      </p:pic>
      <p:sp>
        <p:nvSpPr>
          <p:cNvPr id="25" name="Text 22"/>
          <p:cNvSpPr txBox="1"/>
          <p:nvPr/>
        </p:nvSpPr>
        <p:spPr>
          <a:xfrm>
            <a:off x="731520" y="6172200"/>
            <a:ext cx="10698480" cy="274320"/>
          </a:xfrm>
          <a:prstGeom prst="rect">
            <a:avLst/>
          </a:prstGeom>
          <a:noFill/>
          <a:ln/>
        </p:spPr>
        <p:txBody>
          <a:bodyPr wrap="square" lIns="0" tIns="0" rIns="0" bIns="0" rtlCol="0" anchor="ctr"/>
          <a:lstStyle/>
          <a:p>
            <a:pPr indent="0" marL="0">
              <a:buNone/>
            </a:pPr>
            <a:r>
              <a:rPr lang="en-US" sz="1050" i="1" dirty="0">
                <a:solidFill>
                  <a:srgbClr val="B8B8B8"/>
                </a:solidFill>
                <a:latin typeface="Calibri" pitchFamily="34" charset="0"/>
                <a:ea typeface="Calibri" pitchFamily="34" charset="-122"/>
                <a:cs typeface="Calibri" pitchFamily="34" charset="-120"/>
              </a:rPr>
              <a:t>Diagrama · Del overcommit al OOM Killer: qué pasa cuando la promesa de memoria se convierte en demanda real.</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10881360" y="457200"/>
            <a:ext cx="1097280" cy="320040"/>
          </a:xfrm>
          <a:prstGeom prst="rect">
            <a:avLst/>
          </a:prstGeom>
          <a:noFill/>
          <a:ln/>
        </p:spPr>
        <p:txBody>
          <a:bodyPr wrap="square" lIns="0" tIns="0" rIns="0" bIns="0" rtlCol="0" anchor="ctr"/>
          <a:lstStyle/>
          <a:p>
            <a:pPr algn="r" indent="0" marL="0">
              <a:buNone/>
            </a:pPr>
            <a:r>
              <a:rPr lang="en-US" sz="1100" dirty="0">
                <a:solidFill>
                  <a:srgbClr val="B8B8B8"/>
                </a:solidFill>
                <a:latin typeface="Arial" pitchFamily="34" charset="0"/>
                <a:ea typeface="Arial" pitchFamily="34" charset="-122"/>
                <a:cs typeface="Arial" pitchFamily="34" charset="-120"/>
              </a:rPr>
              <a:t>7 / 17</a:t>
            </a:r>
            <a:endParaRPr lang="en-US" sz="1100" dirty="0"/>
          </a:p>
        </p:txBody>
      </p:sp>
      <p:sp>
        <p:nvSpPr>
          <p:cNvPr id="3" name="Shape 1"/>
          <p:cNvSpPr/>
          <p:nvPr/>
        </p:nvSpPr>
        <p:spPr>
          <a:xfrm>
            <a:off x="731520" y="457200"/>
            <a:ext cx="1417320" cy="365760"/>
          </a:xfrm>
          <a:prstGeom prst="roundRect">
            <a:avLst>
              <a:gd name="adj" fmla="val 50000"/>
            </a:avLst>
          </a:prstGeom>
          <a:solidFill>
            <a:srgbClr val="FF1A1A"/>
          </a:solidFill>
          <a:ln/>
        </p:spPr>
      </p:sp>
      <p:sp>
        <p:nvSpPr>
          <p:cNvPr id="4" name="Text 2"/>
          <p:cNvSpPr txBox="1"/>
          <p:nvPr/>
        </p:nvSpPr>
        <p:spPr>
          <a:xfrm>
            <a:off x="731520" y="457200"/>
            <a:ext cx="1417320" cy="36576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PREGUNTA 3</a:t>
            </a:r>
            <a:endParaRPr lang="en-US" sz="1200" dirty="0"/>
          </a:p>
        </p:txBody>
      </p:sp>
      <p:sp>
        <p:nvSpPr>
          <p:cNvPr id="5" name="Text 3"/>
          <p:cNvSpPr txBox="1"/>
          <p:nvPr/>
        </p:nvSpPr>
        <p:spPr>
          <a:xfrm>
            <a:off x="644652" y="941832"/>
            <a:ext cx="10058400" cy="1188720"/>
          </a:xfrm>
          <a:prstGeom prst="rect">
            <a:avLst/>
          </a:prstGeom>
          <a:noFill/>
          <a:ln/>
        </p:spPr>
        <p:txBody>
          <a:bodyPr wrap="square" lIns="0" tIns="0" rIns="0" bIns="0" rtlCol="0" anchor="ctr"/>
          <a:lstStyle/>
          <a:p>
            <a:pPr algn="l" indent="0" marL="0">
              <a:buNone/>
            </a:pPr>
            <a:r>
              <a:rPr lang="en-US" sz="2600" b="1" dirty="0">
                <a:solidFill>
                  <a:srgbClr val="00E5FF">
                    <a:alpha val="45000"/>
                  </a:srgbClr>
                </a:solidFill>
                <a:latin typeface="Arial Black" pitchFamily="34" charset="0"/>
                <a:ea typeface="Arial Black" pitchFamily="34" charset="-122"/>
                <a:cs typeface="Arial Black" pitchFamily="34" charset="-120"/>
              </a:rPr>
              <a:t>CÓMO MIDE EL KERNEL</a:t>
            </a:r>
            <a:endParaRPr lang="en-US" sz="2600" dirty="0"/>
          </a:p>
          <a:p>
            <a:pPr algn="l" indent="0" marL="0">
              <a:buNone/>
            </a:pPr>
            <a:r>
              <a:rPr lang="en-US" sz="2600" b="1" dirty="0">
                <a:solidFill>
                  <a:srgbClr val="00E5FF">
                    <a:alpha val="45000"/>
                  </a:srgbClr>
                </a:solidFill>
                <a:latin typeface="Arial Black" pitchFamily="34" charset="0"/>
                <a:ea typeface="Arial Black" pitchFamily="34" charset="-122"/>
                <a:cs typeface="Arial Black" pitchFamily="34" charset="-120"/>
              </a:rPr>
              <a:t>LA MEMORIA DISPONIBLE</a:t>
            </a:r>
            <a:endParaRPr lang="en-US" sz="2600" dirty="0"/>
          </a:p>
        </p:txBody>
      </p:sp>
      <p:sp>
        <p:nvSpPr>
          <p:cNvPr id="6" name="Text 4"/>
          <p:cNvSpPr txBox="1"/>
          <p:nvPr/>
        </p:nvSpPr>
        <p:spPr>
          <a:xfrm>
            <a:off x="726948" y="982980"/>
            <a:ext cx="10058400" cy="1188720"/>
          </a:xfrm>
          <a:prstGeom prst="rect">
            <a:avLst/>
          </a:prstGeom>
          <a:noFill/>
          <a:ln/>
        </p:spPr>
        <p:txBody>
          <a:bodyPr wrap="square" lIns="0" tIns="0" rIns="0" bIns="0" rtlCol="0" anchor="ctr"/>
          <a:lstStyle/>
          <a:p>
            <a:pPr algn="l" indent="0" marL="0">
              <a:buNone/>
            </a:pPr>
            <a:r>
              <a:rPr lang="en-US" sz="2600" b="1" dirty="0">
                <a:solidFill>
                  <a:srgbClr val="8A0000">
                    <a:alpha val="65000"/>
                  </a:srgbClr>
                </a:solidFill>
                <a:latin typeface="Arial Black" pitchFamily="34" charset="0"/>
                <a:ea typeface="Arial Black" pitchFamily="34" charset="-122"/>
                <a:cs typeface="Arial Black" pitchFamily="34" charset="-120"/>
              </a:rPr>
              <a:t>CÓMO MIDE EL KERNEL</a:t>
            </a:r>
            <a:endParaRPr lang="en-US" sz="2600" dirty="0"/>
          </a:p>
          <a:p>
            <a:pPr algn="l" indent="0" marL="0">
              <a:buNone/>
            </a:pPr>
            <a:r>
              <a:rPr lang="en-US" sz="2600" b="1" dirty="0">
                <a:solidFill>
                  <a:srgbClr val="8A0000">
                    <a:alpha val="65000"/>
                  </a:srgbClr>
                </a:solidFill>
                <a:latin typeface="Arial Black" pitchFamily="34" charset="0"/>
                <a:ea typeface="Arial Black" pitchFamily="34" charset="-122"/>
                <a:cs typeface="Arial Black" pitchFamily="34" charset="-120"/>
              </a:rPr>
              <a:t>LA MEMORIA DISPONIBLE</a:t>
            </a:r>
            <a:endParaRPr lang="en-US" sz="2600" dirty="0"/>
          </a:p>
        </p:txBody>
      </p:sp>
      <p:sp>
        <p:nvSpPr>
          <p:cNvPr id="7" name="Text 5"/>
          <p:cNvSpPr txBox="1"/>
          <p:nvPr/>
        </p:nvSpPr>
        <p:spPr>
          <a:xfrm>
            <a:off x="685800" y="960120"/>
            <a:ext cx="10058400" cy="1188720"/>
          </a:xfrm>
          <a:prstGeom prst="rect">
            <a:avLst/>
          </a:prstGeom>
          <a:noFill/>
          <a:ln/>
        </p:spPr>
        <p:txBody>
          <a:bodyPr wrap="square" lIns="0" tIns="0" rIns="0" bIns="0" rtlCol="0" anchor="ctr"/>
          <a:lstStyle/>
          <a:p>
            <a:pPr algn="l" indent="0" marL="0">
              <a:buNone/>
            </a:pPr>
            <a:r>
              <a:rPr lang="en-US" sz="2600" b="1" dirty="0">
                <a:solidFill>
                  <a:srgbClr val="FF1A1A"/>
                </a:solidFill>
                <a:latin typeface="Arial Black" pitchFamily="34" charset="0"/>
                <a:ea typeface="Arial Black" pitchFamily="34" charset="-122"/>
                <a:cs typeface="Arial Black" pitchFamily="34" charset="-120"/>
              </a:rPr>
              <a:t>CÓMO MIDE EL KERNEL</a:t>
            </a:r>
            <a:endParaRPr lang="en-US" sz="2600" dirty="0"/>
          </a:p>
          <a:p>
            <a:pPr algn="l" indent="0" marL="0">
              <a:buNone/>
            </a:pPr>
            <a:r>
              <a:rPr lang="en-US" sz="2600" b="1" dirty="0">
                <a:solidFill>
                  <a:srgbClr val="FF1A1A"/>
                </a:solidFill>
                <a:latin typeface="Arial Black" pitchFamily="34" charset="0"/>
                <a:ea typeface="Arial Black" pitchFamily="34" charset="-122"/>
                <a:cs typeface="Arial Black" pitchFamily="34" charset="-120"/>
              </a:rPr>
              <a:t>LA MEMORIA DISPONIBLE</a:t>
            </a:r>
            <a:endParaRPr lang="en-US" sz="2600" dirty="0"/>
          </a:p>
        </p:txBody>
      </p:sp>
      <p:sp>
        <p:nvSpPr>
          <p:cNvPr id="8" name="Shape 6"/>
          <p:cNvSpPr/>
          <p:nvPr/>
        </p:nvSpPr>
        <p:spPr>
          <a:xfrm>
            <a:off x="1490472" y="1174090"/>
            <a:ext cx="2212848" cy="32004"/>
          </a:xfrm>
          <a:prstGeom prst="rect">
            <a:avLst/>
          </a:prstGeom>
          <a:solidFill>
            <a:srgbClr val="00E5FF">
              <a:alpha val="70000"/>
            </a:srgbClr>
          </a:solidFill>
          <a:ln/>
        </p:spPr>
      </p:sp>
      <p:sp>
        <p:nvSpPr>
          <p:cNvPr id="9" name="Shape 7"/>
          <p:cNvSpPr/>
          <p:nvPr/>
        </p:nvSpPr>
        <p:spPr>
          <a:xfrm>
            <a:off x="6217920" y="1887322"/>
            <a:ext cx="3017520" cy="32004"/>
          </a:xfrm>
          <a:prstGeom prst="rect">
            <a:avLst/>
          </a:prstGeom>
          <a:solidFill>
            <a:srgbClr val="FF1A1A">
              <a:alpha val="80000"/>
            </a:srgbClr>
          </a:solidFill>
          <a:ln/>
        </p:spPr>
      </p:sp>
      <p:sp>
        <p:nvSpPr>
          <p:cNvPr id="10" name="Shape 8"/>
          <p:cNvSpPr/>
          <p:nvPr/>
        </p:nvSpPr>
        <p:spPr>
          <a:xfrm>
            <a:off x="594360" y="2194560"/>
            <a:ext cx="11018520" cy="3017520"/>
          </a:xfrm>
          <a:prstGeom prst="roundRect">
            <a:avLst>
              <a:gd name="adj" fmla="val 2424"/>
            </a:avLst>
          </a:prstGeom>
          <a:solidFill>
            <a:srgbClr val="FFFFFF"/>
          </a:solidFill>
          <a:ln w="15875">
            <a:solidFill>
              <a:srgbClr val="FF1A1A"/>
            </a:solidFill>
            <a:prstDash val="solid"/>
          </a:ln>
          <a:effectLst>
            <a:outerShdw sx="100000" sy="100000" kx="0" ky="0" algn="bl" rotWithShape="0" blurRad="101600" dist="38100" dir="5400000">
              <a:srgbClr val="000000">
                <a:alpha val="50000"/>
              </a:srgbClr>
            </a:outerShdw>
          </a:effectLst>
        </p:spPr>
      </p:sp>
      <p:pic>
        <p:nvPicPr>
          <p:cNvPr id="11" name="Image 0" descr="/home/claude/oom/diagrams/d4_crop.png">    </p:cNvPr>
          <p:cNvPicPr>
            <a:picLocks noChangeAspect="1"/>
          </p:cNvPicPr>
          <p:nvPr/>
        </p:nvPicPr>
        <p:blipFill>
          <a:blip r:embed="rId1"/>
          <a:stretch>
            <a:fillRect/>
          </a:stretch>
        </p:blipFill>
        <p:spPr>
          <a:xfrm>
            <a:off x="731520" y="2348629"/>
            <a:ext cx="10744200" cy="2709382"/>
          </a:xfrm>
          <a:prstGeom prst="rect">
            <a:avLst/>
          </a:prstGeom>
        </p:spPr>
      </p:pic>
      <p:sp>
        <p:nvSpPr>
          <p:cNvPr id="12" name="Text 9"/>
          <p:cNvSpPr txBox="1"/>
          <p:nvPr/>
        </p:nvSpPr>
        <p:spPr>
          <a:xfrm>
            <a:off x="731520" y="5257800"/>
            <a:ext cx="10698480" cy="1371600"/>
          </a:xfrm>
          <a:prstGeom prst="rect">
            <a:avLst/>
          </a:prstGeom>
          <a:noFill/>
          <a:ln/>
        </p:spPr>
        <p:txBody>
          <a:bodyPr wrap="square" lIns="0" tIns="0" rIns="0" bIns="0" rtlCol="0" anchor="t"/>
          <a:lstStyle/>
          <a:p>
            <a:pPr marL="228600" indent="-228600">
              <a:spcAft>
                <a:spcPts val="1400"/>
              </a:spcAft>
              <a:buSzPct val="100000"/>
              <a:buChar char="■"/>
            </a:pPr>
            <a:r>
              <a:rPr lang="en-US" sz="1350" dirty="0">
                <a:solidFill>
                  <a:srgbClr val="FFFFFF"/>
                </a:solidFill>
                <a:latin typeface="Calibri" pitchFamily="34" charset="0"/>
                <a:ea typeface="Calibri" pitchFamily="34" charset="-122"/>
                <a:cs typeface="Calibri" pitchFamily="34" charset="-120"/>
              </a:rPr>
              <a:t>La RAM física se divide en zonas; cada zona mantiene 3 marcas de agua: min, low y high.</a:t>
            </a:r>
            <a:endParaRPr lang="en-US" sz="1350" dirty="0"/>
          </a:p>
          <a:p>
            <a:pPr marL="228600" indent="-228600">
              <a:spcAft>
                <a:spcPts val="1400"/>
              </a:spcAft>
              <a:buSzPct val="100000"/>
              <a:buChar char="■"/>
            </a:pPr>
            <a:r>
              <a:rPr lang="en-US" sz="1350" dirty="0">
                <a:solidFill>
                  <a:srgbClr val="FFFFFF"/>
                </a:solidFill>
                <a:latin typeface="Calibri" pitchFamily="34" charset="0"/>
                <a:ea typeface="Calibri" pitchFamily="34" charset="-122"/>
                <a:cs typeface="Calibri" pitchFamily="34" charset="-120"/>
              </a:rPr>
              <a:t>Bajo low, se despierta kswapd en background; bajo min, el proceso que asigna hace reclaim directo y espera.</a:t>
            </a:r>
            <a:endParaRPr lang="en-US" sz="1350" dirty="0"/>
          </a:p>
          <a:p>
            <a:pPr marL="228600" indent="-228600">
              <a:spcAft>
                <a:spcPts val="1400"/>
              </a:spcAft>
              <a:buSzPct val="100000"/>
              <a:buChar char="■"/>
            </a:pPr>
            <a:r>
              <a:rPr lang="en-US" sz="1350" dirty="0">
                <a:solidFill>
                  <a:srgbClr val="FFFFFF"/>
                </a:solidFill>
                <a:latin typeface="Calibri" pitchFamily="34" charset="0"/>
                <a:ea typeface="Calibri" pitchFamily="34" charset="-122"/>
                <a:cs typeface="Calibri" pitchFamily="34" charset="-120"/>
              </a:rPr>
              <a:t>Todo esto se resume para el usuario en /proc/meminfo (MemFree, MemAvailable, Cached, Committed_AS).</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10881360" y="457200"/>
            <a:ext cx="1097280" cy="320040"/>
          </a:xfrm>
          <a:prstGeom prst="rect">
            <a:avLst/>
          </a:prstGeom>
          <a:noFill/>
          <a:ln/>
        </p:spPr>
        <p:txBody>
          <a:bodyPr wrap="square" lIns="0" tIns="0" rIns="0" bIns="0" rtlCol="0" anchor="ctr"/>
          <a:lstStyle/>
          <a:p>
            <a:pPr algn="r" indent="0" marL="0">
              <a:buNone/>
            </a:pPr>
            <a:r>
              <a:rPr lang="en-US" sz="1100" dirty="0">
                <a:solidFill>
                  <a:srgbClr val="B8B8B8"/>
                </a:solidFill>
                <a:latin typeface="Arial" pitchFamily="34" charset="0"/>
                <a:ea typeface="Arial" pitchFamily="34" charset="-122"/>
                <a:cs typeface="Arial" pitchFamily="34" charset="-120"/>
              </a:rPr>
              <a:t>8 / 17</a:t>
            </a:r>
            <a:endParaRPr lang="en-US" sz="1100" dirty="0"/>
          </a:p>
        </p:txBody>
      </p:sp>
      <p:sp>
        <p:nvSpPr>
          <p:cNvPr id="3" name="Shape 1"/>
          <p:cNvSpPr/>
          <p:nvPr/>
        </p:nvSpPr>
        <p:spPr>
          <a:xfrm>
            <a:off x="731520" y="457200"/>
            <a:ext cx="1417320" cy="365760"/>
          </a:xfrm>
          <a:prstGeom prst="roundRect">
            <a:avLst>
              <a:gd name="adj" fmla="val 50000"/>
            </a:avLst>
          </a:prstGeom>
          <a:solidFill>
            <a:srgbClr val="FF1A1A"/>
          </a:solidFill>
          <a:ln/>
        </p:spPr>
      </p:sp>
      <p:sp>
        <p:nvSpPr>
          <p:cNvPr id="4" name="Text 2"/>
          <p:cNvSpPr txBox="1"/>
          <p:nvPr/>
        </p:nvSpPr>
        <p:spPr>
          <a:xfrm>
            <a:off x="731520" y="457200"/>
            <a:ext cx="1417320" cy="36576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PREGUNTA 4</a:t>
            </a:r>
            <a:endParaRPr lang="en-US" sz="1200" dirty="0"/>
          </a:p>
        </p:txBody>
      </p:sp>
      <p:sp>
        <p:nvSpPr>
          <p:cNvPr id="5" name="Text 3"/>
          <p:cNvSpPr txBox="1"/>
          <p:nvPr/>
        </p:nvSpPr>
        <p:spPr>
          <a:xfrm>
            <a:off x="644652" y="941832"/>
            <a:ext cx="6400800" cy="1234440"/>
          </a:xfrm>
          <a:prstGeom prst="rect">
            <a:avLst/>
          </a:prstGeom>
          <a:noFill/>
          <a:ln/>
        </p:spPr>
        <p:txBody>
          <a:bodyPr wrap="square" lIns="0" tIns="0" rIns="0" bIns="0" rtlCol="0" anchor="ctr"/>
          <a:lstStyle/>
          <a:p>
            <a:pPr algn="l" indent="0" marL="0">
              <a:buNone/>
            </a:pPr>
            <a:r>
              <a:rPr lang="en-US" sz="3400" b="1" dirty="0">
                <a:solidFill>
                  <a:srgbClr val="00E5FF">
                    <a:alpha val="45000"/>
                  </a:srgbClr>
                </a:solidFill>
                <a:latin typeface="Arial Black" pitchFamily="34" charset="0"/>
                <a:ea typeface="Arial Black" pitchFamily="34" charset="-122"/>
                <a:cs typeface="Arial Black" pitchFamily="34" charset="-120"/>
              </a:rPr>
              <a:t>¿QUÉ ES EL</a:t>
            </a:r>
            <a:endParaRPr lang="en-US" sz="3400" dirty="0"/>
          </a:p>
          <a:p>
            <a:pPr algn="l" indent="0" marL="0">
              <a:buNone/>
            </a:pPr>
            <a:r>
              <a:rPr lang="en-US" sz="3400" b="1" dirty="0">
                <a:solidFill>
                  <a:srgbClr val="00E5FF">
                    <a:alpha val="45000"/>
                  </a:srgbClr>
                </a:solidFill>
                <a:latin typeface="Arial Black" pitchFamily="34" charset="0"/>
                <a:ea typeface="Arial Black" pitchFamily="34" charset="-122"/>
                <a:cs typeface="Arial Black" pitchFamily="34" charset="-120"/>
              </a:rPr>
              <a:t>OOM KILLER?</a:t>
            </a:r>
            <a:endParaRPr lang="en-US" sz="3400" dirty="0"/>
          </a:p>
        </p:txBody>
      </p:sp>
      <p:sp>
        <p:nvSpPr>
          <p:cNvPr id="6" name="Text 4"/>
          <p:cNvSpPr txBox="1"/>
          <p:nvPr/>
        </p:nvSpPr>
        <p:spPr>
          <a:xfrm>
            <a:off x="726948" y="982980"/>
            <a:ext cx="6400800" cy="1234440"/>
          </a:xfrm>
          <a:prstGeom prst="rect">
            <a:avLst/>
          </a:prstGeom>
          <a:noFill/>
          <a:ln/>
        </p:spPr>
        <p:txBody>
          <a:bodyPr wrap="square" lIns="0" tIns="0" rIns="0" bIns="0" rtlCol="0" anchor="ctr"/>
          <a:lstStyle/>
          <a:p>
            <a:pPr algn="l" indent="0" marL="0">
              <a:buNone/>
            </a:pPr>
            <a:r>
              <a:rPr lang="en-US" sz="3400" b="1" dirty="0">
                <a:solidFill>
                  <a:srgbClr val="8A0000">
                    <a:alpha val="65000"/>
                  </a:srgbClr>
                </a:solidFill>
                <a:latin typeface="Arial Black" pitchFamily="34" charset="0"/>
                <a:ea typeface="Arial Black" pitchFamily="34" charset="-122"/>
                <a:cs typeface="Arial Black" pitchFamily="34" charset="-120"/>
              </a:rPr>
              <a:t>¿QUÉ ES EL</a:t>
            </a:r>
            <a:endParaRPr lang="en-US" sz="3400" dirty="0"/>
          </a:p>
          <a:p>
            <a:pPr algn="l" indent="0" marL="0">
              <a:buNone/>
            </a:pPr>
            <a:r>
              <a:rPr lang="en-US" sz="3400" b="1" dirty="0">
                <a:solidFill>
                  <a:srgbClr val="8A0000">
                    <a:alpha val="65000"/>
                  </a:srgbClr>
                </a:solidFill>
                <a:latin typeface="Arial Black" pitchFamily="34" charset="0"/>
                <a:ea typeface="Arial Black" pitchFamily="34" charset="-122"/>
                <a:cs typeface="Arial Black" pitchFamily="34" charset="-120"/>
              </a:rPr>
              <a:t>OOM KILLER?</a:t>
            </a:r>
            <a:endParaRPr lang="en-US" sz="3400" dirty="0"/>
          </a:p>
        </p:txBody>
      </p:sp>
      <p:sp>
        <p:nvSpPr>
          <p:cNvPr id="7" name="Text 5"/>
          <p:cNvSpPr txBox="1"/>
          <p:nvPr/>
        </p:nvSpPr>
        <p:spPr>
          <a:xfrm>
            <a:off x="685800" y="960120"/>
            <a:ext cx="6400800" cy="1234440"/>
          </a:xfrm>
          <a:prstGeom prst="rect">
            <a:avLst/>
          </a:prstGeom>
          <a:noFill/>
          <a:ln/>
        </p:spPr>
        <p:txBody>
          <a:bodyPr wrap="square" lIns="0" tIns="0" rIns="0" bIns="0" rtlCol="0" anchor="ctr"/>
          <a:lstStyle/>
          <a:p>
            <a:pPr algn="l" indent="0" marL="0">
              <a:buNone/>
            </a:pPr>
            <a:r>
              <a:rPr lang="en-US" sz="3400" b="1" dirty="0">
                <a:solidFill>
                  <a:srgbClr val="FF1A1A"/>
                </a:solidFill>
                <a:latin typeface="Arial Black" pitchFamily="34" charset="0"/>
                <a:ea typeface="Arial Black" pitchFamily="34" charset="-122"/>
                <a:cs typeface="Arial Black" pitchFamily="34" charset="-120"/>
              </a:rPr>
              <a:t>¿QUÉ ES EL</a:t>
            </a:r>
            <a:endParaRPr lang="en-US" sz="3400" dirty="0"/>
          </a:p>
          <a:p>
            <a:pPr algn="l" indent="0" marL="0">
              <a:buNone/>
            </a:pPr>
            <a:r>
              <a:rPr lang="en-US" sz="3400" b="1" dirty="0">
                <a:solidFill>
                  <a:srgbClr val="FF1A1A"/>
                </a:solidFill>
                <a:latin typeface="Arial Black" pitchFamily="34" charset="0"/>
                <a:ea typeface="Arial Black" pitchFamily="34" charset="-122"/>
                <a:cs typeface="Arial Black" pitchFamily="34" charset="-120"/>
              </a:rPr>
              <a:t>OOM KILLER?</a:t>
            </a:r>
            <a:endParaRPr lang="en-US" sz="3400" dirty="0"/>
          </a:p>
        </p:txBody>
      </p:sp>
      <p:sp>
        <p:nvSpPr>
          <p:cNvPr id="8" name="Shape 6"/>
          <p:cNvSpPr/>
          <p:nvPr/>
        </p:nvSpPr>
        <p:spPr>
          <a:xfrm>
            <a:off x="1197864" y="1182319"/>
            <a:ext cx="1408176" cy="32004"/>
          </a:xfrm>
          <a:prstGeom prst="rect">
            <a:avLst/>
          </a:prstGeom>
          <a:solidFill>
            <a:srgbClr val="00E5FF">
              <a:alpha val="70000"/>
            </a:srgbClr>
          </a:solidFill>
          <a:ln/>
        </p:spPr>
      </p:sp>
      <p:sp>
        <p:nvSpPr>
          <p:cNvPr id="9" name="Shape 7"/>
          <p:cNvSpPr/>
          <p:nvPr/>
        </p:nvSpPr>
        <p:spPr>
          <a:xfrm>
            <a:off x="4206240" y="1922983"/>
            <a:ext cx="1920240" cy="32004"/>
          </a:xfrm>
          <a:prstGeom prst="rect">
            <a:avLst/>
          </a:prstGeom>
          <a:solidFill>
            <a:srgbClr val="FF1A1A">
              <a:alpha val="80000"/>
            </a:srgbClr>
          </a:solidFill>
          <a:ln/>
        </p:spPr>
      </p:sp>
      <p:sp>
        <p:nvSpPr>
          <p:cNvPr id="10" name="Shape 8"/>
          <p:cNvSpPr/>
          <p:nvPr/>
        </p:nvSpPr>
        <p:spPr>
          <a:xfrm>
            <a:off x="731520" y="2423160"/>
            <a:ext cx="10744200" cy="1417320"/>
          </a:xfrm>
          <a:prstGeom prst="roundRect">
            <a:avLst>
              <a:gd name="adj" fmla="val 5161"/>
            </a:avLst>
          </a:prstGeom>
          <a:solidFill>
            <a:srgbClr val="0D0D0D"/>
          </a:solidFill>
          <a:ln w="12700">
            <a:solidFill>
              <a:srgbClr val="FF1A1A"/>
            </a:solidFill>
            <a:prstDash val="solid"/>
          </a:ln>
        </p:spPr>
      </p:sp>
      <p:sp>
        <p:nvSpPr>
          <p:cNvPr id="11" name="Text 9"/>
          <p:cNvSpPr txBox="1"/>
          <p:nvPr/>
        </p:nvSpPr>
        <p:spPr>
          <a:xfrm>
            <a:off x="1051560" y="2606040"/>
            <a:ext cx="10104120" cy="1097280"/>
          </a:xfrm>
          <a:prstGeom prst="rect">
            <a:avLst/>
          </a:prstGeom>
          <a:noFill/>
          <a:ln/>
        </p:spPr>
        <p:txBody>
          <a:bodyPr wrap="square" lIns="0" tIns="0" rIns="0" bIns="0" rtlCol="0" anchor="ctr"/>
          <a:lstStyle/>
          <a:p>
            <a:pPr indent="0" marL="0">
              <a:lnSpc>
                <a:spcPct val="130000"/>
              </a:lnSpc>
              <a:buNone/>
            </a:pPr>
            <a:r>
              <a:rPr lang="en-US" sz="1600" dirty="0">
                <a:solidFill>
                  <a:srgbClr val="FFFFFF"/>
                </a:solidFill>
                <a:latin typeface="Calibri" pitchFamily="34" charset="0"/>
                <a:ea typeface="Calibri" pitchFamily="34" charset="-122"/>
                <a:cs typeface="Calibri" pitchFamily="34" charset="-120"/>
              </a:rPr>
              <a:t>Es un mecanismo del kernel de Linux (función oom_kill() en mm/oom_kill.c) que se activa cuando el sistema está críticamente bajo de memoria física y swap, y ya no queda nada más que reclamar. Su tarea: elegir un proceso y terminarlo para liberar memoria y mantener el sistema vivo.</a:t>
            </a:r>
            <a:endParaRPr lang="en-US" sz="1600" dirty="0"/>
          </a:p>
        </p:txBody>
      </p:sp>
      <p:sp>
        <p:nvSpPr>
          <p:cNvPr id="12" name="Text 10"/>
          <p:cNvSpPr txBox="1"/>
          <p:nvPr/>
        </p:nvSpPr>
        <p:spPr>
          <a:xfrm>
            <a:off x="731520" y="4160520"/>
            <a:ext cx="10698480" cy="2011680"/>
          </a:xfrm>
          <a:prstGeom prst="rect">
            <a:avLst/>
          </a:prstGeom>
          <a:noFill/>
          <a:ln/>
        </p:spPr>
        <p:txBody>
          <a:bodyPr wrap="square" lIns="0" tIns="0" rIns="0" bIns="0" rtlCol="0" anchor="t"/>
          <a:lstStyle/>
          <a:p>
            <a:pPr marL="228600" indent="-228600">
              <a:spcAft>
                <a:spcPts val="1400"/>
              </a:spcAft>
              <a:buSzPct val="100000"/>
              <a:buChar char="■"/>
            </a:pPr>
            <a:r>
              <a:rPr lang="en-US" sz="1500" dirty="0">
                <a:solidFill>
                  <a:srgbClr val="FFFFFF"/>
                </a:solidFill>
                <a:latin typeface="Calibri" pitchFamily="34" charset="0"/>
                <a:ea typeface="Calibri" pitchFamily="34" charset="-122"/>
                <a:cs typeface="Calibri" pitchFamily="34" charset="-120"/>
              </a:rPr>
              <a:t>No es un antivirus ni un proceso separado: es parte del subsistema de gestión de memoria del kernel.</a:t>
            </a:r>
            <a:endParaRPr lang="en-US" sz="1500" dirty="0"/>
          </a:p>
          <a:p>
            <a:pPr marL="228600" indent="-228600">
              <a:spcAft>
                <a:spcPts val="1400"/>
              </a:spcAft>
              <a:buSzPct val="100000"/>
              <a:buChar char="■"/>
            </a:pPr>
            <a:r>
              <a:rPr lang="en-US" sz="1500" dirty="0">
                <a:solidFill>
                  <a:srgbClr val="FFFFFF"/>
                </a:solidFill>
                <a:latin typeface="Calibri" pitchFamily="34" charset="0"/>
                <a:ea typeface="Calibri" pitchFamily="34" charset="-122"/>
                <a:cs typeface="Calibri" pitchFamily="34" charset="-120"/>
              </a:rPr>
              <a:t>No actúa por capricho — solo se invoca cuando kswapd y el reclaim directo ya fallaron.</a:t>
            </a:r>
            <a:endParaRPr lang="en-US" sz="1500" dirty="0"/>
          </a:p>
          <a:p>
            <a:pPr marL="228600" indent="-228600">
              <a:spcAft>
                <a:spcPts val="1400"/>
              </a:spcAft>
              <a:buSzPct val="100000"/>
              <a:buChar char="■"/>
            </a:pPr>
            <a:r>
              <a:rPr lang="en-US" sz="1500" dirty="0">
                <a:solidFill>
                  <a:srgbClr val="FFFFFF"/>
                </a:solidFill>
                <a:latin typeface="Calibri" pitchFamily="34" charset="0"/>
                <a:ea typeface="Calibri" pitchFamily="34" charset="-122"/>
                <a:cs typeface="Calibri" pitchFamily="34" charset="-120"/>
              </a:rPr>
              <a:t>Es la última línea de defensa del kernel contra un colapso total del sistema.</a:t>
            </a:r>
            <a:endParaRPr lang="en-US" sz="1500" dirty="0"/>
          </a:p>
        </p:txBody>
      </p:sp>
      <p:sp>
        <p:nvSpPr>
          <p:cNvPr id="13" name="Text 11"/>
          <p:cNvSpPr txBox="1"/>
          <p:nvPr/>
        </p:nvSpPr>
        <p:spPr>
          <a:xfrm>
            <a:off x="502920" y="6473952"/>
            <a:ext cx="5486400" cy="274320"/>
          </a:xfrm>
          <a:prstGeom prst="rect">
            <a:avLst/>
          </a:prstGeom>
          <a:noFill/>
          <a:ln/>
        </p:spPr>
        <p:txBody>
          <a:bodyPr wrap="square" lIns="0" tIns="0" rIns="0" bIns="0" rtlCol="0" anchor="ctr"/>
          <a:lstStyle/>
          <a:p>
            <a:pPr indent="0" marL="0">
              <a:buNone/>
            </a:pPr>
            <a:r>
              <a:rPr lang="en-US" sz="1000" dirty="0">
                <a:solidFill>
                  <a:srgbClr val="B8B8B8"/>
                </a:solidFill>
                <a:latin typeface="Arial" pitchFamily="34" charset="0"/>
                <a:ea typeface="Arial" pitchFamily="34" charset="-122"/>
                <a:cs typeface="Arial" pitchFamily="34" charset="-120"/>
              </a:rPr>
              <a:t>OOM KILLER  ·  UTP – FISC  ·  1IL143</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10881360" y="457200"/>
            <a:ext cx="1097280" cy="320040"/>
          </a:xfrm>
          <a:prstGeom prst="rect">
            <a:avLst/>
          </a:prstGeom>
          <a:noFill/>
          <a:ln/>
        </p:spPr>
        <p:txBody>
          <a:bodyPr wrap="square" lIns="0" tIns="0" rIns="0" bIns="0" rtlCol="0" anchor="ctr"/>
          <a:lstStyle/>
          <a:p>
            <a:pPr algn="r" indent="0" marL="0">
              <a:buNone/>
            </a:pPr>
            <a:r>
              <a:rPr lang="en-US" sz="1100" dirty="0">
                <a:solidFill>
                  <a:srgbClr val="B8B8B8"/>
                </a:solidFill>
                <a:latin typeface="Arial" pitchFamily="34" charset="0"/>
                <a:ea typeface="Arial" pitchFamily="34" charset="-122"/>
                <a:cs typeface="Arial" pitchFamily="34" charset="-120"/>
              </a:rPr>
              <a:t>9 / 17</a:t>
            </a:r>
            <a:endParaRPr lang="en-US" sz="1100" dirty="0"/>
          </a:p>
        </p:txBody>
      </p:sp>
      <p:sp>
        <p:nvSpPr>
          <p:cNvPr id="3" name="Shape 1"/>
          <p:cNvSpPr/>
          <p:nvPr/>
        </p:nvSpPr>
        <p:spPr>
          <a:xfrm>
            <a:off x="731520" y="457200"/>
            <a:ext cx="1417320" cy="365760"/>
          </a:xfrm>
          <a:prstGeom prst="roundRect">
            <a:avLst>
              <a:gd name="adj" fmla="val 50000"/>
            </a:avLst>
          </a:prstGeom>
          <a:solidFill>
            <a:srgbClr val="FF1A1A"/>
          </a:solidFill>
          <a:ln/>
        </p:spPr>
      </p:sp>
      <p:sp>
        <p:nvSpPr>
          <p:cNvPr id="4" name="Text 2"/>
          <p:cNvSpPr txBox="1"/>
          <p:nvPr/>
        </p:nvSpPr>
        <p:spPr>
          <a:xfrm>
            <a:off x="731520" y="457200"/>
            <a:ext cx="1417320" cy="36576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PREGUNTA 5</a:t>
            </a:r>
            <a:endParaRPr lang="en-US" sz="1200" dirty="0"/>
          </a:p>
        </p:txBody>
      </p:sp>
      <p:sp>
        <p:nvSpPr>
          <p:cNvPr id="5" name="Text 3"/>
          <p:cNvSpPr txBox="1"/>
          <p:nvPr/>
        </p:nvSpPr>
        <p:spPr>
          <a:xfrm>
            <a:off x="644652" y="941832"/>
            <a:ext cx="7772400" cy="1234440"/>
          </a:xfrm>
          <a:prstGeom prst="rect">
            <a:avLst/>
          </a:prstGeom>
          <a:noFill/>
          <a:ln/>
        </p:spPr>
        <p:txBody>
          <a:bodyPr wrap="square" lIns="0" tIns="0" rIns="0" bIns="0" rtlCol="0" anchor="ctr"/>
          <a:lstStyle/>
          <a:p>
            <a:pPr algn="l" indent="0" marL="0">
              <a:buNone/>
            </a:pPr>
            <a:r>
              <a:rPr lang="en-US" sz="2900" b="1" dirty="0">
                <a:solidFill>
                  <a:srgbClr val="00E5FF">
                    <a:alpha val="45000"/>
                  </a:srgbClr>
                </a:solidFill>
                <a:latin typeface="Arial Black" pitchFamily="34" charset="0"/>
                <a:ea typeface="Arial Black" pitchFamily="34" charset="-122"/>
                <a:cs typeface="Arial Black" pitchFamily="34" charset="-120"/>
              </a:rPr>
              <a:t>¿POR QUÉ MATAR</a:t>
            </a:r>
            <a:endParaRPr lang="en-US" sz="2900" dirty="0"/>
          </a:p>
          <a:p>
            <a:pPr algn="l" indent="0" marL="0">
              <a:buNone/>
            </a:pPr>
            <a:r>
              <a:rPr lang="en-US" sz="2900" b="1" dirty="0">
                <a:solidFill>
                  <a:srgbClr val="00E5FF">
                    <a:alpha val="45000"/>
                  </a:srgbClr>
                </a:solidFill>
                <a:latin typeface="Arial Black" pitchFamily="34" charset="0"/>
                <a:ea typeface="Arial Black" pitchFamily="34" charset="-122"/>
                <a:cs typeface="Arial Black" pitchFamily="34" charset="-120"/>
              </a:rPr>
              <a:t>EN VEZ DE FALLAR?</a:t>
            </a:r>
            <a:endParaRPr lang="en-US" sz="2900" dirty="0"/>
          </a:p>
        </p:txBody>
      </p:sp>
      <p:sp>
        <p:nvSpPr>
          <p:cNvPr id="6" name="Text 4"/>
          <p:cNvSpPr txBox="1"/>
          <p:nvPr/>
        </p:nvSpPr>
        <p:spPr>
          <a:xfrm>
            <a:off x="726948" y="982980"/>
            <a:ext cx="7772400" cy="1234440"/>
          </a:xfrm>
          <a:prstGeom prst="rect">
            <a:avLst/>
          </a:prstGeom>
          <a:noFill/>
          <a:ln/>
        </p:spPr>
        <p:txBody>
          <a:bodyPr wrap="square" lIns="0" tIns="0" rIns="0" bIns="0" rtlCol="0" anchor="ctr"/>
          <a:lstStyle/>
          <a:p>
            <a:pPr algn="l" indent="0" marL="0">
              <a:buNone/>
            </a:pPr>
            <a:r>
              <a:rPr lang="en-US" sz="2900" b="1" dirty="0">
                <a:solidFill>
                  <a:srgbClr val="8A0000">
                    <a:alpha val="65000"/>
                  </a:srgbClr>
                </a:solidFill>
                <a:latin typeface="Arial Black" pitchFamily="34" charset="0"/>
                <a:ea typeface="Arial Black" pitchFamily="34" charset="-122"/>
                <a:cs typeface="Arial Black" pitchFamily="34" charset="-120"/>
              </a:rPr>
              <a:t>¿POR QUÉ MATAR</a:t>
            </a:r>
            <a:endParaRPr lang="en-US" sz="2900" dirty="0"/>
          </a:p>
          <a:p>
            <a:pPr algn="l" indent="0" marL="0">
              <a:buNone/>
            </a:pPr>
            <a:r>
              <a:rPr lang="en-US" sz="2900" b="1" dirty="0">
                <a:solidFill>
                  <a:srgbClr val="8A0000">
                    <a:alpha val="65000"/>
                  </a:srgbClr>
                </a:solidFill>
                <a:latin typeface="Arial Black" pitchFamily="34" charset="0"/>
                <a:ea typeface="Arial Black" pitchFamily="34" charset="-122"/>
                <a:cs typeface="Arial Black" pitchFamily="34" charset="-120"/>
              </a:rPr>
              <a:t>EN VEZ DE FALLAR?</a:t>
            </a:r>
            <a:endParaRPr lang="en-US" sz="2900" dirty="0"/>
          </a:p>
        </p:txBody>
      </p:sp>
      <p:sp>
        <p:nvSpPr>
          <p:cNvPr id="7" name="Text 5"/>
          <p:cNvSpPr txBox="1"/>
          <p:nvPr/>
        </p:nvSpPr>
        <p:spPr>
          <a:xfrm>
            <a:off x="685800" y="960120"/>
            <a:ext cx="7772400" cy="1234440"/>
          </a:xfrm>
          <a:prstGeom prst="rect">
            <a:avLst/>
          </a:prstGeom>
          <a:noFill/>
          <a:ln/>
        </p:spPr>
        <p:txBody>
          <a:bodyPr wrap="square" lIns="0" tIns="0" rIns="0" bIns="0" rtlCol="0" anchor="ctr"/>
          <a:lstStyle/>
          <a:p>
            <a:pPr algn="l" indent="0" marL="0">
              <a:buNone/>
            </a:pPr>
            <a:r>
              <a:rPr lang="en-US" sz="2900" b="1" dirty="0">
                <a:solidFill>
                  <a:srgbClr val="FF1A1A"/>
                </a:solidFill>
                <a:latin typeface="Arial Black" pitchFamily="34" charset="0"/>
                <a:ea typeface="Arial Black" pitchFamily="34" charset="-122"/>
                <a:cs typeface="Arial Black" pitchFamily="34" charset="-120"/>
              </a:rPr>
              <a:t>¿POR QUÉ MATAR</a:t>
            </a:r>
            <a:endParaRPr lang="en-US" sz="2900" dirty="0"/>
          </a:p>
          <a:p>
            <a:pPr algn="l" indent="0" marL="0">
              <a:buNone/>
            </a:pPr>
            <a:r>
              <a:rPr lang="en-US" sz="2900" b="1" dirty="0">
                <a:solidFill>
                  <a:srgbClr val="FF1A1A"/>
                </a:solidFill>
                <a:latin typeface="Arial Black" pitchFamily="34" charset="0"/>
                <a:ea typeface="Arial Black" pitchFamily="34" charset="-122"/>
                <a:cs typeface="Arial Black" pitchFamily="34" charset="-120"/>
              </a:rPr>
              <a:t>EN VEZ DE FALLAR?</a:t>
            </a:r>
            <a:endParaRPr lang="en-US" sz="2900" dirty="0"/>
          </a:p>
        </p:txBody>
      </p:sp>
      <p:sp>
        <p:nvSpPr>
          <p:cNvPr id="8" name="Shape 6"/>
          <p:cNvSpPr/>
          <p:nvPr/>
        </p:nvSpPr>
        <p:spPr>
          <a:xfrm>
            <a:off x="1307592" y="1182319"/>
            <a:ext cx="1709928" cy="32004"/>
          </a:xfrm>
          <a:prstGeom prst="rect">
            <a:avLst/>
          </a:prstGeom>
          <a:solidFill>
            <a:srgbClr val="00E5FF">
              <a:alpha val="70000"/>
            </a:srgbClr>
          </a:solidFill>
          <a:ln/>
        </p:spPr>
      </p:sp>
      <p:sp>
        <p:nvSpPr>
          <p:cNvPr id="9" name="Shape 7"/>
          <p:cNvSpPr/>
          <p:nvPr/>
        </p:nvSpPr>
        <p:spPr>
          <a:xfrm>
            <a:off x="4960620" y="1922983"/>
            <a:ext cx="2331720" cy="32004"/>
          </a:xfrm>
          <a:prstGeom prst="rect">
            <a:avLst/>
          </a:prstGeom>
          <a:solidFill>
            <a:srgbClr val="FF1A1A">
              <a:alpha val="80000"/>
            </a:srgbClr>
          </a:solidFill>
          <a:ln/>
        </p:spPr>
      </p:sp>
      <p:sp>
        <p:nvSpPr>
          <p:cNvPr id="10" name="Text 8"/>
          <p:cNvSpPr txBox="1"/>
          <p:nvPr/>
        </p:nvSpPr>
        <p:spPr>
          <a:xfrm>
            <a:off x="731520" y="2423160"/>
            <a:ext cx="6492240" cy="3749040"/>
          </a:xfrm>
          <a:prstGeom prst="rect">
            <a:avLst/>
          </a:prstGeom>
          <a:noFill/>
          <a:ln/>
        </p:spPr>
        <p:txBody>
          <a:bodyPr wrap="square" lIns="0" tIns="0" rIns="0" bIns="0" rtlCol="0" anchor="t"/>
          <a:lstStyle/>
          <a:p>
            <a:pPr marL="228600" indent="-228600">
              <a:spcAft>
                <a:spcPts val="1400"/>
              </a:spcAft>
              <a:buSzPct val="100000"/>
              <a:buChar char="■"/>
            </a:pPr>
            <a:r>
              <a:rPr lang="en-US" sz="1450" dirty="0">
                <a:solidFill>
                  <a:srgbClr val="FFFFFF"/>
                </a:solidFill>
                <a:latin typeface="Calibri" pitchFamily="34" charset="0"/>
                <a:ea typeface="Calibri" pitchFamily="34" charset="-122"/>
                <a:cs typeface="Calibri" pitchFamily="34" charset="-120"/>
              </a:rPr>
              <a:t>Primero actúa kswapd: limpia page cache y escribe páginas anónimas sucias a swap.</a:t>
            </a:r>
            <a:endParaRPr lang="en-US" sz="1450" dirty="0"/>
          </a:p>
          <a:p>
            <a:pPr marL="228600" indent="-228600">
              <a:spcAft>
                <a:spcPts val="1400"/>
              </a:spcAft>
              <a:buSzPct val="100000"/>
              <a:buChar char="■"/>
            </a:pPr>
            <a:r>
              <a:rPr lang="en-US" sz="1450" dirty="0">
                <a:solidFill>
                  <a:srgbClr val="FFFFFF"/>
                </a:solidFill>
                <a:latin typeface="Calibri" pitchFamily="34" charset="0"/>
                <a:ea typeface="Calibri" pitchFamily="34" charset="-122"/>
                <a:cs typeface="Calibri" pitchFamily="34" charset="-120"/>
              </a:rPr>
              <a:t>Solo si eso no basta, se invoca el OOM Killer — es el último recurso del kernel.</a:t>
            </a:r>
            <a:endParaRPr lang="en-US" sz="1450" dirty="0"/>
          </a:p>
          <a:p>
            <a:pPr marL="228600" indent="-228600">
              <a:spcAft>
                <a:spcPts val="1400"/>
              </a:spcAft>
              <a:buSzPct val="100000"/>
              <a:buChar char="■"/>
            </a:pPr>
            <a:r>
              <a:rPr lang="en-US" sz="1450" dirty="0">
                <a:solidFill>
                  <a:srgbClr val="FFFFFF"/>
                </a:solidFill>
                <a:latin typeface="Calibri" pitchFamily="34" charset="0"/>
                <a:ea typeface="Calibri" pitchFamily="34" charset="-122"/>
                <a:cs typeface="Calibri" pitchFamily="34" charset="-120"/>
              </a:rPr>
              <a:t>Bajo overcommit, la memoria ya fue prometida a otro proceso distinto al que la necesita ahora.</a:t>
            </a:r>
            <a:endParaRPr lang="en-US" sz="1450" dirty="0"/>
          </a:p>
          <a:p>
            <a:pPr marL="228600" indent="-228600">
              <a:spcAft>
                <a:spcPts val="1400"/>
              </a:spcAft>
              <a:buSzPct val="100000"/>
              <a:buChar char="■"/>
            </a:pPr>
            <a:r>
              <a:rPr lang="en-US" sz="1450" dirty="0">
                <a:solidFill>
                  <a:srgbClr val="FFFFFF"/>
                </a:solidFill>
                <a:latin typeface="Calibri" pitchFamily="34" charset="0"/>
                <a:ea typeface="Calibri" pitchFamily="34" charset="-122"/>
                <a:cs typeface="Calibri" pitchFamily="34" charset="-120"/>
              </a:rPr>
              <a:t>Gran parte del software en C nunca comprueba si malloc() devolvió NULL.</a:t>
            </a:r>
            <a:endParaRPr lang="en-US" sz="1450" dirty="0"/>
          </a:p>
          <a:p>
            <a:pPr marL="228600" indent="-228600">
              <a:spcAft>
                <a:spcPts val="1400"/>
              </a:spcAft>
              <a:buSzPct val="100000"/>
              <a:buChar char="■"/>
            </a:pPr>
            <a:r>
              <a:rPr lang="en-US" sz="1450" dirty="0">
                <a:solidFill>
                  <a:srgbClr val="FFFFFF"/>
                </a:solidFill>
                <a:latin typeface="Calibri" pitchFamily="34" charset="0"/>
                <a:ea typeface="Calibri" pitchFamily="34" charset="-122"/>
                <a:cs typeface="Calibri" pitchFamily="34" charset="-120"/>
              </a:rPr>
              <a:t>Terminar un proceso específico es más seguro que arriesgar corrupción de datos en todo el sistema.</a:t>
            </a:r>
            <a:endParaRPr lang="en-US" sz="1450" dirty="0"/>
          </a:p>
        </p:txBody>
      </p:sp>
      <p:sp>
        <p:nvSpPr>
          <p:cNvPr id="11" name="Shape 9"/>
          <p:cNvSpPr/>
          <p:nvPr/>
        </p:nvSpPr>
        <p:spPr>
          <a:xfrm>
            <a:off x="7589520" y="2423160"/>
            <a:ext cx="3886200" cy="3520440"/>
          </a:xfrm>
          <a:prstGeom prst="roundRect">
            <a:avLst>
              <a:gd name="adj" fmla="val 2078"/>
            </a:avLst>
          </a:prstGeom>
          <a:solidFill>
            <a:srgbClr val="0D0D0D"/>
          </a:solidFill>
          <a:ln w="12700">
            <a:solidFill>
              <a:srgbClr val="FF1A1A"/>
            </a:solidFill>
            <a:prstDash val="solid"/>
          </a:ln>
        </p:spPr>
      </p:sp>
      <p:sp>
        <p:nvSpPr>
          <p:cNvPr id="12" name="Text 10"/>
          <p:cNvSpPr txBox="1"/>
          <p:nvPr/>
        </p:nvSpPr>
        <p:spPr>
          <a:xfrm>
            <a:off x="7818120" y="2724912"/>
            <a:ext cx="3429000" cy="1188720"/>
          </a:xfrm>
          <a:prstGeom prst="rect">
            <a:avLst/>
          </a:prstGeom>
          <a:noFill/>
          <a:ln/>
        </p:spPr>
        <p:txBody>
          <a:bodyPr wrap="square" lIns="0" tIns="0" rIns="0" bIns="0" rtlCol="0" anchor="ctr"/>
          <a:lstStyle/>
          <a:p>
            <a:pPr algn="ctr" indent="0" marL="0">
              <a:lnSpc>
                <a:spcPct val="105000"/>
              </a:lnSpc>
              <a:buNone/>
            </a:pPr>
            <a:r>
              <a:rPr lang="en-US" sz="2800" b="1" dirty="0">
                <a:solidFill>
                  <a:srgbClr val="FF1A1A"/>
                </a:solidFill>
                <a:latin typeface="Arial Black" pitchFamily="34" charset="0"/>
                <a:ea typeface="Arial Black" pitchFamily="34" charset="-122"/>
                <a:cs typeface="Arial Black" pitchFamily="34" charset="-120"/>
              </a:rPr>
              <a:t>ÚLTIMO</a:t>
            </a:r>
            <a:endParaRPr lang="en-US" sz="2800" dirty="0"/>
          </a:p>
          <a:p>
            <a:pPr algn="ctr" indent="0" marL="0">
              <a:lnSpc>
                <a:spcPct val="105000"/>
              </a:lnSpc>
              <a:buNone/>
            </a:pPr>
            <a:r>
              <a:rPr lang="en-US" sz="2800" b="1" dirty="0">
                <a:solidFill>
                  <a:srgbClr val="FF1A1A"/>
                </a:solidFill>
                <a:latin typeface="Arial Black" pitchFamily="34" charset="0"/>
                <a:ea typeface="Arial Black" pitchFamily="34" charset="-122"/>
                <a:cs typeface="Arial Black" pitchFamily="34" charset="-120"/>
              </a:rPr>
              <a:t>RECURSO</a:t>
            </a:r>
            <a:endParaRPr lang="en-US" sz="2800" dirty="0"/>
          </a:p>
        </p:txBody>
      </p:sp>
      <p:sp>
        <p:nvSpPr>
          <p:cNvPr id="13" name="Text 11"/>
          <p:cNvSpPr txBox="1"/>
          <p:nvPr/>
        </p:nvSpPr>
        <p:spPr>
          <a:xfrm>
            <a:off x="7863840" y="3977640"/>
            <a:ext cx="3337560" cy="1737360"/>
          </a:xfrm>
          <a:prstGeom prst="rect">
            <a:avLst/>
          </a:prstGeom>
          <a:noFill/>
          <a:ln/>
        </p:spPr>
        <p:txBody>
          <a:bodyPr wrap="square" lIns="0" tIns="0" rIns="0" bIns="0" rtlCol="0" anchor="ctr"/>
          <a:lstStyle/>
          <a:p>
            <a:pPr algn="ctr" indent="0" marL="0">
              <a:buNone/>
            </a:pPr>
            <a:r>
              <a:rPr lang="en-US" sz="1250" dirty="0">
                <a:solidFill>
                  <a:srgbClr val="FFFFFF"/>
                </a:solidFill>
                <a:latin typeface="Calibri" pitchFamily="34" charset="0"/>
                <a:ea typeface="Calibri" pitchFamily="34" charset="-122"/>
                <a:cs typeface="Calibri" pitchFamily="34" charset="-120"/>
              </a:rPr>
              <a:t>El OOM Killer nunca es la primera respuesta del kernel — es la última, cuando ya no queda nada más que reclamar.</a:t>
            </a:r>
            <a:endParaRPr lang="en-US" sz="1250" dirty="0"/>
          </a:p>
        </p:txBody>
      </p:sp>
      <p:sp>
        <p:nvSpPr>
          <p:cNvPr id="14" name="Text 12"/>
          <p:cNvSpPr txBox="1"/>
          <p:nvPr/>
        </p:nvSpPr>
        <p:spPr>
          <a:xfrm>
            <a:off x="502920" y="6473952"/>
            <a:ext cx="5486400" cy="274320"/>
          </a:xfrm>
          <a:prstGeom prst="rect">
            <a:avLst/>
          </a:prstGeom>
          <a:noFill/>
          <a:ln/>
        </p:spPr>
        <p:txBody>
          <a:bodyPr wrap="square" lIns="0" tIns="0" rIns="0" bIns="0" rtlCol="0" anchor="ctr"/>
          <a:lstStyle/>
          <a:p>
            <a:pPr indent="0" marL="0">
              <a:buNone/>
            </a:pPr>
            <a:r>
              <a:rPr lang="en-US" sz="1000" dirty="0">
                <a:solidFill>
                  <a:srgbClr val="B8B8B8"/>
                </a:solidFill>
                <a:latin typeface="Arial" pitchFamily="34" charset="0"/>
                <a:ea typeface="Arial" pitchFamily="34" charset="-122"/>
                <a:cs typeface="Arial" pitchFamily="34" charset="-120"/>
              </a:rPr>
              <a:t>OOM KILLER  ·  UTP – FISC  ·  1IL143</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10881360" y="457200"/>
            <a:ext cx="1097280" cy="320040"/>
          </a:xfrm>
          <a:prstGeom prst="rect">
            <a:avLst/>
          </a:prstGeom>
          <a:noFill/>
          <a:ln/>
        </p:spPr>
        <p:txBody>
          <a:bodyPr wrap="square" lIns="0" tIns="0" rIns="0" bIns="0" rtlCol="0" anchor="ctr"/>
          <a:lstStyle/>
          <a:p>
            <a:pPr algn="r" indent="0" marL="0">
              <a:buNone/>
            </a:pPr>
            <a:r>
              <a:rPr lang="en-US" sz="1100" dirty="0">
                <a:solidFill>
                  <a:srgbClr val="B8B8B8"/>
                </a:solidFill>
                <a:latin typeface="Arial" pitchFamily="34" charset="0"/>
                <a:ea typeface="Arial" pitchFamily="34" charset="-122"/>
                <a:cs typeface="Arial" pitchFamily="34" charset="-120"/>
              </a:rPr>
              <a:t>10 / 17</a:t>
            </a:r>
            <a:endParaRPr lang="en-US" sz="1100" dirty="0"/>
          </a:p>
        </p:txBody>
      </p:sp>
      <p:sp>
        <p:nvSpPr>
          <p:cNvPr id="3" name="Shape 1"/>
          <p:cNvSpPr/>
          <p:nvPr/>
        </p:nvSpPr>
        <p:spPr>
          <a:xfrm>
            <a:off x="731520" y="457200"/>
            <a:ext cx="1417320" cy="365760"/>
          </a:xfrm>
          <a:prstGeom prst="roundRect">
            <a:avLst>
              <a:gd name="adj" fmla="val 50000"/>
            </a:avLst>
          </a:prstGeom>
          <a:solidFill>
            <a:srgbClr val="FF1A1A"/>
          </a:solidFill>
          <a:ln/>
        </p:spPr>
      </p:sp>
      <p:sp>
        <p:nvSpPr>
          <p:cNvPr id="4" name="Text 2"/>
          <p:cNvSpPr txBox="1"/>
          <p:nvPr/>
        </p:nvSpPr>
        <p:spPr>
          <a:xfrm>
            <a:off x="731520" y="457200"/>
            <a:ext cx="1417320" cy="36576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PREGUNTA 5</a:t>
            </a:r>
            <a:endParaRPr lang="en-US" sz="1200" dirty="0"/>
          </a:p>
        </p:txBody>
      </p:sp>
      <p:sp>
        <p:nvSpPr>
          <p:cNvPr id="5" name="Text 3"/>
          <p:cNvSpPr txBox="1"/>
          <p:nvPr/>
        </p:nvSpPr>
        <p:spPr>
          <a:xfrm>
            <a:off x="644652" y="896112"/>
            <a:ext cx="10515600" cy="685800"/>
          </a:xfrm>
          <a:prstGeom prst="rect">
            <a:avLst/>
          </a:prstGeom>
          <a:noFill/>
          <a:ln/>
        </p:spPr>
        <p:txBody>
          <a:bodyPr wrap="square" lIns="0" tIns="0" rIns="0" bIns="0" rtlCol="0" anchor="ctr"/>
          <a:lstStyle/>
          <a:p>
            <a:pPr algn="l" indent="0" marL="0">
              <a:buNone/>
            </a:pPr>
            <a:r>
              <a:rPr lang="en-US" sz="2700" b="1" dirty="0">
                <a:solidFill>
                  <a:srgbClr val="00E5FF">
                    <a:alpha val="45000"/>
                  </a:srgbClr>
                </a:solidFill>
                <a:latin typeface="Arial Black" pitchFamily="34" charset="0"/>
                <a:ea typeface="Arial Black" pitchFamily="34" charset="-122"/>
                <a:cs typeface="Arial Black" pitchFamily="34" charset="-120"/>
              </a:rPr>
              <a:t>CÓMO ELIGE: oom_badness()</a:t>
            </a:r>
            <a:endParaRPr lang="en-US" sz="2700" dirty="0"/>
          </a:p>
        </p:txBody>
      </p:sp>
      <p:sp>
        <p:nvSpPr>
          <p:cNvPr id="6" name="Text 4"/>
          <p:cNvSpPr txBox="1"/>
          <p:nvPr/>
        </p:nvSpPr>
        <p:spPr>
          <a:xfrm>
            <a:off x="726948" y="937260"/>
            <a:ext cx="10515600" cy="685800"/>
          </a:xfrm>
          <a:prstGeom prst="rect">
            <a:avLst/>
          </a:prstGeom>
          <a:noFill/>
          <a:ln/>
        </p:spPr>
        <p:txBody>
          <a:bodyPr wrap="square" lIns="0" tIns="0" rIns="0" bIns="0" rtlCol="0" anchor="ctr"/>
          <a:lstStyle/>
          <a:p>
            <a:pPr algn="l" indent="0" marL="0">
              <a:buNone/>
            </a:pPr>
            <a:r>
              <a:rPr lang="en-US" sz="2700" b="1" dirty="0">
                <a:solidFill>
                  <a:srgbClr val="8A0000">
                    <a:alpha val="65000"/>
                  </a:srgbClr>
                </a:solidFill>
                <a:latin typeface="Arial Black" pitchFamily="34" charset="0"/>
                <a:ea typeface="Arial Black" pitchFamily="34" charset="-122"/>
                <a:cs typeface="Arial Black" pitchFamily="34" charset="-120"/>
              </a:rPr>
              <a:t>CÓMO ELIGE: oom_badness()</a:t>
            </a:r>
            <a:endParaRPr lang="en-US" sz="2700" dirty="0"/>
          </a:p>
        </p:txBody>
      </p:sp>
      <p:sp>
        <p:nvSpPr>
          <p:cNvPr id="7" name="Text 5"/>
          <p:cNvSpPr txBox="1"/>
          <p:nvPr/>
        </p:nvSpPr>
        <p:spPr>
          <a:xfrm>
            <a:off x="685800" y="914400"/>
            <a:ext cx="10515600" cy="685800"/>
          </a:xfrm>
          <a:prstGeom prst="rect">
            <a:avLst/>
          </a:prstGeom>
          <a:noFill/>
          <a:ln/>
        </p:spPr>
        <p:txBody>
          <a:bodyPr wrap="square" lIns="0" tIns="0" rIns="0" bIns="0" rtlCol="0" anchor="ctr"/>
          <a:lstStyle/>
          <a:p>
            <a:pPr algn="l" indent="0" marL="0">
              <a:buNone/>
            </a:pPr>
            <a:r>
              <a:rPr lang="en-US" sz="2700" b="1" dirty="0">
                <a:solidFill>
                  <a:srgbClr val="FF1A1A"/>
                </a:solidFill>
                <a:latin typeface="Arial Black" pitchFamily="34" charset="0"/>
                <a:ea typeface="Arial Black" pitchFamily="34" charset="-122"/>
                <a:cs typeface="Arial Black" pitchFamily="34" charset="-120"/>
              </a:rPr>
              <a:t>CÓMO ELIGE: oom_badness()</a:t>
            </a:r>
            <a:endParaRPr lang="en-US" sz="2700" dirty="0"/>
          </a:p>
        </p:txBody>
      </p:sp>
      <p:sp>
        <p:nvSpPr>
          <p:cNvPr id="8" name="Shape 6"/>
          <p:cNvSpPr/>
          <p:nvPr/>
        </p:nvSpPr>
        <p:spPr>
          <a:xfrm>
            <a:off x="1527048" y="1037844"/>
            <a:ext cx="2313432" cy="32004"/>
          </a:xfrm>
          <a:prstGeom prst="rect">
            <a:avLst/>
          </a:prstGeom>
          <a:solidFill>
            <a:srgbClr val="00E5FF">
              <a:alpha val="70000"/>
            </a:srgbClr>
          </a:solidFill>
          <a:ln/>
        </p:spPr>
      </p:sp>
      <p:sp>
        <p:nvSpPr>
          <p:cNvPr id="9" name="Shape 7"/>
          <p:cNvSpPr/>
          <p:nvPr/>
        </p:nvSpPr>
        <p:spPr>
          <a:xfrm>
            <a:off x="6469380" y="1449324"/>
            <a:ext cx="3154680" cy="32004"/>
          </a:xfrm>
          <a:prstGeom prst="rect">
            <a:avLst/>
          </a:prstGeom>
          <a:solidFill>
            <a:srgbClr val="FF1A1A">
              <a:alpha val="80000"/>
            </a:srgbClr>
          </a:solidFill>
          <a:ln/>
        </p:spPr>
      </p:sp>
      <p:sp>
        <p:nvSpPr>
          <p:cNvPr id="10" name="Text 8"/>
          <p:cNvSpPr txBox="1"/>
          <p:nvPr/>
        </p:nvSpPr>
        <p:spPr>
          <a:xfrm>
            <a:off x="731520" y="1572768"/>
            <a:ext cx="5486400" cy="292608"/>
          </a:xfrm>
          <a:prstGeom prst="rect">
            <a:avLst/>
          </a:prstGeom>
          <a:noFill/>
          <a:ln/>
        </p:spPr>
        <p:txBody>
          <a:bodyPr wrap="square" lIns="0" tIns="0" rIns="0" bIns="0" rtlCol="0" anchor="ctr"/>
          <a:lstStyle/>
          <a:p>
            <a:pPr indent="0" marL="0">
              <a:buNone/>
            </a:pPr>
            <a:r>
              <a:rPr lang="en-US" sz="1200" dirty="0">
                <a:solidFill>
                  <a:srgbClr val="B8B8B8"/>
                </a:solidFill>
                <a:latin typeface="Courier New" pitchFamily="34" charset="0"/>
                <a:ea typeface="Courier New" pitchFamily="34" charset="-122"/>
                <a:cs typeface="Courier New" pitchFamily="34" charset="-120"/>
              </a:rPr>
              <a:t>mm/oom_kill.c  ·  kernel de Linux</a:t>
            </a:r>
            <a:endParaRPr lang="en-US" sz="1200" dirty="0"/>
          </a:p>
        </p:txBody>
      </p:sp>
      <p:sp>
        <p:nvSpPr>
          <p:cNvPr id="11" name="Shape 9"/>
          <p:cNvSpPr/>
          <p:nvPr/>
        </p:nvSpPr>
        <p:spPr>
          <a:xfrm>
            <a:off x="594360" y="1828800"/>
            <a:ext cx="11018520" cy="2971800"/>
          </a:xfrm>
          <a:prstGeom prst="roundRect">
            <a:avLst>
              <a:gd name="adj" fmla="val 2462"/>
            </a:avLst>
          </a:prstGeom>
          <a:solidFill>
            <a:srgbClr val="FFFFFF"/>
          </a:solidFill>
          <a:ln w="15875">
            <a:solidFill>
              <a:srgbClr val="FF1A1A"/>
            </a:solidFill>
            <a:prstDash val="solid"/>
          </a:ln>
          <a:effectLst>
            <a:outerShdw sx="100000" sy="100000" kx="0" ky="0" algn="bl" rotWithShape="0" blurRad="101600" dist="38100" dir="5400000">
              <a:srgbClr val="000000">
                <a:alpha val="50000"/>
              </a:srgbClr>
            </a:outerShdw>
          </a:effectLst>
        </p:spPr>
      </p:sp>
      <p:pic>
        <p:nvPicPr>
          <p:cNvPr id="12" name="Image 0" descr="/home/claude/oom/diagrams/d2_crop.png">    </p:cNvPr>
          <p:cNvPicPr>
            <a:picLocks noChangeAspect="1"/>
          </p:cNvPicPr>
          <p:nvPr/>
        </p:nvPicPr>
        <p:blipFill>
          <a:blip r:embed="rId1"/>
          <a:stretch>
            <a:fillRect/>
          </a:stretch>
        </p:blipFill>
        <p:spPr>
          <a:xfrm>
            <a:off x="731520" y="2016287"/>
            <a:ext cx="10744200" cy="2596827"/>
          </a:xfrm>
          <a:prstGeom prst="rect">
            <a:avLst/>
          </a:prstGeom>
        </p:spPr>
      </p:pic>
      <p:sp>
        <p:nvSpPr>
          <p:cNvPr id="13" name="Text 10"/>
          <p:cNvSpPr txBox="1"/>
          <p:nvPr/>
        </p:nvSpPr>
        <p:spPr>
          <a:xfrm>
            <a:off x="731520" y="4892040"/>
            <a:ext cx="10698480" cy="1554480"/>
          </a:xfrm>
          <a:prstGeom prst="rect">
            <a:avLst/>
          </a:prstGeom>
          <a:noFill/>
          <a:ln/>
        </p:spPr>
        <p:txBody>
          <a:bodyPr wrap="square" lIns="0" tIns="0" rIns="0" bIns="0" rtlCol="0" anchor="t"/>
          <a:lstStyle/>
          <a:p>
            <a:pPr marL="228600" indent="-228600">
              <a:spcAft>
                <a:spcPts val="1400"/>
              </a:spcAft>
              <a:buSzPct val="100000"/>
              <a:buChar char="■"/>
            </a:pPr>
            <a:r>
              <a:rPr lang="en-US" sz="1300" dirty="0">
                <a:solidFill>
                  <a:srgbClr val="FFFFFF"/>
                </a:solidFill>
                <a:latin typeface="Calibri" pitchFamily="34" charset="0"/>
                <a:ea typeface="Calibri" pitchFamily="34" charset="-122"/>
                <a:cs typeface="Calibri" pitchFamily="34" charset="-120"/>
              </a:rPr>
              <a:t>Cada proceso candidato recibe un puntaje de 0 (nunca matar) a 1000 (candidato seguro).</a:t>
            </a:r>
            <a:endParaRPr lang="en-US" sz="1300" dirty="0"/>
          </a:p>
          <a:p>
            <a:pPr marL="228600" indent="-228600">
              <a:spcAft>
                <a:spcPts val="1400"/>
              </a:spcAft>
              <a:buSzPct val="100000"/>
              <a:buChar char="■"/>
            </a:pPr>
            <a:r>
              <a:rPr lang="en-US" sz="1300" dirty="0">
                <a:solidFill>
                  <a:srgbClr val="FFFFFF"/>
                </a:solidFill>
                <a:latin typeface="Calibri" pitchFamily="34" charset="0"/>
                <a:ea typeface="Calibri" pitchFamily="34" charset="-122"/>
                <a:cs typeface="Calibri" pitchFamily="34" charset="-120"/>
              </a:rPr>
              <a:t>points = páginas RSS + páginas en swap + páginas de tablas de páginas.</a:t>
            </a:r>
            <a:endParaRPr lang="en-US" sz="1300" dirty="0"/>
          </a:p>
          <a:p>
            <a:pPr marL="228600" indent="-228600">
              <a:spcAft>
                <a:spcPts val="1400"/>
              </a:spcAft>
              <a:buSzPct val="100000"/>
              <a:buChar char="■"/>
            </a:pPr>
            <a:r>
              <a:rPr lang="en-US" sz="1300" dirty="0">
                <a:solidFill>
                  <a:srgbClr val="FFFFFF"/>
                </a:solidFill>
                <a:latin typeface="Calibri" pitchFamily="34" charset="0"/>
                <a:ea typeface="Calibri" pitchFamily="34" charset="-122"/>
                <a:cs typeface="Calibri" pitchFamily="34" charset="-120"/>
              </a:rPr>
              <a:t>Se suma un ajuste basado en oom_score_adj × RAM total del sistema.</a:t>
            </a:r>
            <a:endParaRPr lang="en-US" sz="1300" dirty="0"/>
          </a:p>
          <a:p>
            <a:pPr marL="228600" indent="-228600">
              <a:spcAft>
                <a:spcPts val="1400"/>
              </a:spcAft>
              <a:buSzPct val="100000"/>
              <a:buChar char="■"/>
            </a:pPr>
            <a:r>
              <a:rPr lang="en-US" sz="1300" dirty="0">
                <a:solidFill>
                  <a:srgbClr val="FFFFFF"/>
                </a:solidFill>
                <a:latin typeface="Calibri" pitchFamily="34" charset="0"/>
                <a:ea typeface="Calibri" pitchFamily="34" charset="-122"/>
                <a:cs typeface="Calibri" pitchFamily="34" charset="-120"/>
              </a:rPr>
              <a:t>El resultado se consulta en vivo en /proc/&lt;pid&gt;/oom_score.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10881360" y="457200"/>
            <a:ext cx="1097280" cy="320040"/>
          </a:xfrm>
          <a:prstGeom prst="rect">
            <a:avLst/>
          </a:prstGeom>
          <a:noFill/>
          <a:ln/>
        </p:spPr>
        <p:txBody>
          <a:bodyPr wrap="square" lIns="0" tIns="0" rIns="0" bIns="0" rtlCol="0" anchor="ctr"/>
          <a:lstStyle/>
          <a:p>
            <a:pPr algn="r" indent="0" marL="0">
              <a:buNone/>
            </a:pPr>
            <a:r>
              <a:rPr lang="en-US" sz="1100" dirty="0">
                <a:solidFill>
                  <a:srgbClr val="B8B8B8"/>
                </a:solidFill>
                <a:latin typeface="Arial" pitchFamily="34" charset="0"/>
                <a:ea typeface="Arial" pitchFamily="34" charset="-122"/>
                <a:cs typeface="Arial" pitchFamily="34" charset="-120"/>
              </a:rPr>
              <a:t>11 / 17</a:t>
            </a:r>
            <a:endParaRPr lang="en-US" sz="1100" dirty="0"/>
          </a:p>
        </p:txBody>
      </p:sp>
      <p:sp>
        <p:nvSpPr>
          <p:cNvPr id="3" name="Shape 1"/>
          <p:cNvSpPr/>
          <p:nvPr/>
        </p:nvSpPr>
        <p:spPr>
          <a:xfrm>
            <a:off x="731520" y="457200"/>
            <a:ext cx="1417320" cy="365760"/>
          </a:xfrm>
          <a:prstGeom prst="roundRect">
            <a:avLst>
              <a:gd name="adj" fmla="val 50000"/>
            </a:avLst>
          </a:prstGeom>
          <a:solidFill>
            <a:srgbClr val="FF1A1A"/>
          </a:solidFill>
          <a:ln/>
        </p:spPr>
      </p:sp>
      <p:sp>
        <p:nvSpPr>
          <p:cNvPr id="4" name="Text 2"/>
          <p:cNvSpPr txBox="1"/>
          <p:nvPr/>
        </p:nvSpPr>
        <p:spPr>
          <a:xfrm>
            <a:off x="731520" y="457200"/>
            <a:ext cx="1417320" cy="36576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PREGUNTA 5</a:t>
            </a:r>
            <a:endParaRPr lang="en-US" sz="1200" dirty="0"/>
          </a:p>
        </p:txBody>
      </p:sp>
      <p:sp>
        <p:nvSpPr>
          <p:cNvPr id="5" name="Text 3"/>
          <p:cNvSpPr txBox="1"/>
          <p:nvPr/>
        </p:nvSpPr>
        <p:spPr>
          <a:xfrm>
            <a:off x="644652" y="941832"/>
            <a:ext cx="7772400" cy="1234440"/>
          </a:xfrm>
          <a:prstGeom prst="rect">
            <a:avLst/>
          </a:prstGeom>
          <a:noFill/>
          <a:ln/>
        </p:spPr>
        <p:txBody>
          <a:bodyPr wrap="square" lIns="0" tIns="0" rIns="0" bIns="0" rtlCol="0" anchor="ctr"/>
          <a:lstStyle/>
          <a:p>
            <a:pPr algn="l" indent="0" marL="0">
              <a:buNone/>
            </a:pPr>
            <a:r>
              <a:rPr lang="en-US" sz="2900" b="1" dirty="0">
                <a:solidFill>
                  <a:srgbClr val="00E5FF">
                    <a:alpha val="45000"/>
                  </a:srgbClr>
                </a:solidFill>
                <a:latin typeface="Arial Black" pitchFamily="34" charset="0"/>
                <a:ea typeface="Arial Black" pitchFamily="34" charset="-122"/>
                <a:cs typeface="Arial Black" pitchFamily="34" charset="-120"/>
              </a:rPr>
              <a:t>AJUSTANDO QUIÉN</a:t>
            </a:r>
            <a:endParaRPr lang="en-US" sz="2900" dirty="0"/>
          </a:p>
          <a:p>
            <a:pPr algn="l" indent="0" marL="0">
              <a:buNone/>
            </a:pPr>
            <a:r>
              <a:rPr lang="en-US" sz="2900" b="1" dirty="0">
                <a:solidFill>
                  <a:srgbClr val="00E5FF">
                    <a:alpha val="45000"/>
                  </a:srgbClr>
                </a:solidFill>
                <a:latin typeface="Arial Black" pitchFamily="34" charset="0"/>
                <a:ea typeface="Arial Black" pitchFamily="34" charset="-122"/>
                <a:cs typeface="Arial Black" pitchFamily="34" charset="-120"/>
              </a:rPr>
              <a:t>SOBREVIVE</a:t>
            </a:r>
            <a:endParaRPr lang="en-US" sz="2900" dirty="0"/>
          </a:p>
        </p:txBody>
      </p:sp>
      <p:sp>
        <p:nvSpPr>
          <p:cNvPr id="6" name="Text 4"/>
          <p:cNvSpPr txBox="1"/>
          <p:nvPr/>
        </p:nvSpPr>
        <p:spPr>
          <a:xfrm>
            <a:off x="726948" y="982980"/>
            <a:ext cx="7772400" cy="1234440"/>
          </a:xfrm>
          <a:prstGeom prst="rect">
            <a:avLst/>
          </a:prstGeom>
          <a:noFill/>
          <a:ln/>
        </p:spPr>
        <p:txBody>
          <a:bodyPr wrap="square" lIns="0" tIns="0" rIns="0" bIns="0" rtlCol="0" anchor="ctr"/>
          <a:lstStyle/>
          <a:p>
            <a:pPr algn="l" indent="0" marL="0">
              <a:buNone/>
            </a:pPr>
            <a:r>
              <a:rPr lang="en-US" sz="2900" b="1" dirty="0">
                <a:solidFill>
                  <a:srgbClr val="8A0000">
                    <a:alpha val="65000"/>
                  </a:srgbClr>
                </a:solidFill>
                <a:latin typeface="Arial Black" pitchFamily="34" charset="0"/>
                <a:ea typeface="Arial Black" pitchFamily="34" charset="-122"/>
                <a:cs typeface="Arial Black" pitchFamily="34" charset="-120"/>
              </a:rPr>
              <a:t>AJUSTANDO QUIÉN</a:t>
            </a:r>
            <a:endParaRPr lang="en-US" sz="2900" dirty="0"/>
          </a:p>
          <a:p>
            <a:pPr algn="l" indent="0" marL="0">
              <a:buNone/>
            </a:pPr>
            <a:r>
              <a:rPr lang="en-US" sz="2900" b="1" dirty="0">
                <a:solidFill>
                  <a:srgbClr val="8A0000">
                    <a:alpha val="65000"/>
                  </a:srgbClr>
                </a:solidFill>
                <a:latin typeface="Arial Black" pitchFamily="34" charset="0"/>
                <a:ea typeface="Arial Black" pitchFamily="34" charset="-122"/>
                <a:cs typeface="Arial Black" pitchFamily="34" charset="-120"/>
              </a:rPr>
              <a:t>SOBREVIVE</a:t>
            </a:r>
            <a:endParaRPr lang="en-US" sz="2900" dirty="0"/>
          </a:p>
        </p:txBody>
      </p:sp>
      <p:sp>
        <p:nvSpPr>
          <p:cNvPr id="7" name="Text 5"/>
          <p:cNvSpPr txBox="1"/>
          <p:nvPr/>
        </p:nvSpPr>
        <p:spPr>
          <a:xfrm>
            <a:off x="685800" y="960120"/>
            <a:ext cx="7772400" cy="1234440"/>
          </a:xfrm>
          <a:prstGeom prst="rect">
            <a:avLst/>
          </a:prstGeom>
          <a:noFill/>
          <a:ln/>
        </p:spPr>
        <p:txBody>
          <a:bodyPr wrap="square" lIns="0" tIns="0" rIns="0" bIns="0" rtlCol="0" anchor="ctr"/>
          <a:lstStyle/>
          <a:p>
            <a:pPr algn="l" indent="0" marL="0">
              <a:buNone/>
            </a:pPr>
            <a:r>
              <a:rPr lang="en-US" sz="2900" b="1" dirty="0">
                <a:solidFill>
                  <a:srgbClr val="FF1A1A"/>
                </a:solidFill>
                <a:latin typeface="Arial Black" pitchFamily="34" charset="0"/>
                <a:ea typeface="Arial Black" pitchFamily="34" charset="-122"/>
                <a:cs typeface="Arial Black" pitchFamily="34" charset="-120"/>
              </a:rPr>
              <a:t>AJUSTANDO QUIÉN</a:t>
            </a:r>
            <a:endParaRPr lang="en-US" sz="2900" dirty="0"/>
          </a:p>
          <a:p>
            <a:pPr algn="l" indent="0" marL="0">
              <a:buNone/>
            </a:pPr>
            <a:r>
              <a:rPr lang="en-US" sz="2900" b="1" dirty="0">
                <a:solidFill>
                  <a:srgbClr val="FF1A1A"/>
                </a:solidFill>
                <a:latin typeface="Arial Black" pitchFamily="34" charset="0"/>
                <a:ea typeface="Arial Black" pitchFamily="34" charset="-122"/>
                <a:cs typeface="Arial Black" pitchFamily="34" charset="-120"/>
              </a:rPr>
              <a:t>SOBREVIVE</a:t>
            </a:r>
            <a:endParaRPr lang="en-US" sz="2900" dirty="0"/>
          </a:p>
        </p:txBody>
      </p:sp>
      <p:sp>
        <p:nvSpPr>
          <p:cNvPr id="8" name="Shape 6"/>
          <p:cNvSpPr/>
          <p:nvPr/>
        </p:nvSpPr>
        <p:spPr>
          <a:xfrm>
            <a:off x="1307592" y="1182319"/>
            <a:ext cx="1709928" cy="32004"/>
          </a:xfrm>
          <a:prstGeom prst="rect">
            <a:avLst/>
          </a:prstGeom>
          <a:solidFill>
            <a:srgbClr val="00E5FF">
              <a:alpha val="70000"/>
            </a:srgbClr>
          </a:solidFill>
          <a:ln/>
        </p:spPr>
      </p:sp>
      <p:sp>
        <p:nvSpPr>
          <p:cNvPr id="9" name="Shape 7"/>
          <p:cNvSpPr/>
          <p:nvPr/>
        </p:nvSpPr>
        <p:spPr>
          <a:xfrm>
            <a:off x="4960620" y="1922983"/>
            <a:ext cx="2331720" cy="32004"/>
          </a:xfrm>
          <a:prstGeom prst="rect">
            <a:avLst/>
          </a:prstGeom>
          <a:solidFill>
            <a:srgbClr val="FF1A1A">
              <a:alpha val="80000"/>
            </a:srgbClr>
          </a:solidFill>
          <a:ln/>
        </p:spPr>
      </p:sp>
      <p:sp>
        <p:nvSpPr>
          <p:cNvPr id="10" name="Shape 8"/>
          <p:cNvSpPr/>
          <p:nvPr/>
        </p:nvSpPr>
        <p:spPr>
          <a:xfrm>
            <a:off x="731520" y="2468880"/>
            <a:ext cx="1082040" cy="384048"/>
          </a:xfrm>
          <a:prstGeom prst="rect">
            <a:avLst/>
          </a:prstGeom>
          <a:solidFill>
            <a:srgbClr val="2ECC71"/>
          </a:solidFill>
          <a:ln/>
        </p:spPr>
      </p:sp>
      <p:sp>
        <p:nvSpPr>
          <p:cNvPr id="11" name="Shape 9"/>
          <p:cNvSpPr/>
          <p:nvPr/>
        </p:nvSpPr>
        <p:spPr>
          <a:xfrm>
            <a:off x="1813560" y="2468880"/>
            <a:ext cx="1082040" cy="384048"/>
          </a:xfrm>
          <a:prstGeom prst="rect">
            <a:avLst/>
          </a:prstGeom>
          <a:solidFill>
            <a:srgbClr val="5CB85C"/>
          </a:solidFill>
          <a:ln/>
        </p:spPr>
      </p:sp>
      <p:sp>
        <p:nvSpPr>
          <p:cNvPr id="12" name="Shape 10"/>
          <p:cNvSpPr/>
          <p:nvPr/>
        </p:nvSpPr>
        <p:spPr>
          <a:xfrm>
            <a:off x="2895600" y="2468880"/>
            <a:ext cx="1082040" cy="384048"/>
          </a:xfrm>
          <a:prstGeom prst="rect">
            <a:avLst/>
          </a:prstGeom>
          <a:solidFill>
            <a:srgbClr val="8A9A5B"/>
          </a:solidFill>
          <a:ln/>
        </p:spPr>
      </p:sp>
      <p:sp>
        <p:nvSpPr>
          <p:cNvPr id="13" name="Shape 11"/>
          <p:cNvSpPr/>
          <p:nvPr/>
        </p:nvSpPr>
        <p:spPr>
          <a:xfrm>
            <a:off x="3977640" y="2468880"/>
            <a:ext cx="1082040" cy="384048"/>
          </a:xfrm>
          <a:prstGeom prst="rect">
            <a:avLst/>
          </a:prstGeom>
          <a:solidFill>
            <a:srgbClr val="B8860B"/>
          </a:solidFill>
          <a:ln/>
        </p:spPr>
      </p:sp>
      <p:sp>
        <p:nvSpPr>
          <p:cNvPr id="14" name="Shape 12"/>
          <p:cNvSpPr/>
          <p:nvPr/>
        </p:nvSpPr>
        <p:spPr>
          <a:xfrm>
            <a:off x="5059680" y="2468880"/>
            <a:ext cx="1082040" cy="384048"/>
          </a:xfrm>
          <a:prstGeom prst="rect">
            <a:avLst/>
          </a:prstGeom>
          <a:solidFill>
            <a:srgbClr val="D9534F"/>
          </a:solidFill>
          <a:ln/>
        </p:spPr>
      </p:sp>
      <p:sp>
        <p:nvSpPr>
          <p:cNvPr id="15" name="Shape 13"/>
          <p:cNvSpPr/>
          <p:nvPr/>
        </p:nvSpPr>
        <p:spPr>
          <a:xfrm>
            <a:off x="6141720" y="2468880"/>
            <a:ext cx="1082040" cy="384048"/>
          </a:xfrm>
          <a:prstGeom prst="rect">
            <a:avLst/>
          </a:prstGeom>
          <a:solidFill>
            <a:srgbClr val="FF1A1A"/>
          </a:solidFill>
          <a:ln/>
        </p:spPr>
      </p:sp>
      <p:sp>
        <p:nvSpPr>
          <p:cNvPr id="16" name="Shape 14"/>
          <p:cNvSpPr/>
          <p:nvPr/>
        </p:nvSpPr>
        <p:spPr>
          <a:xfrm>
            <a:off x="630936" y="2386584"/>
            <a:ext cx="548640" cy="548640"/>
          </a:xfrm>
          <a:prstGeom prst="ellipse">
            <a:avLst/>
          </a:prstGeom>
          <a:solidFill>
            <a:srgbClr val="000000"/>
          </a:solidFill>
          <a:ln w="25400">
            <a:solidFill>
              <a:srgbClr val="2ECC71"/>
            </a:solidFill>
            <a:prstDash val="solid"/>
          </a:ln>
        </p:spPr>
      </p:sp>
      <p:sp>
        <p:nvSpPr>
          <p:cNvPr id="17" name="Shape 15"/>
          <p:cNvSpPr/>
          <p:nvPr/>
        </p:nvSpPr>
        <p:spPr>
          <a:xfrm>
            <a:off x="6775704" y="2386584"/>
            <a:ext cx="548640" cy="548640"/>
          </a:xfrm>
          <a:prstGeom prst="ellipse">
            <a:avLst/>
          </a:prstGeom>
          <a:solidFill>
            <a:srgbClr val="000000"/>
          </a:solidFill>
          <a:ln w="25400">
            <a:solidFill>
              <a:srgbClr val="FF1A1A"/>
            </a:solidFill>
            <a:prstDash val="solid"/>
          </a:ln>
        </p:spPr>
      </p:sp>
      <p:sp>
        <p:nvSpPr>
          <p:cNvPr id="18" name="Text 16"/>
          <p:cNvSpPr txBox="1"/>
          <p:nvPr/>
        </p:nvSpPr>
        <p:spPr>
          <a:xfrm>
            <a:off x="502920" y="2971800"/>
            <a:ext cx="2103120" cy="274320"/>
          </a:xfrm>
          <a:prstGeom prst="rect">
            <a:avLst/>
          </a:prstGeom>
          <a:noFill/>
          <a:ln/>
        </p:spPr>
        <p:txBody>
          <a:bodyPr wrap="square" lIns="0" tIns="0" rIns="0" bIns="0" rtlCol="0" anchor="ctr"/>
          <a:lstStyle/>
          <a:p>
            <a:pPr indent="0" marL="0">
              <a:buNone/>
            </a:pPr>
            <a:r>
              <a:rPr lang="en-US" sz="1100" b="1" dirty="0">
                <a:solidFill>
                  <a:srgbClr val="2ECC71"/>
                </a:solidFill>
                <a:latin typeface="Calibri" pitchFamily="34" charset="0"/>
                <a:ea typeface="Calibri" pitchFamily="34" charset="-122"/>
                <a:cs typeface="Calibri" pitchFamily="34" charset="-120"/>
              </a:rPr>
              <a:t>-1000  ·  INMUNE</a:t>
            </a:r>
            <a:endParaRPr lang="en-US" sz="1100" dirty="0"/>
          </a:p>
        </p:txBody>
      </p:sp>
      <p:sp>
        <p:nvSpPr>
          <p:cNvPr id="19" name="Text 17"/>
          <p:cNvSpPr txBox="1"/>
          <p:nvPr/>
        </p:nvSpPr>
        <p:spPr>
          <a:xfrm>
            <a:off x="4846320" y="2971800"/>
            <a:ext cx="2377440" cy="274320"/>
          </a:xfrm>
          <a:prstGeom prst="rect">
            <a:avLst/>
          </a:prstGeom>
          <a:noFill/>
          <a:ln/>
        </p:spPr>
        <p:txBody>
          <a:bodyPr wrap="square" lIns="0" tIns="0" rIns="0" bIns="0" rtlCol="0" anchor="ctr"/>
          <a:lstStyle/>
          <a:p>
            <a:pPr algn="r" indent="0" marL="0">
              <a:buNone/>
            </a:pPr>
            <a:r>
              <a:rPr lang="en-US" sz="1000" b="1" dirty="0">
                <a:solidFill>
                  <a:srgbClr val="FF1A1A"/>
                </a:solidFill>
                <a:latin typeface="Calibri" pitchFamily="34" charset="0"/>
                <a:ea typeface="Calibri" pitchFamily="34" charset="-122"/>
                <a:cs typeface="Calibri" pitchFamily="34" charset="-120"/>
              </a:rPr>
              <a:t>+1000 · PRIMER OBJETIVO</a:t>
            </a:r>
            <a:endParaRPr lang="en-US" sz="1000" dirty="0"/>
          </a:p>
        </p:txBody>
      </p:sp>
      <p:sp>
        <p:nvSpPr>
          <p:cNvPr id="20" name="Text 18"/>
          <p:cNvSpPr txBox="1"/>
          <p:nvPr/>
        </p:nvSpPr>
        <p:spPr>
          <a:xfrm>
            <a:off x="731520" y="3611880"/>
            <a:ext cx="6492240" cy="2286000"/>
          </a:xfrm>
          <a:prstGeom prst="rect">
            <a:avLst/>
          </a:prstGeom>
          <a:noFill/>
          <a:ln/>
        </p:spPr>
        <p:txBody>
          <a:bodyPr wrap="square" lIns="0" tIns="0" rIns="0" bIns="0" rtlCol="0" anchor="t"/>
          <a:lstStyle/>
          <a:p>
            <a:pPr marL="228600" indent="-228600">
              <a:spcAft>
                <a:spcPts val="1400"/>
              </a:spcAft>
              <a:buSzPct val="100000"/>
              <a:buChar char="■"/>
            </a:pPr>
            <a:r>
              <a:rPr lang="en-US" sz="1400" dirty="0">
                <a:solidFill>
                  <a:srgbClr val="FFFFFF"/>
                </a:solidFill>
                <a:latin typeface="Calibri" pitchFamily="34" charset="0"/>
                <a:ea typeface="Calibri" pitchFamily="34" charset="-122"/>
                <a:cs typeface="Calibri" pitchFamily="34" charset="-120"/>
              </a:rPr>
              <a:t>/proc/&lt;pid&gt;/oom_score_adj acepta valores de -1000 a +1000.</a:t>
            </a:r>
            <a:endParaRPr lang="en-US" sz="1400" dirty="0"/>
          </a:p>
          <a:p>
            <a:pPr marL="228600" indent="-228600">
              <a:spcAft>
                <a:spcPts val="1400"/>
              </a:spcAft>
              <a:buSzPct val="100000"/>
              <a:buChar char="■"/>
            </a:pPr>
            <a:r>
              <a:rPr lang="en-US" sz="1400" dirty="0">
                <a:solidFill>
                  <a:srgbClr val="FFFFFF"/>
                </a:solidFill>
                <a:latin typeface="Calibri" pitchFamily="34" charset="0"/>
                <a:ea typeface="Calibri" pitchFamily="34" charset="-122"/>
                <a:cs typeface="Calibri" pitchFamily="34" charset="-120"/>
              </a:rPr>
              <a:t>systemd: OOMScoreAdjust=-1000 protege servicios críticos (ej. bases de datos).</a:t>
            </a:r>
            <a:endParaRPr lang="en-US" sz="1400" dirty="0"/>
          </a:p>
          <a:p>
            <a:pPr marL="228600" indent="-228600">
              <a:spcAft>
                <a:spcPts val="1400"/>
              </a:spcAft>
              <a:buSzPct val="100000"/>
              <a:buChar char="■"/>
            </a:pPr>
            <a:r>
              <a:rPr lang="en-US" sz="1400" dirty="0">
                <a:solidFill>
                  <a:srgbClr val="FFFFFF"/>
                </a:solidFill>
                <a:latin typeface="Calibri" pitchFamily="34" charset="0"/>
                <a:ea typeface="Calibri" pitchFamily="34" charset="-122"/>
                <a:cs typeface="Calibri" pitchFamily="34" charset="-120"/>
              </a:rPr>
              <a:t>Principio del "sacrificio del hijo": el kernel prefiere matar primero a los hijos con espacio de memoria separado.</a:t>
            </a:r>
            <a:endParaRPr lang="en-US" sz="1400" dirty="0"/>
          </a:p>
        </p:txBody>
      </p:sp>
      <p:sp>
        <p:nvSpPr>
          <p:cNvPr id="21" name="Shape 19"/>
          <p:cNvSpPr/>
          <p:nvPr/>
        </p:nvSpPr>
        <p:spPr>
          <a:xfrm>
            <a:off x="7589520" y="2423160"/>
            <a:ext cx="3886200" cy="3520440"/>
          </a:xfrm>
          <a:prstGeom prst="roundRect">
            <a:avLst>
              <a:gd name="adj" fmla="val 2078"/>
            </a:avLst>
          </a:prstGeom>
          <a:solidFill>
            <a:srgbClr val="0D0D0D"/>
          </a:solidFill>
          <a:ln w="12700">
            <a:solidFill>
              <a:srgbClr val="FF1A1A"/>
            </a:solidFill>
            <a:prstDash val="solid"/>
          </a:ln>
        </p:spPr>
      </p:sp>
      <p:sp>
        <p:nvSpPr>
          <p:cNvPr id="22" name="Text 20"/>
          <p:cNvSpPr txBox="1"/>
          <p:nvPr/>
        </p:nvSpPr>
        <p:spPr>
          <a:xfrm>
            <a:off x="7818120" y="2697480"/>
            <a:ext cx="3429000" cy="365760"/>
          </a:xfrm>
          <a:prstGeom prst="rect">
            <a:avLst/>
          </a:prstGeom>
          <a:noFill/>
          <a:ln/>
        </p:spPr>
        <p:txBody>
          <a:bodyPr wrap="square" lIns="0" tIns="0" rIns="0" bIns="0" rtlCol="0" anchor="ctr"/>
          <a:lstStyle/>
          <a:p>
            <a:pPr indent="0" marL="0">
              <a:buNone/>
            </a:pPr>
            <a:r>
              <a:rPr lang="en-US" sz="1300" b="1" dirty="0">
                <a:solidFill>
                  <a:srgbClr val="00E5FF"/>
                </a:solidFill>
                <a:latin typeface="Courier New" pitchFamily="34" charset="0"/>
                <a:ea typeface="Courier New" pitchFamily="34" charset="-122"/>
                <a:cs typeface="Courier New" pitchFamily="34" charset="-120"/>
              </a:rPr>
              <a:t>OOMScoreAdjust=-1000</a:t>
            </a:r>
            <a:endParaRPr lang="en-US" sz="1300" dirty="0"/>
          </a:p>
        </p:txBody>
      </p:sp>
      <p:sp>
        <p:nvSpPr>
          <p:cNvPr id="23" name="Text 21"/>
          <p:cNvSpPr txBox="1"/>
          <p:nvPr/>
        </p:nvSpPr>
        <p:spPr>
          <a:xfrm>
            <a:off x="7818120" y="3108960"/>
            <a:ext cx="3429000" cy="411480"/>
          </a:xfrm>
          <a:prstGeom prst="rect">
            <a:avLst/>
          </a:prstGeom>
          <a:noFill/>
          <a:ln/>
        </p:spPr>
        <p:txBody>
          <a:bodyPr wrap="square" lIns="0" tIns="0" rIns="0" bIns="0" rtlCol="0" anchor="ctr"/>
          <a:lstStyle/>
          <a:p>
            <a:pPr indent="0" marL="0">
              <a:buNone/>
            </a:pPr>
            <a:r>
              <a:rPr lang="en-US" sz="1150" dirty="0">
                <a:solidFill>
                  <a:srgbClr val="B8B8B8"/>
                </a:solidFill>
                <a:latin typeface="Calibri" pitchFamily="34" charset="0"/>
                <a:ea typeface="Calibri" pitchFamily="34" charset="-122"/>
                <a:cs typeface="Calibri" pitchFamily="34" charset="-120"/>
              </a:rPr>
              <a:t>Ejemplo real: unidad systemd protegiendo un proceso crítico</a:t>
            </a:r>
            <a:endParaRPr lang="en-US" sz="1150" dirty="0"/>
          </a:p>
        </p:txBody>
      </p:sp>
      <p:sp>
        <p:nvSpPr>
          <p:cNvPr id="24" name="Shape 22"/>
          <p:cNvSpPr/>
          <p:nvPr/>
        </p:nvSpPr>
        <p:spPr>
          <a:xfrm>
            <a:off x="7818120" y="3611880"/>
            <a:ext cx="3429000" cy="2148840"/>
          </a:xfrm>
          <a:prstGeom prst="roundRect">
            <a:avLst>
              <a:gd name="adj" fmla="val 2128"/>
            </a:avLst>
          </a:prstGeom>
          <a:solidFill>
            <a:srgbClr val="000000"/>
          </a:solidFill>
          <a:ln w="9525">
            <a:solidFill>
              <a:srgbClr val="333333"/>
            </a:solidFill>
            <a:prstDash val="solid"/>
          </a:ln>
        </p:spPr>
      </p:sp>
      <p:sp>
        <p:nvSpPr>
          <p:cNvPr id="25" name="Text 23"/>
          <p:cNvSpPr txBox="1"/>
          <p:nvPr/>
        </p:nvSpPr>
        <p:spPr>
          <a:xfrm>
            <a:off x="8001000" y="3749040"/>
            <a:ext cx="3063240" cy="1874520"/>
          </a:xfrm>
          <a:prstGeom prst="rect">
            <a:avLst/>
          </a:prstGeom>
          <a:noFill/>
          <a:ln/>
        </p:spPr>
        <p:txBody>
          <a:bodyPr wrap="square" lIns="0" tIns="0" rIns="0" bIns="0" rtlCol="0" anchor="ctr"/>
          <a:lstStyle/>
          <a:p>
            <a:pPr indent="0" marL="0">
              <a:lnSpc>
                <a:spcPct val="140000"/>
              </a:lnSpc>
              <a:buNone/>
            </a:pPr>
            <a:r>
              <a:rPr lang="en-US" sz="1250" dirty="0">
                <a:solidFill>
                  <a:srgbClr val="FFFFFF"/>
                </a:solidFill>
                <a:latin typeface="Courier New" pitchFamily="34" charset="0"/>
                <a:ea typeface="Courier New" pitchFamily="34" charset="-122"/>
                <a:cs typeface="Courier New" pitchFamily="34" charset="-120"/>
              </a:rPr>
              <a:t>[Service]</a:t>
            </a:r>
            <a:endParaRPr lang="en-US" sz="1250" dirty="0"/>
          </a:p>
          <a:p>
            <a:pPr indent="0" marL="0">
              <a:lnSpc>
                <a:spcPct val="140000"/>
              </a:lnSpc>
              <a:buNone/>
            </a:pPr>
            <a:r>
              <a:rPr lang="en-US" sz="1250" dirty="0">
                <a:solidFill>
                  <a:srgbClr val="FFFFFF"/>
                </a:solidFill>
                <a:latin typeface="Courier New" pitchFamily="34" charset="0"/>
                <a:ea typeface="Courier New" pitchFamily="34" charset="-122"/>
                <a:cs typeface="Courier New" pitchFamily="34" charset="-120"/>
              </a:rPr>
              <a:t>ExecStart=/usr/bin/postgres</a:t>
            </a:r>
            <a:endParaRPr lang="en-US" sz="1250" dirty="0"/>
          </a:p>
          <a:p>
            <a:pPr indent="0" marL="0">
              <a:lnSpc>
                <a:spcPct val="140000"/>
              </a:lnSpc>
              <a:buNone/>
            </a:pPr>
            <a:r>
              <a:rPr lang="en-US" sz="1250" dirty="0">
                <a:solidFill>
                  <a:srgbClr val="FFFFFF"/>
                </a:solidFill>
                <a:latin typeface="Courier New" pitchFamily="34" charset="0"/>
                <a:ea typeface="Courier New" pitchFamily="34" charset="-122"/>
                <a:cs typeface="Courier New" pitchFamily="34" charset="-120"/>
              </a:rPr>
              <a:t>OOMScoreAdjust=-1000</a:t>
            </a:r>
            <a:endParaRPr lang="en-US" sz="1250" dirty="0"/>
          </a:p>
        </p:txBody>
      </p:sp>
      <p:sp>
        <p:nvSpPr>
          <p:cNvPr id="26" name="Text 24"/>
          <p:cNvSpPr txBox="1"/>
          <p:nvPr/>
        </p:nvSpPr>
        <p:spPr>
          <a:xfrm>
            <a:off x="502920" y="6473952"/>
            <a:ext cx="5486400" cy="274320"/>
          </a:xfrm>
          <a:prstGeom prst="rect">
            <a:avLst/>
          </a:prstGeom>
          <a:noFill/>
          <a:ln/>
        </p:spPr>
        <p:txBody>
          <a:bodyPr wrap="square" lIns="0" tIns="0" rIns="0" bIns="0" rtlCol="0" anchor="ctr"/>
          <a:lstStyle/>
          <a:p>
            <a:pPr indent="0" marL="0">
              <a:buNone/>
            </a:pPr>
            <a:r>
              <a:rPr lang="en-US" sz="1000" dirty="0">
                <a:solidFill>
                  <a:srgbClr val="B8B8B8"/>
                </a:solidFill>
                <a:latin typeface="Arial" pitchFamily="34" charset="0"/>
                <a:ea typeface="Arial" pitchFamily="34" charset="-122"/>
                <a:cs typeface="Arial" pitchFamily="34" charset="-120"/>
              </a:rPr>
              <a:t>OOM KILLER  ·  UTP – FISC  ·  1IL143</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10881360" y="457200"/>
            <a:ext cx="1097280" cy="320040"/>
          </a:xfrm>
          <a:prstGeom prst="rect">
            <a:avLst/>
          </a:prstGeom>
          <a:noFill/>
          <a:ln/>
        </p:spPr>
        <p:txBody>
          <a:bodyPr wrap="square" lIns="0" tIns="0" rIns="0" bIns="0" rtlCol="0" anchor="ctr"/>
          <a:lstStyle/>
          <a:p>
            <a:pPr algn="r" indent="0" marL="0">
              <a:buNone/>
            </a:pPr>
            <a:r>
              <a:rPr lang="en-US" sz="1100" dirty="0">
                <a:solidFill>
                  <a:srgbClr val="B8B8B8"/>
                </a:solidFill>
                <a:latin typeface="Arial" pitchFamily="34" charset="0"/>
                <a:ea typeface="Arial" pitchFamily="34" charset="-122"/>
                <a:cs typeface="Arial" pitchFamily="34" charset="-120"/>
              </a:rPr>
              <a:t>12 / 17</a:t>
            </a:r>
            <a:endParaRPr lang="en-US" sz="1100" dirty="0"/>
          </a:p>
        </p:txBody>
      </p:sp>
      <p:sp>
        <p:nvSpPr>
          <p:cNvPr id="3" name="Shape 1"/>
          <p:cNvSpPr/>
          <p:nvPr/>
        </p:nvSpPr>
        <p:spPr>
          <a:xfrm>
            <a:off x="731520" y="457200"/>
            <a:ext cx="1417320" cy="365760"/>
          </a:xfrm>
          <a:prstGeom prst="roundRect">
            <a:avLst>
              <a:gd name="adj" fmla="val 50000"/>
            </a:avLst>
          </a:prstGeom>
          <a:solidFill>
            <a:srgbClr val="FF1A1A"/>
          </a:solidFill>
          <a:ln/>
        </p:spPr>
      </p:sp>
      <p:sp>
        <p:nvSpPr>
          <p:cNvPr id="4" name="Text 2"/>
          <p:cNvSpPr txBox="1"/>
          <p:nvPr/>
        </p:nvSpPr>
        <p:spPr>
          <a:xfrm>
            <a:off x="731520" y="457200"/>
            <a:ext cx="1417320" cy="36576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PREGUNTA 6</a:t>
            </a:r>
            <a:endParaRPr lang="en-US" sz="1200" dirty="0"/>
          </a:p>
        </p:txBody>
      </p:sp>
      <p:sp>
        <p:nvSpPr>
          <p:cNvPr id="5" name="Text 3"/>
          <p:cNvSpPr txBox="1"/>
          <p:nvPr/>
        </p:nvSpPr>
        <p:spPr>
          <a:xfrm>
            <a:off x="644652" y="941832"/>
            <a:ext cx="9144000" cy="1234440"/>
          </a:xfrm>
          <a:prstGeom prst="rect">
            <a:avLst/>
          </a:prstGeom>
          <a:noFill/>
          <a:ln/>
        </p:spPr>
        <p:txBody>
          <a:bodyPr wrap="square" lIns="0" tIns="0" rIns="0" bIns="0" rtlCol="0" anchor="ctr"/>
          <a:lstStyle/>
          <a:p>
            <a:pPr algn="l" indent="0" marL="0">
              <a:buNone/>
            </a:pPr>
            <a:r>
              <a:rPr lang="en-US" sz="2700" b="1" dirty="0">
                <a:solidFill>
                  <a:srgbClr val="00E5FF">
                    <a:alpha val="45000"/>
                  </a:srgbClr>
                </a:solidFill>
                <a:latin typeface="Arial Black" pitchFamily="34" charset="0"/>
                <a:ea typeface="Arial Black" pitchFamily="34" charset="-122"/>
                <a:cs typeface="Arial Black" pitchFamily="34" charset="-120"/>
              </a:rPr>
              <a:t>¿QUÉ CONSECUENCIAS</a:t>
            </a:r>
            <a:endParaRPr lang="en-US" sz="2700" dirty="0"/>
          </a:p>
          <a:p>
            <a:pPr algn="l" indent="0" marL="0">
              <a:buNone/>
            </a:pPr>
            <a:r>
              <a:rPr lang="en-US" sz="2700" b="1" dirty="0">
                <a:solidFill>
                  <a:srgbClr val="00E5FF">
                    <a:alpha val="45000"/>
                  </a:srgbClr>
                </a:solidFill>
                <a:latin typeface="Arial Black" pitchFamily="34" charset="0"/>
                <a:ea typeface="Arial Black" pitchFamily="34" charset="-122"/>
                <a:cs typeface="Arial Black" pitchFamily="34" charset="-120"/>
              </a:rPr>
              <a:t>TIENE TERMINARLO?</a:t>
            </a:r>
            <a:endParaRPr lang="en-US" sz="2700" dirty="0"/>
          </a:p>
        </p:txBody>
      </p:sp>
      <p:sp>
        <p:nvSpPr>
          <p:cNvPr id="6" name="Text 4"/>
          <p:cNvSpPr txBox="1"/>
          <p:nvPr/>
        </p:nvSpPr>
        <p:spPr>
          <a:xfrm>
            <a:off x="726948" y="982980"/>
            <a:ext cx="9144000" cy="1234440"/>
          </a:xfrm>
          <a:prstGeom prst="rect">
            <a:avLst/>
          </a:prstGeom>
          <a:noFill/>
          <a:ln/>
        </p:spPr>
        <p:txBody>
          <a:bodyPr wrap="square" lIns="0" tIns="0" rIns="0" bIns="0" rtlCol="0" anchor="ctr"/>
          <a:lstStyle/>
          <a:p>
            <a:pPr algn="l" indent="0" marL="0">
              <a:buNone/>
            </a:pPr>
            <a:r>
              <a:rPr lang="en-US" sz="2700" b="1" dirty="0">
                <a:solidFill>
                  <a:srgbClr val="8A0000">
                    <a:alpha val="65000"/>
                  </a:srgbClr>
                </a:solidFill>
                <a:latin typeface="Arial Black" pitchFamily="34" charset="0"/>
                <a:ea typeface="Arial Black" pitchFamily="34" charset="-122"/>
                <a:cs typeface="Arial Black" pitchFamily="34" charset="-120"/>
              </a:rPr>
              <a:t>¿QUÉ CONSECUENCIAS</a:t>
            </a:r>
            <a:endParaRPr lang="en-US" sz="2700" dirty="0"/>
          </a:p>
          <a:p>
            <a:pPr algn="l" indent="0" marL="0">
              <a:buNone/>
            </a:pPr>
            <a:r>
              <a:rPr lang="en-US" sz="2700" b="1" dirty="0">
                <a:solidFill>
                  <a:srgbClr val="8A0000">
                    <a:alpha val="65000"/>
                  </a:srgbClr>
                </a:solidFill>
                <a:latin typeface="Arial Black" pitchFamily="34" charset="0"/>
                <a:ea typeface="Arial Black" pitchFamily="34" charset="-122"/>
                <a:cs typeface="Arial Black" pitchFamily="34" charset="-120"/>
              </a:rPr>
              <a:t>TIENE TERMINARLO?</a:t>
            </a:r>
            <a:endParaRPr lang="en-US" sz="2700" dirty="0"/>
          </a:p>
        </p:txBody>
      </p:sp>
      <p:sp>
        <p:nvSpPr>
          <p:cNvPr id="7" name="Text 5"/>
          <p:cNvSpPr txBox="1"/>
          <p:nvPr/>
        </p:nvSpPr>
        <p:spPr>
          <a:xfrm>
            <a:off x="685800" y="960120"/>
            <a:ext cx="9144000" cy="1234440"/>
          </a:xfrm>
          <a:prstGeom prst="rect">
            <a:avLst/>
          </a:prstGeom>
          <a:noFill/>
          <a:ln/>
        </p:spPr>
        <p:txBody>
          <a:bodyPr wrap="square" lIns="0" tIns="0" rIns="0" bIns="0" rtlCol="0" anchor="ctr"/>
          <a:lstStyle/>
          <a:p>
            <a:pPr algn="l" indent="0" marL="0">
              <a:buNone/>
            </a:pPr>
            <a:r>
              <a:rPr lang="en-US" sz="2700" b="1" dirty="0">
                <a:solidFill>
                  <a:srgbClr val="FF1A1A"/>
                </a:solidFill>
                <a:latin typeface="Arial Black" pitchFamily="34" charset="0"/>
                <a:ea typeface="Arial Black" pitchFamily="34" charset="-122"/>
                <a:cs typeface="Arial Black" pitchFamily="34" charset="-120"/>
              </a:rPr>
              <a:t>¿QUÉ CONSECUENCIAS</a:t>
            </a:r>
            <a:endParaRPr lang="en-US" sz="2700" dirty="0"/>
          </a:p>
          <a:p>
            <a:pPr algn="l" indent="0" marL="0">
              <a:buNone/>
            </a:pPr>
            <a:r>
              <a:rPr lang="en-US" sz="2700" b="1" dirty="0">
                <a:solidFill>
                  <a:srgbClr val="FF1A1A"/>
                </a:solidFill>
                <a:latin typeface="Arial Black" pitchFamily="34" charset="0"/>
                <a:ea typeface="Arial Black" pitchFamily="34" charset="-122"/>
                <a:cs typeface="Arial Black" pitchFamily="34" charset="-120"/>
              </a:rPr>
              <a:t>TIENE TERMINARLO?</a:t>
            </a:r>
            <a:endParaRPr lang="en-US" sz="2700" dirty="0"/>
          </a:p>
        </p:txBody>
      </p:sp>
      <p:sp>
        <p:nvSpPr>
          <p:cNvPr id="8" name="Shape 6"/>
          <p:cNvSpPr/>
          <p:nvPr/>
        </p:nvSpPr>
        <p:spPr>
          <a:xfrm>
            <a:off x="1417320" y="1182319"/>
            <a:ext cx="2011680" cy="32004"/>
          </a:xfrm>
          <a:prstGeom prst="rect">
            <a:avLst/>
          </a:prstGeom>
          <a:solidFill>
            <a:srgbClr val="00E5FF">
              <a:alpha val="70000"/>
            </a:srgbClr>
          </a:solidFill>
          <a:ln/>
        </p:spPr>
      </p:sp>
      <p:sp>
        <p:nvSpPr>
          <p:cNvPr id="9" name="Shape 7"/>
          <p:cNvSpPr/>
          <p:nvPr/>
        </p:nvSpPr>
        <p:spPr>
          <a:xfrm>
            <a:off x="5715000" y="1922983"/>
            <a:ext cx="2743200" cy="32004"/>
          </a:xfrm>
          <a:prstGeom prst="rect">
            <a:avLst/>
          </a:prstGeom>
          <a:solidFill>
            <a:srgbClr val="FF1A1A">
              <a:alpha val="80000"/>
            </a:srgbClr>
          </a:solidFill>
          <a:ln/>
        </p:spPr>
      </p:sp>
      <p:sp>
        <p:nvSpPr>
          <p:cNvPr id="10" name="Shape 8"/>
          <p:cNvSpPr/>
          <p:nvPr/>
        </p:nvSpPr>
        <p:spPr>
          <a:xfrm>
            <a:off x="777240" y="2423160"/>
            <a:ext cx="109728" cy="457200"/>
          </a:xfrm>
          <a:prstGeom prst="rect">
            <a:avLst/>
          </a:prstGeom>
          <a:solidFill>
            <a:srgbClr val="FF1A1A"/>
          </a:solidFill>
          <a:ln/>
        </p:spPr>
      </p:sp>
      <p:sp>
        <p:nvSpPr>
          <p:cNvPr id="11" name="Text 9"/>
          <p:cNvSpPr txBox="1"/>
          <p:nvPr/>
        </p:nvSpPr>
        <p:spPr>
          <a:xfrm>
            <a:off x="1051560" y="2377440"/>
            <a:ext cx="4206240" cy="68580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SIGKILL inmediato</a:t>
            </a:r>
            <a:endParaRPr lang="en-US" sz="1400" dirty="0"/>
          </a:p>
        </p:txBody>
      </p:sp>
      <p:sp>
        <p:nvSpPr>
          <p:cNvPr id="12" name="Text 10"/>
          <p:cNvSpPr txBox="1"/>
          <p:nvPr/>
        </p:nvSpPr>
        <p:spPr>
          <a:xfrm>
            <a:off x="5394960" y="2377440"/>
            <a:ext cx="6080760" cy="685800"/>
          </a:xfrm>
          <a:prstGeom prst="rect">
            <a:avLst/>
          </a:prstGeom>
          <a:noFill/>
          <a:ln/>
        </p:spPr>
        <p:txBody>
          <a:bodyPr wrap="square" lIns="0" tIns="0" rIns="0" bIns="0" rtlCol="0" anchor="t"/>
          <a:lstStyle/>
          <a:p>
            <a:pPr indent="0" marL="0">
              <a:buNone/>
            </a:pPr>
            <a:r>
              <a:rPr lang="en-US" sz="1250" dirty="0">
                <a:solidFill>
                  <a:srgbClr val="B8B8B8"/>
                </a:solidFill>
                <a:latin typeface="Calibri" pitchFamily="34" charset="0"/>
                <a:ea typeface="Calibri" pitchFamily="34" charset="-122"/>
                <a:cs typeface="Calibri" pitchFamily="34" charset="-120"/>
              </a:rPr>
              <a:t>El proceso recibe la señal 9 — no puede capturarla, no hay limpieza ni cierre ordenado.</a:t>
            </a:r>
            <a:endParaRPr lang="en-US" sz="1250" dirty="0"/>
          </a:p>
        </p:txBody>
      </p:sp>
      <p:sp>
        <p:nvSpPr>
          <p:cNvPr id="13" name="Shape 11"/>
          <p:cNvSpPr/>
          <p:nvPr/>
        </p:nvSpPr>
        <p:spPr>
          <a:xfrm>
            <a:off x="777240" y="3209544"/>
            <a:ext cx="109728" cy="457200"/>
          </a:xfrm>
          <a:prstGeom prst="rect">
            <a:avLst/>
          </a:prstGeom>
          <a:solidFill>
            <a:srgbClr val="FF1A1A"/>
          </a:solidFill>
          <a:ln/>
        </p:spPr>
      </p:sp>
      <p:sp>
        <p:nvSpPr>
          <p:cNvPr id="14" name="Text 12"/>
          <p:cNvSpPr txBox="1"/>
          <p:nvPr/>
        </p:nvSpPr>
        <p:spPr>
          <a:xfrm>
            <a:off x="1051560" y="3163824"/>
            <a:ext cx="4206240" cy="68580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Pérdida de trabajo no guardado</a:t>
            </a:r>
            <a:endParaRPr lang="en-US" sz="1400" dirty="0"/>
          </a:p>
        </p:txBody>
      </p:sp>
      <p:sp>
        <p:nvSpPr>
          <p:cNvPr id="15" name="Text 13"/>
          <p:cNvSpPr txBox="1"/>
          <p:nvPr/>
        </p:nvSpPr>
        <p:spPr>
          <a:xfrm>
            <a:off x="5394960" y="3163824"/>
            <a:ext cx="6080760" cy="685800"/>
          </a:xfrm>
          <a:prstGeom prst="rect">
            <a:avLst/>
          </a:prstGeom>
          <a:noFill/>
          <a:ln/>
        </p:spPr>
        <p:txBody>
          <a:bodyPr wrap="square" lIns="0" tIns="0" rIns="0" bIns="0" rtlCol="0" anchor="t"/>
          <a:lstStyle/>
          <a:p>
            <a:pPr indent="0" marL="0">
              <a:buNone/>
            </a:pPr>
            <a:r>
              <a:rPr lang="en-US" sz="1250" dirty="0">
                <a:solidFill>
                  <a:srgbClr val="B8B8B8"/>
                </a:solidFill>
                <a:latin typeface="Calibri" pitchFamily="34" charset="0"/>
                <a:ea typeface="Calibri" pitchFamily="34" charset="-122"/>
                <a:cs typeface="Calibri" pitchFamily="34" charset="-120"/>
              </a:rPr>
              <a:t>Cualquier dato en memoria que no se había persistido a disco se pierde por completo.</a:t>
            </a:r>
            <a:endParaRPr lang="en-US" sz="1250" dirty="0"/>
          </a:p>
        </p:txBody>
      </p:sp>
      <p:sp>
        <p:nvSpPr>
          <p:cNvPr id="16" name="Shape 14"/>
          <p:cNvSpPr/>
          <p:nvPr/>
        </p:nvSpPr>
        <p:spPr>
          <a:xfrm>
            <a:off x="777240" y="3995928"/>
            <a:ext cx="109728" cy="457200"/>
          </a:xfrm>
          <a:prstGeom prst="rect">
            <a:avLst/>
          </a:prstGeom>
          <a:solidFill>
            <a:srgbClr val="FF1A1A"/>
          </a:solidFill>
          <a:ln/>
        </p:spPr>
      </p:sp>
      <p:sp>
        <p:nvSpPr>
          <p:cNvPr id="17" name="Text 15"/>
          <p:cNvSpPr txBox="1"/>
          <p:nvPr/>
        </p:nvSpPr>
        <p:spPr>
          <a:xfrm>
            <a:off x="1051560" y="3950208"/>
            <a:ext cx="4206240" cy="68580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Posible reinicio automático</a:t>
            </a:r>
            <a:endParaRPr lang="en-US" sz="1400" dirty="0"/>
          </a:p>
        </p:txBody>
      </p:sp>
      <p:sp>
        <p:nvSpPr>
          <p:cNvPr id="18" name="Text 16"/>
          <p:cNvSpPr txBox="1"/>
          <p:nvPr/>
        </p:nvSpPr>
        <p:spPr>
          <a:xfrm>
            <a:off x="5394960" y="3950208"/>
            <a:ext cx="6080760" cy="685800"/>
          </a:xfrm>
          <a:prstGeom prst="rect">
            <a:avLst/>
          </a:prstGeom>
          <a:noFill/>
          <a:ln/>
        </p:spPr>
        <p:txBody>
          <a:bodyPr wrap="square" lIns="0" tIns="0" rIns="0" bIns="0" rtlCol="0" anchor="t"/>
          <a:lstStyle/>
          <a:p>
            <a:pPr indent="0" marL="0">
              <a:buNone/>
            </a:pPr>
            <a:r>
              <a:rPr lang="en-US" sz="1250" dirty="0">
                <a:solidFill>
                  <a:srgbClr val="B8B8B8"/>
                </a:solidFill>
                <a:latin typeface="Calibri" pitchFamily="34" charset="0"/>
                <a:ea typeface="Calibri" pitchFamily="34" charset="-122"/>
                <a:cs typeface="Calibri" pitchFamily="34" charset="-120"/>
              </a:rPr>
              <a:t>systemd o Kubernetes pueden relanzar el servicio — pero hay downtime real mientras tanto.</a:t>
            </a:r>
            <a:endParaRPr lang="en-US" sz="1250" dirty="0"/>
          </a:p>
        </p:txBody>
      </p:sp>
      <p:sp>
        <p:nvSpPr>
          <p:cNvPr id="19" name="Shape 17"/>
          <p:cNvSpPr/>
          <p:nvPr/>
        </p:nvSpPr>
        <p:spPr>
          <a:xfrm>
            <a:off x="777240" y="4782312"/>
            <a:ext cx="109728" cy="457200"/>
          </a:xfrm>
          <a:prstGeom prst="rect">
            <a:avLst/>
          </a:prstGeom>
          <a:solidFill>
            <a:srgbClr val="FF1A1A"/>
          </a:solidFill>
          <a:ln/>
        </p:spPr>
      </p:sp>
      <p:sp>
        <p:nvSpPr>
          <p:cNvPr id="20" name="Text 18"/>
          <p:cNvSpPr txBox="1"/>
          <p:nvPr/>
        </p:nvSpPr>
        <p:spPr>
          <a:xfrm>
            <a:off x="1051560" y="4736592"/>
            <a:ext cx="4206240" cy="68580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Riesgo de elegir mal</a:t>
            </a:r>
            <a:endParaRPr lang="en-US" sz="1400" dirty="0"/>
          </a:p>
        </p:txBody>
      </p:sp>
      <p:sp>
        <p:nvSpPr>
          <p:cNvPr id="21" name="Text 19"/>
          <p:cNvSpPr txBox="1"/>
          <p:nvPr/>
        </p:nvSpPr>
        <p:spPr>
          <a:xfrm>
            <a:off x="5394960" y="4736592"/>
            <a:ext cx="6080760" cy="685800"/>
          </a:xfrm>
          <a:prstGeom prst="rect">
            <a:avLst/>
          </a:prstGeom>
          <a:noFill/>
          <a:ln/>
        </p:spPr>
        <p:txBody>
          <a:bodyPr wrap="square" lIns="0" tIns="0" rIns="0" bIns="0" rtlCol="0" anchor="t"/>
          <a:lstStyle/>
          <a:p>
            <a:pPr indent="0" marL="0">
              <a:buNone/>
            </a:pPr>
            <a:r>
              <a:rPr lang="en-US" sz="1250" dirty="0">
                <a:solidFill>
                  <a:srgbClr val="B8B8B8"/>
                </a:solidFill>
                <a:latin typeface="Calibri" pitchFamily="34" charset="0"/>
                <a:ea typeface="Calibri" pitchFamily="34" charset="-122"/>
                <a:cs typeface="Calibri" pitchFamily="34" charset="-120"/>
              </a:rPr>
              <a:t>Si el puntaje elige al proceso equivocado (ej. sshd), el diagnóstico se vuelve mucho más difícil.</a:t>
            </a:r>
            <a:endParaRPr lang="en-US" sz="1250" dirty="0"/>
          </a:p>
        </p:txBody>
      </p:sp>
      <p:sp>
        <p:nvSpPr>
          <p:cNvPr id="22" name="Shape 20"/>
          <p:cNvSpPr/>
          <p:nvPr/>
        </p:nvSpPr>
        <p:spPr>
          <a:xfrm>
            <a:off x="777240" y="5568696"/>
            <a:ext cx="109728" cy="457200"/>
          </a:xfrm>
          <a:prstGeom prst="rect">
            <a:avLst/>
          </a:prstGeom>
          <a:solidFill>
            <a:srgbClr val="FF1A1A"/>
          </a:solidFill>
          <a:ln/>
        </p:spPr>
      </p:sp>
      <p:sp>
        <p:nvSpPr>
          <p:cNvPr id="23" name="Text 21"/>
          <p:cNvSpPr txBox="1"/>
          <p:nvPr/>
        </p:nvSpPr>
        <p:spPr>
          <a:xfrm>
            <a:off x="1051560" y="5522976"/>
            <a:ext cx="4206240" cy="68580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Rastro en logs</a:t>
            </a:r>
            <a:endParaRPr lang="en-US" sz="1400" dirty="0"/>
          </a:p>
        </p:txBody>
      </p:sp>
      <p:sp>
        <p:nvSpPr>
          <p:cNvPr id="24" name="Text 22"/>
          <p:cNvSpPr txBox="1"/>
          <p:nvPr/>
        </p:nvSpPr>
        <p:spPr>
          <a:xfrm>
            <a:off x="5394960" y="5522976"/>
            <a:ext cx="6080760" cy="685800"/>
          </a:xfrm>
          <a:prstGeom prst="rect">
            <a:avLst/>
          </a:prstGeom>
          <a:noFill/>
          <a:ln/>
        </p:spPr>
        <p:txBody>
          <a:bodyPr wrap="square" lIns="0" tIns="0" rIns="0" bIns="0" rtlCol="0" anchor="t"/>
          <a:lstStyle/>
          <a:p>
            <a:pPr indent="0" marL="0">
              <a:buNone/>
            </a:pPr>
            <a:r>
              <a:rPr lang="en-US" sz="1250" dirty="0">
                <a:solidFill>
                  <a:srgbClr val="B8B8B8"/>
                </a:solidFill>
                <a:latin typeface="Calibri" pitchFamily="34" charset="0"/>
                <a:ea typeface="Calibri" pitchFamily="34" charset="-122"/>
                <a:cs typeface="Calibri" pitchFamily="34" charset="-120"/>
              </a:rPr>
              <a:t>Queda evidencia en dmesg/journalctl — clave para el post-mortem, pero no evita el impacto inicial.</a:t>
            </a:r>
            <a:endParaRPr lang="en-US" sz="1250" dirty="0"/>
          </a:p>
        </p:txBody>
      </p:sp>
      <p:sp>
        <p:nvSpPr>
          <p:cNvPr id="25" name="Text 23"/>
          <p:cNvSpPr txBox="1"/>
          <p:nvPr/>
        </p:nvSpPr>
        <p:spPr>
          <a:xfrm>
            <a:off x="502920" y="6473952"/>
            <a:ext cx="5486400" cy="274320"/>
          </a:xfrm>
          <a:prstGeom prst="rect">
            <a:avLst/>
          </a:prstGeom>
          <a:noFill/>
          <a:ln/>
        </p:spPr>
        <p:txBody>
          <a:bodyPr wrap="square" lIns="0" tIns="0" rIns="0" bIns="0" rtlCol="0" anchor="ctr"/>
          <a:lstStyle/>
          <a:p>
            <a:pPr indent="0" marL="0">
              <a:buNone/>
            </a:pPr>
            <a:r>
              <a:rPr lang="en-US" sz="1000" dirty="0">
                <a:solidFill>
                  <a:srgbClr val="B8B8B8"/>
                </a:solidFill>
                <a:latin typeface="Arial" pitchFamily="34" charset="0"/>
                <a:ea typeface="Arial" pitchFamily="34" charset="-122"/>
                <a:cs typeface="Arial" pitchFamily="34" charset="-120"/>
              </a:rPr>
              <a:t>OOM KILLER  ·  UTP – FISC  ·  1IL143</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10881360" y="457200"/>
            <a:ext cx="1097280" cy="320040"/>
          </a:xfrm>
          <a:prstGeom prst="rect">
            <a:avLst/>
          </a:prstGeom>
          <a:noFill/>
          <a:ln/>
        </p:spPr>
        <p:txBody>
          <a:bodyPr wrap="square" lIns="0" tIns="0" rIns="0" bIns="0" rtlCol="0" anchor="ctr"/>
          <a:lstStyle/>
          <a:p>
            <a:pPr algn="r" indent="0" marL="0">
              <a:buNone/>
            </a:pPr>
            <a:r>
              <a:rPr lang="en-US" sz="1100" dirty="0">
                <a:solidFill>
                  <a:srgbClr val="B8B8B8"/>
                </a:solidFill>
                <a:latin typeface="Arial" pitchFamily="34" charset="0"/>
                <a:ea typeface="Arial" pitchFamily="34" charset="-122"/>
                <a:cs typeface="Arial" pitchFamily="34" charset="-120"/>
              </a:rPr>
              <a:t>13 / 17</a:t>
            </a:r>
            <a:endParaRPr lang="en-US" sz="1100" dirty="0"/>
          </a:p>
        </p:txBody>
      </p:sp>
      <p:sp>
        <p:nvSpPr>
          <p:cNvPr id="3" name="Text 1"/>
          <p:cNvSpPr txBox="1"/>
          <p:nvPr/>
        </p:nvSpPr>
        <p:spPr>
          <a:xfrm>
            <a:off x="731520" y="502920"/>
            <a:ext cx="7315200" cy="320040"/>
          </a:xfrm>
          <a:prstGeom prst="rect">
            <a:avLst/>
          </a:prstGeom>
          <a:noFill/>
          <a:ln/>
        </p:spPr>
        <p:txBody>
          <a:bodyPr wrap="square" lIns="0" tIns="0" rIns="0" bIns="0" rtlCol="0" anchor="ctr"/>
          <a:lstStyle/>
          <a:p>
            <a:pPr indent="0" marL="0">
              <a:buNone/>
            </a:pPr>
            <a:r>
              <a:rPr lang="en-US" sz="1200" b="1" spc="200" kern="0" dirty="0">
                <a:solidFill>
                  <a:srgbClr val="FF1A1A"/>
                </a:solidFill>
                <a:latin typeface="Arial" pitchFamily="34" charset="0"/>
                <a:ea typeface="Arial" pitchFamily="34" charset="-122"/>
                <a:cs typeface="Arial" pitchFamily="34" charset="-120"/>
              </a:rPr>
              <a:t>PROFUNDIZANDO</a:t>
            </a:r>
            <a:endParaRPr lang="en-US" sz="1200" dirty="0"/>
          </a:p>
        </p:txBody>
      </p:sp>
      <p:sp>
        <p:nvSpPr>
          <p:cNvPr id="4" name="Text 2"/>
          <p:cNvSpPr txBox="1"/>
          <p:nvPr/>
        </p:nvSpPr>
        <p:spPr>
          <a:xfrm>
            <a:off x="644652" y="758952"/>
            <a:ext cx="10515600" cy="731520"/>
          </a:xfrm>
          <a:prstGeom prst="rect">
            <a:avLst/>
          </a:prstGeom>
          <a:noFill/>
          <a:ln/>
        </p:spPr>
        <p:txBody>
          <a:bodyPr wrap="square" lIns="0" tIns="0" rIns="0" bIns="0" rtlCol="0" anchor="ctr"/>
          <a:lstStyle/>
          <a:p>
            <a:pPr algn="l" indent="0" marL="0">
              <a:buNone/>
            </a:pPr>
            <a:r>
              <a:rPr lang="en-US" sz="2500" b="1" dirty="0">
                <a:solidFill>
                  <a:srgbClr val="00E5FF">
                    <a:alpha val="45000"/>
                  </a:srgbClr>
                </a:solidFill>
                <a:latin typeface="Arial Black" pitchFamily="34" charset="0"/>
                <a:ea typeface="Arial Black" pitchFamily="34" charset="-122"/>
                <a:cs typeface="Arial Black" pitchFamily="34" charset="-120"/>
              </a:rPr>
              <a:t>OOM EN CGROUPS Y KUBERNETES</a:t>
            </a:r>
            <a:endParaRPr lang="en-US" sz="2500" dirty="0"/>
          </a:p>
        </p:txBody>
      </p:sp>
      <p:sp>
        <p:nvSpPr>
          <p:cNvPr id="5" name="Text 3"/>
          <p:cNvSpPr txBox="1"/>
          <p:nvPr/>
        </p:nvSpPr>
        <p:spPr>
          <a:xfrm>
            <a:off x="726948" y="800100"/>
            <a:ext cx="10515600" cy="731520"/>
          </a:xfrm>
          <a:prstGeom prst="rect">
            <a:avLst/>
          </a:prstGeom>
          <a:noFill/>
          <a:ln/>
        </p:spPr>
        <p:txBody>
          <a:bodyPr wrap="square" lIns="0" tIns="0" rIns="0" bIns="0" rtlCol="0" anchor="ctr"/>
          <a:lstStyle/>
          <a:p>
            <a:pPr algn="l" indent="0" marL="0">
              <a:buNone/>
            </a:pPr>
            <a:r>
              <a:rPr lang="en-US" sz="2500" b="1" dirty="0">
                <a:solidFill>
                  <a:srgbClr val="8A0000">
                    <a:alpha val="65000"/>
                  </a:srgbClr>
                </a:solidFill>
                <a:latin typeface="Arial Black" pitchFamily="34" charset="0"/>
                <a:ea typeface="Arial Black" pitchFamily="34" charset="-122"/>
                <a:cs typeface="Arial Black" pitchFamily="34" charset="-120"/>
              </a:rPr>
              <a:t>OOM EN CGROUPS Y KUBERNETES</a:t>
            </a:r>
            <a:endParaRPr lang="en-US" sz="2500" dirty="0"/>
          </a:p>
        </p:txBody>
      </p:sp>
      <p:sp>
        <p:nvSpPr>
          <p:cNvPr id="6" name="Text 4"/>
          <p:cNvSpPr txBox="1"/>
          <p:nvPr/>
        </p:nvSpPr>
        <p:spPr>
          <a:xfrm>
            <a:off x="685800" y="777240"/>
            <a:ext cx="10515600" cy="731520"/>
          </a:xfrm>
          <a:prstGeom prst="rect">
            <a:avLst/>
          </a:prstGeom>
          <a:noFill/>
          <a:ln/>
        </p:spPr>
        <p:txBody>
          <a:bodyPr wrap="square" lIns="0" tIns="0" rIns="0" bIns="0" rtlCol="0" anchor="ctr"/>
          <a:lstStyle/>
          <a:p>
            <a:pPr algn="l" indent="0" marL="0">
              <a:buNone/>
            </a:pPr>
            <a:r>
              <a:rPr lang="en-US" sz="2500" b="1" dirty="0">
                <a:solidFill>
                  <a:srgbClr val="FF1A1A"/>
                </a:solidFill>
                <a:latin typeface="Arial Black" pitchFamily="34" charset="0"/>
                <a:ea typeface="Arial Black" pitchFamily="34" charset="-122"/>
                <a:cs typeface="Arial Black" pitchFamily="34" charset="-120"/>
              </a:rPr>
              <a:t>OOM EN CGROUPS Y KUBERNETES</a:t>
            </a:r>
            <a:endParaRPr lang="en-US" sz="2500" dirty="0"/>
          </a:p>
        </p:txBody>
      </p:sp>
      <p:sp>
        <p:nvSpPr>
          <p:cNvPr id="7" name="Shape 5"/>
          <p:cNvSpPr/>
          <p:nvPr/>
        </p:nvSpPr>
        <p:spPr>
          <a:xfrm>
            <a:off x="1527048" y="908914"/>
            <a:ext cx="2313432" cy="32004"/>
          </a:xfrm>
          <a:prstGeom prst="rect">
            <a:avLst/>
          </a:prstGeom>
          <a:solidFill>
            <a:srgbClr val="00E5FF">
              <a:alpha val="70000"/>
            </a:srgbClr>
          </a:solidFill>
          <a:ln/>
        </p:spPr>
      </p:sp>
      <p:sp>
        <p:nvSpPr>
          <p:cNvPr id="8" name="Shape 6"/>
          <p:cNvSpPr/>
          <p:nvPr/>
        </p:nvSpPr>
        <p:spPr>
          <a:xfrm>
            <a:off x="6469380" y="1347826"/>
            <a:ext cx="3154680" cy="32004"/>
          </a:xfrm>
          <a:prstGeom prst="rect">
            <a:avLst/>
          </a:prstGeom>
          <a:solidFill>
            <a:srgbClr val="FF1A1A">
              <a:alpha val="80000"/>
            </a:srgbClr>
          </a:solidFill>
          <a:ln/>
        </p:spPr>
      </p:sp>
      <p:sp>
        <p:nvSpPr>
          <p:cNvPr id="9" name="Shape 7"/>
          <p:cNvSpPr/>
          <p:nvPr/>
        </p:nvSpPr>
        <p:spPr>
          <a:xfrm>
            <a:off x="4023360" y="1463040"/>
            <a:ext cx="4023360" cy="4709160"/>
          </a:xfrm>
          <a:prstGeom prst="roundRect">
            <a:avLst>
              <a:gd name="adj" fmla="val 1818"/>
            </a:avLst>
          </a:prstGeom>
          <a:solidFill>
            <a:srgbClr val="FFFFFF"/>
          </a:solidFill>
          <a:ln w="15875">
            <a:solidFill>
              <a:srgbClr val="FF1A1A"/>
            </a:solidFill>
            <a:prstDash val="solid"/>
          </a:ln>
          <a:effectLst>
            <a:outerShdw sx="100000" sy="100000" kx="0" ky="0" algn="bl" rotWithShape="0" blurRad="101600" dist="38100" dir="5400000">
              <a:srgbClr val="000000">
                <a:alpha val="50000"/>
              </a:srgbClr>
            </a:outerShdw>
          </a:effectLst>
        </p:spPr>
      </p:sp>
      <p:pic>
        <p:nvPicPr>
          <p:cNvPr id="10" name="Image 0" descr="/home/claude/oom/diagrams/d3_crop.png">    </p:cNvPr>
          <p:cNvPicPr>
            <a:picLocks noChangeAspect="1"/>
          </p:cNvPicPr>
          <p:nvPr/>
        </p:nvPicPr>
        <p:blipFill>
          <a:blip r:embed="rId1"/>
          <a:stretch>
            <a:fillRect/>
          </a:stretch>
        </p:blipFill>
        <p:spPr>
          <a:xfrm>
            <a:off x="4160520" y="1765326"/>
            <a:ext cx="3749040" cy="4104589"/>
          </a:xfrm>
          <a:prstGeom prst="rect">
            <a:avLst/>
          </a:prstGeom>
        </p:spPr>
      </p:pic>
      <p:sp>
        <p:nvSpPr>
          <p:cNvPr id="11" name="Text 8"/>
          <p:cNvSpPr txBox="1"/>
          <p:nvPr/>
        </p:nvSpPr>
        <p:spPr>
          <a:xfrm>
            <a:off x="731520" y="1737360"/>
            <a:ext cx="3246120" cy="4297680"/>
          </a:xfrm>
          <a:prstGeom prst="rect">
            <a:avLst/>
          </a:prstGeom>
          <a:noFill/>
          <a:ln/>
        </p:spPr>
        <p:txBody>
          <a:bodyPr wrap="square" lIns="0" tIns="0" rIns="0" bIns="0" rtlCol="0" anchor="t"/>
          <a:lstStyle/>
          <a:p>
            <a:pPr marL="228600" indent="-228600">
              <a:spcAft>
                <a:spcPts val="1400"/>
              </a:spcAft>
              <a:buSzPct val="100000"/>
              <a:buChar char="■"/>
            </a:pPr>
            <a:r>
              <a:rPr lang="en-US" sz="1300" dirty="0">
                <a:solidFill>
                  <a:srgbClr val="FFFFFF"/>
                </a:solidFill>
                <a:latin typeface="Calibri" pitchFamily="34" charset="0"/>
                <a:ea typeface="Calibri" pitchFamily="34" charset="-122"/>
                <a:cs typeface="Calibri" pitchFamily="34" charset="-120"/>
              </a:rPr>
              <a:t>cgroups v2: memory.max dispara un OOM local, limitado a los procesos de ese grupo.</a:t>
            </a:r>
            <a:endParaRPr lang="en-US" sz="1300" dirty="0"/>
          </a:p>
          <a:p>
            <a:pPr marL="228600" indent="-228600">
              <a:spcAft>
                <a:spcPts val="1400"/>
              </a:spcAft>
              <a:buSzPct val="100000"/>
              <a:buChar char="■"/>
            </a:pPr>
            <a:r>
              <a:rPr lang="en-US" sz="1300" dirty="0">
                <a:solidFill>
                  <a:srgbClr val="FFFFFF"/>
                </a:solidFill>
                <a:latin typeface="Calibri" pitchFamily="34" charset="0"/>
                <a:ea typeface="Calibri" pitchFamily="34" charset="-122"/>
                <a:cs typeface="Calibri" pitchFamily="34" charset="-120"/>
              </a:rPr>
              <a:t>Kubernetes: el kubelet monitorea container_memory_working_set_bytes.</a:t>
            </a:r>
            <a:endParaRPr lang="en-US" sz="1300" dirty="0"/>
          </a:p>
          <a:p>
            <a:pPr marL="228600" indent="-228600">
              <a:spcAft>
                <a:spcPts val="1400"/>
              </a:spcAft>
              <a:buSzPct val="100000"/>
              <a:buChar char="■"/>
            </a:pPr>
            <a:r>
              <a:rPr lang="en-US" sz="1300" dirty="0">
                <a:solidFill>
                  <a:srgbClr val="FFFFFF"/>
                </a:solidFill>
                <a:latin typeface="Calibri" pitchFamily="34" charset="0"/>
                <a:ea typeface="Calibri" pitchFamily="34" charset="-122"/>
                <a:cs typeface="Calibri" pitchFamily="34" charset="-120"/>
              </a:rPr>
              <a:t>El kubelet puede matar un pod ANTES de que el kernel active su propio OOM Killer.</a:t>
            </a:r>
            <a:endParaRPr lang="en-US" sz="1300" dirty="0"/>
          </a:p>
          <a:p>
            <a:pPr marL="228600" indent="-228600">
              <a:spcAft>
                <a:spcPts val="1400"/>
              </a:spcAft>
              <a:buSzPct val="100000"/>
              <a:buChar char="■"/>
            </a:pPr>
            <a:r>
              <a:rPr lang="en-US" sz="1300" dirty="0">
                <a:solidFill>
                  <a:srgbClr val="FFFFFF"/>
                </a:solidFill>
                <a:latin typeface="Calibri" pitchFamily="34" charset="0"/>
                <a:ea typeface="Calibri" pitchFamily="34" charset="-122"/>
                <a:cs typeface="Calibri" pitchFamily="34" charset="-120"/>
              </a:rPr>
              <a:t>Diagnóstico: un pod puede morir por decisión del kernel o del orquestador — son cosas distintas.</a:t>
            </a:r>
            <a:endParaRPr lang="en-US" sz="1300" dirty="0"/>
          </a:p>
        </p:txBody>
      </p:sp>
      <p:sp>
        <p:nvSpPr>
          <p:cNvPr id="12" name="Text 9"/>
          <p:cNvSpPr txBox="1"/>
          <p:nvPr/>
        </p:nvSpPr>
        <p:spPr>
          <a:xfrm>
            <a:off x="8092440" y="1737360"/>
            <a:ext cx="3291840" cy="914400"/>
          </a:xfrm>
          <a:prstGeom prst="rect">
            <a:avLst/>
          </a:prstGeom>
          <a:noFill/>
          <a:ln/>
        </p:spPr>
        <p:txBody>
          <a:bodyPr wrap="square" lIns="0" tIns="0" rIns="0" bIns="0" rtlCol="0" anchor="t"/>
          <a:lstStyle/>
          <a:p>
            <a:pPr marL="228600" indent="-228600">
              <a:spcAft>
                <a:spcPts val="1400"/>
              </a:spcAft>
              <a:buSzPct val="100000"/>
              <a:buChar char="■"/>
            </a:pPr>
            <a:r>
              <a:rPr lang="en-US" sz="1300" dirty="0">
                <a:solidFill>
                  <a:srgbClr val="FFFFFF"/>
                </a:solidFill>
                <a:latin typeface="Calibri" pitchFamily="34" charset="0"/>
                <a:ea typeface="Calibri" pitchFamily="34" charset="-122"/>
                <a:cs typeface="Calibri" pitchFamily="34" charset="-120"/>
              </a:rPr>
              <a:t>Evento visible: OOMKilled en kubectl describe pod.</a:t>
            </a:r>
            <a:endParaRPr lang="en-US" sz="1300" dirty="0"/>
          </a:p>
        </p:txBody>
      </p:sp>
      <p:sp>
        <p:nvSpPr>
          <p:cNvPr id="13" name="Text 10"/>
          <p:cNvSpPr txBox="1"/>
          <p:nvPr/>
        </p:nvSpPr>
        <p:spPr>
          <a:xfrm>
            <a:off x="502920" y="6473952"/>
            <a:ext cx="5486400" cy="274320"/>
          </a:xfrm>
          <a:prstGeom prst="rect">
            <a:avLst/>
          </a:prstGeom>
          <a:noFill/>
          <a:ln/>
        </p:spPr>
        <p:txBody>
          <a:bodyPr wrap="square" lIns="0" tIns="0" rIns="0" bIns="0" rtlCol="0" anchor="ctr"/>
          <a:lstStyle/>
          <a:p>
            <a:pPr indent="0" marL="0">
              <a:buNone/>
            </a:pPr>
            <a:r>
              <a:rPr lang="en-US" sz="1000" dirty="0">
                <a:solidFill>
                  <a:srgbClr val="B8B8B8"/>
                </a:solidFill>
                <a:latin typeface="Arial" pitchFamily="34" charset="0"/>
                <a:ea typeface="Arial" pitchFamily="34" charset="-122"/>
                <a:cs typeface="Arial" pitchFamily="34" charset="-120"/>
              </a:rPr>
              <a:t>OOM KILLER  ·  UTP – FISC  ·  1IL143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10881360" y="457200"/>
            <a:ext cx="1097280" cy="320040"/>
          </a:xfrm>
          <a:prstGeom prst="rect">
            <a:avLst/>
          </a:prstGeom>
          <a:noFill/>
          <a:ln/>
        </p:spPr>
        <p:txBody>
          <a:bodyPr wrap="square" lIns="0" tIns="0" rIns="0" bIns="0" rtlCol="0" anchor="ctr"/>
          <a:lstStyle/>
          <a:p>
            <a:pPr algn="r" indent="0" marL="0">
              <a:buNone/>
            </a:pPr>
            <a:r>
              <a:rPr lang="en-US" sz="1100" dirty="0">
                <a:solidFill>
                  <a:srgbClr val="B8B8B8"/>
                </a:solidFill>
                <a:latin typeface="Arial" pitchFamily="34" charset="0"/>
                <a:ea typeface="Arial" pitchFamily="34" charset="-122"/>
                <a:cs typeface="Arial" pitchFamily="34" charset="-120"/>
              </a:rPr>
              <a:t>14 / 17</a:t>
            </a:r>
            <a:endParaRPr lang="en-US" sz="1100" dirty="0"/>
          </a:p>
        </p:txBody>
      </p:sp>
      <p:sp>
        <p:nvSpPr>
          <p:cNvPr id="3" name="Text 1"/>
          <p:cNvSpPr txBox="1"/>
          <p:nvPr/>
        </p:nvSpPr>
        <p:spPr>
          <a:xfrm>
            <a:off x="731520" y="594360"/>
            <a:ext cx="7315200" cy="320040"/>
          </a:xfrm>
          <a:prstGeom prst="rect">
            <a:avLst/>
          </a:prstGeom>
          <a:noFill/>
          <a:ln/>
        </p:spPr>
        <p:txBody>
          <a:bodyPr wrap="square" lIns="0" tIns="0" rIns="0" bIns="0" rtlCol="0" anchor="ctr"/>
          <a:lstStyle/>
          <a:p>
            <a:pPr indent="0" marL="0">
              <a:buNone/>
            </a:pPr>
            <a:r>
              <a:rPr lang="en-US" sz="1200" b="1" spc="200" kern="0" dirty="0">
                <a:solidFill>
                  <a:srgbClr val="FF1A1A"/>
                </a:solidFill>
                <a:latin typeface="Arial" pitchFamily="34" charset="0"/>
                <a:ea typeface="Arial" pitchFamily="34" charset="-122"/>
                <a:cs typeface="Arial" pitchFamily="34" charset="-120"/>
              </a:rPr>
              <a:t>PROFUNDIZANDO</a:t>
            </a:r>
            <a:endParaRPr lang="en-US" sz="1200" dirty="0"/>
          </a:p>
        </p:txBody>
      </p:sp>
      <p:sp>
        <p:nvSpPr>
          <p:cNvPr id="4" name="Text 2"/>
          <p:cNvSpPr txBox="1"/>
          <p:nvPr/>
        </p:nvSpPr>
        <p:spPr>
          <a:xfrm>
            <a:off x="644652" y="850392"/>
            <a:ext cx="7772400" cy="1234440"/>
          </a:xfrm>
          <a:prstGeom prst="rect">
            <a:avLst/>
          </a:prstGeom>
          <a:noFill/>
          <a:ln/>
        </p:spPr>
        <p:txBody>
          <a:bodyPr wrap="square" lIns="0" tIns="0" rIns="0" bIns="0" rtlCol="0" anchor="ctr"/>
          <a:lstStyle/>
          <a:p>
            <a:pPr algn="l" indent="0" marL="0">
              <a:buNone/>
            </a:pPr>
            <a:r>
              <a:rPr lang="en-US" sz="2900" b="1" dirty="0">
                <a:solidFill>
                  <a:srgbClr val="00E5FF">
                    <a:alpha val="45000"/>
                  </a:srgbClr>
                </a:solidFill>
                <a:latin typeface="Arial Black" pitchFamily="34" charset="0"/>
                <a:ea typeface="Arial Black" pitchFamily="34" charset="-122"/>
                <a:cs typeface="Arial Black" pitchFamily="34" charset="-120"/>
              </a:rPr>
              <a:t>EL KERNEL SIEMPRE</a:t>
            </a:r>
            <a:endParaRPr lang="en-US" sz="2900" dirty="0"/>
          </a:p>
          <a:p>
            <a:pPr algn="l" indent="0" marL="0">
              <a:buNone/>
            </a:pPr>
            <a:r>
              <a:rPr lang="en-US" sz="2900" b="1" dirty="0">
                <a:solidFill>
                  <a:srgbClr val="00E5FF">
                    <a:alpha val="45000"/>
                  </a:srgbClr>
                </a:solidFill>
                <a:latin typeface="Arial Black" pitchFamily="34" charset="0"/>
                <a:ea typeface="Arial Black" pitchFamily="34" charset="-122"/>
                <a:cs typeface="Arial Black" pitchFamily="34" charset="-120"/>
              </a:rPr>
              <a:t>DEJA RASTRO</a:t>
            </a:r>
            <a:endParaRPr lang="en-US" sz="2900" dirty="0"/>
          </a:p>
        </p:txBody>
      </p:sp>
      <p:sp>
        <p:nvSpPr>
          <p:cNvPr id="5" name="Text 3"/>
          <p:cNvSpPr txBox="1"/>
          <p:nvPr/>
        </p:nvSpPr>
        <p:spPr>
          <a:xfrm>
            <a:off x="726948" y="891540"/>
            <a:ext cx="7772400" cy="1234440"/>
          </a:xfrm>
          <a:prstGeom prst="rect">
            <a:avLst/>
          </a:prstGeom>
          <a:noFill/>
          <a:ln/>
        </p:spPr>
        <p:txBody>
          <a:bodyPr wrap="square" lIns="0" tIns="0" rIns="0" bIns="0" rtlCol="0" anchor="ctr"/>
          <a:lstStyle/>
          <a:p>
            <a:pPr algn="l" indent="0" marL="0">
              <a:buNone/>
            </a:pPr>
            <a:r>
              <a:rPr lang="en-US" sz="2900" b="1" dirty="0">
                <a:solidFill>
                  <a:srgbClr val="8A0000">
                    <a:alpha val="65000"/>
                  </a:srgbClr>
                </a:solidFill>
                <a:latin typeface="Arial Black" pitchFamily="34" charset="0"/>
                <a:ea typeface="Arial Black" pitchFamily="34" charset="-122"/>
                <a:cs typeface="Arial Black" pitchFamily="34" charset="-120"/>
              </a:rPr>
              <a:t>EL KERNEL SIEMPRE</a:t>
            </a:r>
            <a:endParaRPr lang="en-US" sz="2900" dirty="0"/>
          </a:p>
          <a:p>
            <a:pPr algn="l" indent="0" marL="0">
              <a:buNone/>
            </a:pPr>
            <a:r>
              <a:rPr lang="en-US" sz="2900" b="1" dirty="0">
                <a:solidFill>
                  <a:srgbClr val="8A0000">
                    <a:alpha val="65000"/>
                  </a:srgbClr>
                </a:solidFill>
                <a:latin typeface="Arial Black" pitchFamily="34" charset="0"/>
                <a:ea typeface="Arial Black" pitchFamily="34" charset="-122"/>
                <a:cs typeface="Arial Black" pitchFamily="34" charset="-120"/>
              </a:rPr>
              <a:t>DEJA RASTRO</a:t>
            </a:r>
            <a:endParaRPr lang="en-US" sz="2900" dirty="0"/>
          </a:p>
        </p:txBody>
      </p:sp>
      <p:sp>
        <p:nvSpPr>
          <p:cNvPr id="6" name="Text 4"/>
          <p:cNvSpPr txBox="1"/>
          <p:nvPr/>
        </p:nvSpPr>
        <p:spPr>
          <a:xfrm>
            <a:off x="685800" y="868680"/>
            <a:ext cx="7772400" cy="1234440"/>
          </a:xfrm>
          <a:prstGeom prst="rect">
            <a:avLst/>
          </a:prstGeom>
          <a:noFill/>
          <a:ln/>
        </p:spPr>
        <p:txBody>
          <a:bodyPr wrap="square" lIns="0" tIns="0" rIns="0" bIns="0" rtlCol="0" anchor="ctr"/>
          <a:lstStyle/>
          <a:p>
            <a:pPr algn="l" indent="0" marL="0">
              <a:buNone/>
            </a:pPr>
            <a:r>
              <a:rPr lang="en-US" sz="2900" b="1" dirty="0">
                <a:solidFill>
                  <a:srgbClr val="FF1A1A"/>
                </a:solidFill>
                <a:latin typeface="Arial Black" pitchFamily="34" charset="0"/>
                <a:ea typeface="Arial Black" pitchFamily="34" charset="-122"/>
                <a:cs typeface="Arial Black" pitchFamily="34" charset="-120"/>
              </a:rPr>
              <a:t>EL KERNEL SIEMPRE</a:t>
            </a:r>
            <a:endParaRPr lang="en-US" sz="2900" dirty="0"/>
          </a:p>
          <a:p>
            <a:pPr algn="l" indent="0" marL="0">
              <a:buNone/>
            </a:pPr>
            <a:r>
              <a:rPr lang="en-US" sz="2900" b="1" dirty="0">
                <a:solidFill>
                  <a:srgbClr val="FF1A1A"/>
                </a:solidFill>
                <a:latin typeface="Arial Black" pitchFamily="34" charset="0"/>
                <a:ea typeface="Arial Black" pitchFamily="34" charset="-122"/>
                <a:cs typeface="Arial Black" pitchFamily="34" charset="-120"/>
              </a:rPr>
              <a:t>DEJA RASTRO</a:t>
            </a:r>
            <a:endParaRPr lang="en-US" sz="2900" dirty="0"/>
          </a:p>
        </p:txBody>
      </p:sp>
      <p:sp>
        <p:nvSpPr>
          <p:cNvPr id="7" name="Shape 5"/>
          <p:cNvSpPr/>
          <p:nvPr/>
        </p:nvSpPr>
        <p:spPr>
          <a:xfrm>
            <a:off x="1307592" y="1090879"/>
            <a:ext cx="1709928" cy="32004"/>
          </a:xfrm>
          <a:prstGeom prst="rect">
            <a:avLst/>
          </a:prstGeom>
          <a:solidFill>
            <a:srgbClr val="00E5FF">
              <a:alpha val="70000"/>
            </a:srgbClr>
          </a:solidFill>
          <a:ln/>
        </p:spPr>
      </p:sp>
      <p:sp>
        <p:nvSpPr>
          <p:cNvPr id="8" name="Shape 6"/>
          <p:cNvSpPr/>
          <p:nvPr/>
        </p:nvSpPr>
        <p:spPr>
          <a:xfrm>
            <a:off x="4960620" y="1831543"/>
            <a:ext cx="2331720" cy="32004"/>
          </a:xfrm>
          <a:prstGeom prst="rect">
            <a:avLst/>
          </a:prstGeom>
          <a:solidFill>
            <a:srgbClr val="FF1A1A">
              <a:alpha val="80000"/>
            </a:srgbClr>
          </a:solidFill>
          <a:ln/>
        </p:spPr>
      </p:sp>
      <p:sp>
        <p:nvSpPr>
          <p:cNvPr id="9" name="Text 7"/>
          <p:cNvSpPr txBox="1"/>
          <p:nvPr/>
        </p:nvSpPr>
        <p:spPr>
          <a:xfrm>
            <a:off x="731520" y="2331720"/>
            <a:ext cx="6492240" cy="3840480"/>
          </a:xfrm>
          <a:prstGeom prst="rect">
            <a:avLst/>
          </a:prstGeom>
          <a:noFill/>
          <a:ln/>
        </p:spPr>
        <p:txBody>
          <a:bodyPr wrap="square" lIns="0" tIns="0" rIns="0" bIns="0" rtlCol="0" anchor="t"/>
          <a:lstStyle/>
          <a:p>
            <a:pPr marL="228600" indent="-228600">
              <a:spcAft>
                <a:spcPts val="1400"/>
              </a:spcAft>
              <a:buSzPct val="100000"/>
              <a:buChar char="■"/>
            </a:pPr>
            <a:r>
              <a:rPr lang="en-US" sz="1450" dirty="0">
                <a:solidFill>
                  <a:srgbClr val="FFFFFF"/>
                </a:solidFill>
                <a:latin typeface="Calibri" pitchFamily="34" charset="0"/>
                <a:ea typeface="Calibri" pitchFamily="34" charset="-122"/>
                <a:cs typeface="Calibri" pitchFamily="34" charset="-120"/>
              </a:rPr>
              <a:t>dmesg / journalctl -k → busca la línea "invoked oom-killer".</a:t>
            </a:r>
            <a:endParaRPr lang="en-US" sz="1450" dirty="0"/>
          </a:p>
          <a:p>
            <a:pPr marL="228600" indent="-228600">
              <a:spcAft>
                <a:spcPts val="1400"/>
              </a:spcAft>
              <a:buSzPct val="100000"/>
              <a:buChar char="■"/>
            </a:pPr>
            <a:r>
              <a:rPr lang="en-US" sz="1450" dirty="0">
                <a:solidFill>
                  <a:srgbClr val="FFFFFF"/>
                </a:solidFill>
                <a:latin typeface="Calibri" pitchFamily="34" charset="0"/>
                <a:ea typeface="Calibri" pitchFamily="34" charset="-122"/>
                <a:cs typeface="Calibri" pitchFamily="34" charset="-120"/>
              </a:rPr>
              <a:t>El log incluye el proceso elegido y su oom_score en el momento del evento.</a:t>
            </a:r>
            <a:endParaRPr lang="en-US" sz="1450" dirty="0"/>
          </a:p>
          <a:p>
            <a:pPr marL="228600" indent="-228600">
              <a:spcAft>
                <a:spcPts val="1400"/>
              </a:spcAft>
              <a:buSzPct val="100000"/>
              <a:buChar char="■"/>
            </a:pPr>
            <a:r>
              <a:rPr lang="en-US" sz="1450" dirty="0">
                <a:solidFill>
                  <a:srgbClr val="FFFFFF"/>
                </a:solidFill>
                <a:latin typeface="Calibri" pitchFamily="34" charset="0"/>
                <a:ea typeface="Calibri" pitchFamily="34" charset="-122"/>
                <a:cs typeface="Calibri" pitchFamily="34" charset="-120"/>
              </a:rPr>
              <a:t>Ranking en vivo: leer /proc/[pid]/oom_score de todos los procesos y ordenar de mayor a menor.</a:t>
            </a:r>
            <a:endParaRPr lang="en-US" sz="1450" dirty="0"/>
          </a:p>
          <a:p>
            <a:pPr marL="228600" indent="-228600">
              <a:spcAft>
                <a:spcPts val="1400"/>
              </a:spcAft>
              <a:buSzPct val="100000"/>
              <a:buChar char="■"/>
            </a:pPr>
            <a:r>
              <a:rPr lang="en-US" sz="1450" dirty="0">
                <a:solidFill>
                  <a:srgbClr val="FFFFFF"/>
                </a:solidFill>
                <a:latin typeface="Calibri" pitchFamily="34" charset="0"/>
                <a:ea typeface="Calibri" pitchFamily="34" charset="-122"/>
                <a:cs typeface="Calibri" pitchFamily="34" charset="-120"/>
              </a:rPr>
              <a:t>panic_on_oom: en vez de matar un proceso, hace panic del sistema completo — usado en clusters que prefieren reinicio limpio a estado corrupto.</a:t>
            </a:r>
            <a:endParaRPr lang="en-US" sz="1450" dirty="0"/>
          </a:p>
        </p:txBody>
      </p:sp>
      <p:sp>
        <p:nvSpPr>
          <p:cNvPr id="10" name="Shape 8"/>
          <p:cNvSpPr/>
          <p:nvPr/>
        </p:nvSpPr>
        <p:spPr>
          <a:xfrm>
            <a:off x="7589520" y="2377440"/>
            <a:ext cx="3886200" cy="3566160"/>
          </a:xfrm>
          <a:prstGeom prst="roundRect">
            <a:avLst>
              <a:gd name="adj" fmla="val 2051"/>
            </a:avLst>
          </a:prstGeom>
          <a:solidFill>
            <a:srgbClr val="000000"/>
          </a:solidFill>
          <a:ln w="12700">
            <a:solidFill>
              <a:srgbClr val="FF1A1A"/>
            </a:solidFill>
            <a:prstDash val="solid"/>
          </a:ln>
        </p:spPr>
      </p:sp>
      <p:sp>
        <p:nvSpPr>
          <p:cNvPr id="11" name="Text 9"/>
          <p:cNvSpPr txBox="1"/>
          <p:nvPr/>
        </p:nvSpPr>
        <p:spPr>
          <a:xfrm>
            <a:off x="7772400" y="2606040"/>
            <a:ext cx="3520440" cy="3108960"/>
          </a:xfrm>
          <a:prstGeom prst="rect">
            <a:avLst/>
          </a:prstGeom>
          <a:noFill/>
          <a:ln/>
        </p:spPr>
        <p:txBody>
          <a:bodyPr wrap="square" lIns="0" tIns="0" rIns="0" bIns="0" rtlCol="0" anchor="ctr"/>
          <a:lstStyle/>
          <a:p>
            <a:pPr indent="0" marL="0">
              <a:lnSpc>
                <a:spcPct val="135000"/>
              </a:lnSpc>
              <a:buNone/>
            </a:pPr>
            <a:r>
              <a:rPr lang="en-US" sz="1200" dirty="0">
                <a:solidFill>
                  <a:srgbClr val="2ECC71"/>
                </a:solidFill>
                <a:latin typeface="Courier New" pitchFamily="34" charset="0"/>
                <a:ea typeface="Courier New" pitchFamily="34" charset="-122"/>
                <a:cs typeface="Courier New" pitchFamily="34" charset="-120"/>
              </a:rPr>
              <a:t>$ dmesg | grep -i oom-killer</a:t>
            </a:r>
            <a:endParaRPr lang="en-US" sz="1200" dirty="0"/>
          </a:p>
          <a:p>
            <a:pPr indent="0" marL="0">
              <a:lnSpc>
                <a:spcPct val="135000"/>
              </a:lnSpc>
              <a:buNone/>
            </a:pPr>
            <a:endParaRPr lang="en-US" sz="1200" dirty="0"/>
          </a:p>
          <a:p>
            <a:pPr indent="0" marL="0">
              <a:lnSpc>
                <a:spcPct val="135000"/>
              </a:lnSpc>
              <a:buNone/>
            </a:pPr>
            <a:r>
              <a:rPr lang="en-US" sz="1200" dirty="0">
                <a:solidFill>
                  <a:srgbClr val="2ECC71"/>
                </a:solidFill>
                <a:latin typeface="Courier New" pitchFamily="34" charset="0"/>
                <a:ea typeface="Courier New" pitchFamily="34" charset="-122"/>
                <a:cs typeface="Courier New" pitchFamily="34" charset="-120"/>
              </a:rPr>
              <a:t>kernel: postgres invoked</a:t>
            </a:r>
            <a:endParaRPr lang="en-US" sz="1200" dirty="0"/>
          </a:p>
          <a:p>
            <a:pPr indent="0" marL="0">
              <a:lnSpc>
                <a:spcPct val="135000"/>
              </a:lnSpc>
              <a:buNone/>
            </a:pPr>
            <a:r>
              <a:rPr lang="en-US" sz="1200" dirty="0">
                <a:solidFill>
                  <a:srgbClr val="2ECC71"/>
                </a:solidFill>
                <a:latin typeface="Courier New" pitchFamily="34" charset="0"/>
                <a:ea typeface="Courier New" pitchFamily="34" charset="-122"/>
                <a:cs typeface="Courier New" pitchFamily="34" charset="-120"/>
              </a:rPr>
              <a:t>oom-killer: gfp_mask=..</a:t>
            </a:r>
            <a:endParaRPr lang="en-US" sz="1200" dirty="0"/>
          </a:p>
          <a:p>
            <a:pPr indent="0" marL="0">
              <a:lnSpc>
                <a:spcPct val="135000"/>
              </a:lnSpc>
              <a:buNone/>
            </a:pPr>
            <a:r>
              <a:rPr lang="en-US" sz="1200" dirty="0">
                <a:solidFill>
                  <a:srgbClr val="2ECC71"/>
                </a:solidFill>
                <a:latin typeface="Courier New" pitchFamily="34" charset="0"/>
                <a:ea typeface="Courier New" pitchFamily="34" charset="-122"/>
                <a:cs typeface="Courier New" pitchFamily="34" charset="-120"/>
              </a:rPr>
              <a:t>out_of_memory: Killed</a:t>
            </a:r>
            <a:endParaRPr lang="en-US" sz="1200" dirty="0"/>
          </a:p>
          <a:p>
            <a:pPr indent="0" marL="0">
              <a:lnSpc>
                <a:spcPct val="135000"/>
              </a:lnSpc>
              <a:buNone/>
            </a:pPr>
            <a:r>
              <a:rPr lang="en-US" sz="1200" dirty="0">
                <a:solidFill>
                  <a:srgbClr val="2ECC71"/>
                </a:solidFill>
                <a:latin typeface="Courier New" pitchFamily="34" charset="0"/>
                <a:ea typeface="Courier New" pitchFamily="34" charset="-122"/>
                <a:cs typeface="Courier New" pitchFamily="34" charset="-120"/>
              </a:rPr>
              <a:t>process 4211 (postgres)</a:t>
            </a:r>
            <a:endParaRPr lang="en-US" sz="1200" dirty="0"/>
          </a:p>
        </p:txBody>
      </p:sp>
      <p:sp>
        <p:nvSpPr>
          <p:cNvPr id="12" name="Text 10"/>
          <p:cNvSpPr txBox="1"/>
          <p:nvPr/>
        </p:nvSpPr>
        <p:spPr>
          <a:xfrm>
            <a:off x="502920" y="6473952"/>
            <a:ext cx="5486400" cy="274320"/>
          </a:xfrm>
          <a:prstGeom prst="rect">
            <a:avLst/>
          </a:prstGeom>
          <a:noFill/>
          <a:ln/>
        </p:spPr>
        <p:txBody>
          <a:bodyPr wrap="square" lIns="0" tIns="0" rIns="0" bIns="0" rtlCol="0" anchor="ctr"/>
          <a:lstStyle/>
          <a:p>
            <a:pPr indent="0" marL="0">
              <a:buNone/>
            </a:pPr>
            <a:r>
              <a:rPr lang="en-US" sz="1000" dirty="0">
                <a:solidFill>
                  <a:srgbClr val="B8B8B8"/>
                </a:solidFill>
                <a:latin typeface="Arial" pitchFamily="34" charset="0"/>
                <a:ea typeface="Arial" pitchFamily="34" charset="-122"/>
                <a:cs typeface="Arial" pitchFamily="34" charset="-120"/>
              </a:rPr>
              <a:t>OOM KILLER  ·  UTP – FISC  ·  1IL143</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10881360" y="457200"/>
            <a:ext cx="1097280" cy="320040"/>
          </a:xfrm>
          <a:prstGeom prst="rect">
            <a:avLst/>
          </a:prstGeom>
          <a:noFill/>
          <a:ln/>
        </p:spPr>
        <p:txBody>
          <a:bodyPr wrap="square" lIns="0" tIns="0" rIns="0" bIns="0" rtlCol="0" anchor="ctr"/>
          <a:lstStyle/>
          <a:p>
            <a:pPr algn="r" indent="0" marL="0">
              <a:buNone/>
            </a:pPr>
            <a:r>
              <a:rPr lang="en-US" sz="1100" dirty="0">
                <a:solidFill>
                  <a:srgbClr val="B8B8B8"/>
                </a:solidFill>
                <a:latin typeface="Arial" pitchFamily="34" charset="0"/>
                <a:ea typeface="Arial" pitchFamily="34" charset="-122"/>
                <a:cs typeface="Arial" pitchFamily="34" charset="-120"/>
              </a:rPr>
              <a:t>15 / 17</a:t>
            </a:r>
            <a:endParaRPr lang="en-US" sz="1100" dirty="0"/>
          </a:p>
        </p:txBody>
      </p:sp>
      <p:sp>
        <p:nvSpPr>
          <p:cNvPr id="3" name="Text 1"/>
          <p:cNvSpPr txBox="1"/>
          <p:nvPr/>
        </p:nvSpPr>
        <p:spPr>
          <a:xfrm>
            <a:off x="731520" y="502920"/>
            <a:ext cx="7315200" cy="320040"/>
          </a:xfrm>
          <a:prstGeom prst="rect">
            <a:avLst/>
          </a:prstGeom>
          <a:noFill/>
          <a:ln/>
        </p:spPr>
        <p:txBody>
          <a:bodyPr wrap="square" lIns="0" tIns="0" rIns="0" bIns="0" rtlCol="0" anchor="ctr"/>
          <a:lstStyle/>
          <a:p>
            <a:pPr indent="0" marL="0">
              <a:buNone/>
            </a:pPr>
            <a:r>
              <a:rPr lang="en-US" sz="1200" b="1" spc="200" kern="0" dirty="0">
                <a:solidFill>
                  <a:srgbClr val="FF1A1A"/>
                </a:solidFill>
                <a:latin typeface="Arial" pitchFamily="34" charset="0"/>
                <a:ea typeface="Arial" pitchFamily="34" charset="-122"/>
                <a:cs typeface="Arial" pitchFamily="34" charset="-120"/>
              </a:rPr>
              <a:t>PREGUNTA PARA DISCUSIÓN</a:t>
            </a:r>
            <a:endParaRPr lang="en-US" sz="1200" dirty="0"/>
          </a:p>
        </p:txBody>
      </p:sp>
      <p:sp>
        <p:nvSpPr>
          <p:cNvPr id="4" name="Text 2"/>
          <p:cNvSpPr txBox="1"/>
          <p:nvPr/>
        </p:nvSpPr>
        <p:spPr>
          <a:xfrm>
            <a:off x="644652" y="758952"/>
            <a:ext cx="9601200" cy="1234440"/>
          </a:xfrm>
          <a:prstGeom prst="rect">
            <a:avLst/>
          </a:prstGeom>
          <a:noFill/>
          <a:ln/>
        </p:spPr>
        <p:txBody>
          <a:bodyPr wrap="square" lIns="0" tIns="0" rIns="0" bIns="0" rtlCol="0" anchor="ctr"/>
          <a:lstStyle/>
          <a:p>
            <a:pPr algn="l" indent="0" marL="0">
              <a:buNone/>
            </a:pPr>
            <a:r>
              <a:rPr lang="en-US" sz="3000" b="1" dirty="0">
                <a:solidFill>
                  <a:srgbClr val="00E5FF">
                    <a:alpha val="45000"/>
                  </a:srgbClr>
                </a:solidFill>
                <a:latin typeface="Arial Black" pitchFamily="34" charset="0"/>
                <a:ea typeface="Arial Black" pitchFamily="34" charset="-122"/>
                <a:cs typeface="Arial Black" pitchFamily="34" charset="-120"/>
              </a:rPr>
              <a:t>SI USTEDES FUERAN</a:t>
            </a:r>
            <a:endParaRPr lang="en-US" sz="3000" dirty="0"/>
          </a:p>
          <a:p>
            <a:pPr algn="l" indent="0" marL="0">
              <a:buNone/>
            </a:pPr>
            <a:r>
              <a:rPr lang="en-US" sz="3000" b="1" dirty="0">
                <a:solidFill>
                  <a:srgbClr val="00E5FF">
                    <a:alpha val="45000"/>
                  </a:srgbClr>
                </a:solidFill>
                <a:latin typeface="Arial Black" pitchFamily="34" charset="0"/>
                <a:ea typeface="Arial Black" pitchFamily="34" charset="-122"/>
                <a:cs typeface="Arial Black" pitchFamily="34" charset="-120"/>
              </a:rPr>
              <a:t>EL KERNEL...</a:t>
            </a:r>
            <a:endParaRPr lang="en-US" sz="3000" dirty="0"/>
          </a:p>
        </p:txBody>
      </p:sp>
      <p:sp>
        <p:nvSpPr>
          <p:cNvPr id="5" name="Text 3"/>
          <p:cNvSpPr txBox="1"/>
          <p:nvPr/>
        </p:nvSpPr>
        <p:spPr>
          <a:xfrm>
            <a:off x="726948" y="800100"/>
            <a:ext cx="9601200" cy="1234440"/>
          </a:xfrm>
          <a:prstGeom prst="rect">
            <a:avLst/>
          </a:prstGeom>
          <a:noFill/>
          <a:ln/>
        </p:spPr>
        <p:txBody>
          <a:bodyPr wrap="square" lIns="0" tIns="0" rIns="0" bIns="0" rtlCol="0" anchor="ctr"/>
          <a:lstStyle/>
          <a:p>
            <a:pPr algn="l" indent="0" marL="0">
              <a:buNone/>
            </a:pPr>
            <a:r>
              <a:rPr lang="en-US" sz="3000" b="1" dirty="0">
                <a:solidFill>
                  <a:srgbClr val="8A0000">
                    <a:alpha val="65000"/>
                  </a:srgbClr>
                </a:solidFill>
                <a:latin typeface="Arial Black" pitchFamily="34" charset="0"/>
                <a:ea typeface="Arial Black" pitchFamily="34" charset="-122"/>
                <a:cs typeface="Arial Black" pitchFamily="34" charset="-120"/>
              </a:rPr>
              <a:t>SI USTEDES FUERAN</a:t>
            </a:r>
            <a:endParaRPr lang="en-US" sz="3000" dirty="0"/>
          </a:p>
          <a:p>
            <a:pPr algn="l" indent="0" marL="0">
              <a:buNone/>
            </a:pPr>
            <a:r>
              <a:rPr lang="en-US" sz="3000" b="1" dirty="0">
                <a:solidFill>
                  <a:srgbClr val="8A0000">
                    <a:alpha val="65000"/>
                  </a:srgbClr>
                </a:solidFill>
                <a:latin typeface="Arial Black" pitchFamily="34" charset="0"/>
                <a:ea typeface="Arial Black" pitchFamily="34" charset="-122"/>
                <a:cs typeface="Arial Black" pitchFamily="34" charset="-120"/>
              </a:rPr>
              <a:t>EL KERNEL...</a:t>
            </a:r>
            <a:endParaRPr lang="en-US" sz="3000" dirty="0"/>
          </a:p>
        </p:txBody>
      </p:sp>
      <p:sp>
        <p:nvSpPr>
          <p:cNvPr id="6" name="Text 4"/>
          <p:cNvSpPr txBox="1"/>
          <p:nvPr/>
        </p:nvSpPr>
        <p:spPr>
          <a:xfrm>
            <a:off x="685800" y="777240"/>
            <a:ext cx="9601200" cy="1234440"/>
          </a:xfrm>
          <a:prstGeom prst="rect">
            <a:avLst/>
          </a:prstGeom>
          <a:noFill/>
          <a:ln/>
        </p:spPr>
        <p:txBody>
          <a:bodyPr wrap="square" lIns="0" tIns="0" rIns="0" bIns="0" rtlCol="0" anchor="ctr"/>
          <a:lstStyle/>
          <a:p>
            <a:pPr algn="l" indent="0" marL="0">
              <a:buNone/>
            </a:pPr>
            <a:r>
              <a:rPr lang="en-US" sz="3000" b="1" dirty="0">
                <a:solidFill>
                  <a:srgbClr val="FF1A1A"/>
                </a:solidFill>
                <a:latin typeface="Arial Black" pitchFamily="34" charset="0"/>
                <a:ea typeface="Arial Black" pitchFamily="34" charset="-122"/>
                <a:cs typeface="Arial Black" pitchFamily="34" charset="-120"/>
              </a:rPr>
              <a:t>SI USTEDES FUERAN</a:t>
            </a:r>
            <a:endParaRPr lang="en-US" sz="3000" dirty="0"/>
          </a:p>
          <a:p>
            <a:pPr algn="l" indent="0" marL="0">
              <a:buNone/>
            </a:pPr>
            <a:r>
              <a:rPr lang="en-US" sz="3000" b="1" dirty="0">
                <a:solidFill>
                  <a:srgbClr val="FF1A1A"/>
                </a:solidFill>
                <a:latin typeface="Arial Black" pitchFamily="34" charset="0"/>
                <a:ea typeface="Arial Black" pitchFamily="34" charset="-122"/>
                <a:cs typeface="Arial Black" pitchFamily="34" charset="-120"/>
              </a:rPr>
              <a:t>EL KERNEL...</a:t>
            </a:r>
            <a:endParaRPr lang="en-US" sz="3000" dirty="0"/>
          </a:p>
        </p:txBody>
      </p:sp>
      <p:sp>
        <p:nvSpPr>
          <p:cNvPr id="7" name="Shape 5"/>
          <p:cNvSpPr/>
          <p:nvPr/>
        </p:nvSpPr>
        <p:spPr>
          <a:xfrm>
            <a:off x="1453896" y="999439"/>
            <a:ext cx="2112264" cy="32004"/>
          </a:xfrm>
          <a:prstGeom prst="rect">
            <a:avLst/>
          </a:prstGeom>
          <a:solidFill>
            <a:srgbClr val="00E5FF">
              <a:alpha val="70000"/>
            </a:srgbClr>
          </a:solidFill>
          <a:ln/>
        </p:spPr>
      </p:sp>
      <p:sp>
        <p:nvSpPr>
          <p:cNvPr id="8" name="Shape 6"/>
          <p:cNvSpPr/>
          <p:nvPr/>
        </p:nvSpPr>
        <p:spPr>
          <a:xfrm>
            <a:off x="5966460" y="1740103"/>
            <a:ext cx="2880360" cy="32004"/>
          </a:xfrm>
          <a:prstGeom prst="rect">
            <a:avLst/>
          </a:prstGeom>
          <a:solidFill>
            <a:srgbClr val="FF1A1A">
              <a:alpha val="80000"/>
            </a:srgbClr>
          </a:solidFill>
          <a:ln/>
        </p:spPr>
      </p:sp>
      <p:sp>
        <p:nvSpPr>
          <p:cNvPr id="9" name="Text 7"/>
          <p:cNvSpPr txBox="1"/>
          <p:nvPr/>
        </p:nvSpPr>
        <p:spPr>
          <a:xfrm>
            <a:off x="731520" y="2057400"/>
            <a:ext cx="10515600" cy="365760"/>
          </a:xfrm>
          <a:prstGeom prst="rect">
            <a:avLst/>
          </a:prstGeom>
          <a:noFill/>
          <a:ln/>
        </p:spPr>
        <p:txBody>
          <a:bodyPr wrap="square" lIns="0" tIns="0" rIns="0" bIns="0" rtlCol="0" anchor="ctr"/>
          <a:lstStyle/>
          <a:p>
            <a:pPr indent="0" marL="0">
              <a:buNone/>
            </a:pPr>
            <a:r>
              <a:rPr lang="en-US" sz="1400" i="1" dirty="0">
                <a:solidFill>
                  <a:srgbClr val="B8B8B8"/>
                </a:solidFill>
                <a:latin typeface="Calibri" pitchFamily="34" charset="0"/>
                <a:ea typeface="Calibri" pitchFamily="34" charset="-122"/>
                <a:cs typeface="Calibri" pitchFamily="34" charset="-120"/>
              </a:rPr>
              <a:t>¿Qué proceso considerarían para terminar, y por qué? Miremos un sistema real bajo presión:</a:t>
            </a:r>
            <a:endParaRPr lang="en-US" sz="1400" dirty="0"/>
          </a:p>
        </p:txBody>
      </p:sp>
      <p:sp>
        <p:nvSpPr>
          <p:cNvPr id="10" name="Shape 8"/>
          <p:cNvSpPr/>
          <p:nvPr/>
        </p:nvSpPr>
        <p:spPr>
          <a:xfrm>
            <a:off x="731520" y="2514600"/>
            <a:ext cx="2286000" cy="411480"/>
          </a:xfrm>
          <a:prstGeom prst="rect">
            <a:avLst/>
          </a:prstGeom>
          <a:solidFill>
            <a:srgbClr val="1A0000"/>
          </a:solidFill>
          <a:ln w="9525">
            <a:solidFill>
              <a:srgbClr val="FF1A1A"/>
            </a:solidFill>
            <a:prstDash val="solid"/>
          </a:ln>
        </p:spPr>
      </p:sp>
      <p:sp>
        <p:nvSpPr>
          <p:cNvPr id="11" name="Text 9"/>
          <p:cNvSpPr txBox="1"/>
          <p:nvPr/>
        </p:nvSpPr>
        <p:spPr>
          <a:xfrm>
            <a:off x="804672" y="2514600"/>
            <a:ext cx="2139696" cy="411480"/>
          </a:xfrm>
          <a:prstGeom prst="rect">
            <a:avLst/>
          </a:prstGeom>
          <a:noFill/>
          <a:ln/>
        </p:spPr>
        <p:txBody>
          <a:bodyPr wrap="square" lIns="0" tIns="0" rIns="0" bIns="0" rtlCol="0" anchor="ctr"/>
          <a:lstStyle/>
          <a:p>
            <a:pPr indent="0" marL="0">
              <a:buNone/>
            </a:pPr>
            <a:r>
              <a:rPr lang="en-US" sz="1150" b="1" dirty="0">
                <a:solidFill>
                  <a:srgbClr val="FF1A1A"/>
                </a:solidFill>
                <a:latin typeface="Calibri" pitchFamily="34" charset="0"/>
                <a:ea typeface="Calibri" pitchFamily="34" charset="-122"/>
                <a:cs typeface="Calibri" pitchFamily="34" charset="-120"/>
              </a:rPr>
              <a:t>Proceso</a:t>
            </a:r>
            <a:endParaRPr lang="en-US" sz="1150" dirty="0"/>
          </a:p>
        </p:txBody>
      </p:sp>
      <p:sp>
        <p:nvSpPr>
          <p:cNvPr id="12" name="Shape 10"/>
          <p:cNvSpPr/>
          <p:nvPr/>
        </p:nvSpPr>
        <p:spPr>
          <a:xfrm>
            <a:off x="3017520" y="2514600"/>
            <a:ext cx="1920240" cy="411480"/>
          </a:xfrm>
          <a:prstGeom prst="rect">
            <a:avLst/>
          </a:prstGeom>
          <a:solidFill>
            <a:srgbClr val="1A0000"/>
          </a:solidFill>
          <a:ln w="9525">
            <a:solidFill>
              <a:srgbClr val="FF1A1A"/>
            </a:solidFill>
            <a:prstDash val="solid"/>
          </a:ln>
        </p:spPr>
      </p:sp>
      <p:sp>
        <p:nvSpPr>
          <p:cNvPr id="13" name="Text 11"/>
          <p:cNvSpPr txBox="1"/>
          <p:nvPr/>
        </p:nvSpPr>
        <p:spPr>
          <a:xfrm>
            <a:off x="3090672" y="2514600"/>
            <a:ext cx="1773936" cy="411480"/>
          </a:xfrm>
          <a:prstGeom prst="rect">
            <a:avLst/>
          </a:prstGeom>
          <a:noFill/>
          <a:ln/>
        </p:spPr>
        <p:txBody>
          <a:bodyPr wrap="square" lIns="0" tIns="0" rIns="0" bIns="0" rtlCol="0" anchor="ctr"/>
          <a:lstStyle/>
          <a:p>
            <a:pPr indent="0" marL="0">
              <a:buNone/>
            </a:pPr>
            <a:r>
              <a:rPr lang="en-US" sz="1150" b="1" dirty="0">
                <a:solidFill>
                  <a:srgbClr val="FF1A1A"/>
                </a:solidFill>
                <a:latin typeface="Calibri" pitchFamily="34" charset="0"/>
                <a:ea typeface="Calibri" pitchFamily="34" charset="-122"/>
                <a:cs typeface="Calibri" pitchFamily="34" charset="-120"/>
              </a:rPr>
              <a:t>RSS</a:t>
            </a:r>
            <a:endParaRPr lang="en-US" sz="1150" dirty="0"/>
          </a:p>
        </p:txBody>
      </p:sp>
      <p:sp>
        <p:nvSpPr>
          <p:cNvPr id="14" name="Shape 12"/>
          <p:cNvSpPr/>
          <p:nvPr/>
        </p:nvSpPr>
        <p:spPr>
          <a:xfrm>
            <a:off x="4937760" y="2514600"/>
            <a:ext cx="1920240" cy="411480"/>
          </a:xfrm>
          <a:prstGeom prst="rect">
            <a:avLst/>
          </a:prstGeom>
          <a:solidFill>
            <a:srgbClr val="1A0000"/>
          </a:solidFill>
          <a:ln w="9525">
            <a:solidFill>
              <a:srgbClr val="FF1A1A"/>
            </a:solidFill>
            <a:prstDash val="solid"/>
          </a:ln>
        </p:spPr>
      </p:sp>
      <p:sp>
        <p:nvSpPr>
          <p:cNvPr id="15" name="Text 13"/>
          <p:cNvSpPr txBox="1"/>
          <p:nvPr/>
        </p:nvSpPr>
        <p:spPr>
          <a:xfrm>
            <a:off x="5010912" y="2514600"/>
            <a:ext cx="1773936" cy="411480"/>
          </a:xfrm>
          <a:prstGeom prst="rect">
            <a:avLst/>
          </a:prstGeom>
          <a:noFill/>
          <a:ln/>
        </p:spPr>
        <p:txBody>
          <a:bodyPr wrap="square" lIns="0" tIns="0" rIns="0" bIns="0" rtlCol="0" anchor="ctr"/>
          <a:lstStyle/>
          <a:p>
            <a:pPr indent="0" marL="0">
              <a:buNone/>
            </a:pPr>
            <a:r>
              <a:rPr lang="en-US" sz="1150" b="1" dirty="0">
                <a:solidFill>
                  <a:srgbClr val="FF1A1A"/>
                </a:solidFill>
                <a:latin typeface="Calibri" pitchFamily="34" charset="0"/>
                <a:ea typeface="Calibri" pitchFamily="34" charset="-122"/>
                <a:cs typeface="Calibri" pitchFamily="34" charset="-120"/>
              </a:rPr>
              <a:t>Tiempo activo</a:t>
            </a:r>
            <a:endParaRPr lang="en-US" sz="1150" dirty="0"/>
          </a:p>
        </p:txBody>
      </p:sp>
      <p:sp>
        <p:nvSpPr>
          <p:cNvPr id="16" name="Shape 14"/>
          <p:cNvSpPr/>
          <p:nvPr/>
        </p:nvSpPr>
        <p:spPr>
          <a:xfrm>
            <a:off x="6858000" y="2514600"/>
            <a:ext cx="1645920" cy="411480"/>
          </a:xfrm>
          <a:prstGeom prst="rect">
            <a:avLst/>
          </a:prstGeom>
          <a:solidFill>
            <a:srgbClr val="1A0000"/>
          </a:solidFill>
          <a:ln w="9525">
            <a:solidFill>
              <a:srgbClr val="FF1A1A"/>
            </a:solidFill>
            <a:prstDash val="solid"/>
          </a:ln>
        </p:spPr>
      </p:sp>
      <p:sp>
        <p:nvSpPr>
          <p:cNvPr id="17" name="Text 15"/>
          <p:cNvSpPr txBox="1"/>
          <p:nvPr/>
        </p:nvSpPr>
        <p:spPr>
          <a:xfrm>
            <a:off x="6931152" y="2514600"/>
            <a:ext cx="1499616" cy="411480"/>
          </a:xfrm>
          <a:prstGeom prst="rect">
            <a:avLst/>
          </a:prstGeom>
          <a:noFill/>
          <a:ln/>
        </p:spPr>
        <p:txBody>
          <a:bodyPr wrap="square" lIns="0" tIns="0" rIns="0" bIns="0" rtlCol="0" anchor="ctr"/>
          <a:lstStyle/>
          <a:p>
            <a:pPr indent="0" marL="0">
              <a:buNone/>
            </a:pPr>
            <a:r>
              <a:rPr lang="en-US" sz="1150" b="1" dirty="0">
                <a:solidFill>
                  <a:srgbClr val="FF1A1A"/>
                </a:solidFill>
                <a:latin typeface="Calibri" pitchFamily="34" charset="0"/>
                <a:ea typeface="Calibri" pitchFamily="34" charset="-122"/>
                <a:cs typeface="Calibri" pitchFamily="34" charset="-120"/>
              </a:rPr>
              <a:t>oom_score_adj</a:t>
            </a:r>
            <a:endParaRPr lang="en-US" sz="1150" dirty="0"/>
          </a:p>
        </p:txBody>
      </p:sp>
      <p:sp>
        <p:nvSpPr>
          <p:cNvPr id="18" name="Shape 16"/>
          <p:cNvSpPr/>
          <p:nvPr/>
        </p:nvSpPr>
        <p:spPr>
          <a:xfrm>
            <a:off x="8503920" y="2514600"/>
            <a:ext cx="3154680" cy="411480"/>
          </a:xfrm>
          <a:prstGeom prst="rect">
            <a:avLst/>
          </a:prstGeom>
          <a:solidFill>
            <a:srgbClr val="1A0000"/>
          </a:solidFill>
          <a:ln w="9525">
            <a:solidFill>
              <a:srgbClr val="FF1A1A"/>
            </a:solidFill>
            <a:prstDash val="solid"/>
          </a:ln>
        </p:spPr>
      </p:sp>
      <p:sp>
        <p:nvSpPr>
          <p:cNvPr id="19" name="Text 17"/>
          <p:cNvSpPr txBox="1"/>
          <p:nvPr/>
        </p:nvSpPr>
        <p:spPr>
          <a:xfrm>
            <a:off x="8577072" y="2514600"/>
            <a:ext cx="3008376" cy="411480"/>
          </a:xfrm>
          <a:prstGeom prst="rect">
            <a:avLst/>
          </a:prstGeom>
          <a:noFill/>
          <a:ln/>
        </p:spPr>
        <p:txBody>
          <a:bodyPr wrap="square" lIns="0" tIns="0" rIns="0" bIns="0" rtlCol="0" anchor="ctr"/>
          <a:lstStyle/>
          <a:p>
            <a:pPr indent="0" marL="0">
              <a:buNone/>
            </a:pPr>
            <a:r>
              <a:rPr lang="en-US" sz="1150" b="1" dirty="0">
                <a:solidFill>
                  <a:srgbClr val="FF1A1A"/>
                </a:solidFill>
                <a:latin typeface="Calibri" pitchFamily="34" charset="0"/>
                <a:ea typeface="Calibri" pitchFamily="34" charset="-122"/>
                <a:cs typeface="Calibri" pitchFamily="34" charset="-120"/>
              </a:rPr>
              <a:t>Rol</a:t>
            </a:r>
            <a:endParaRPr lang="en-US" sz="1150" dirty="0"/>
          </a:p>
        </p:txBody>
      </p:sp>
      <p:sp>
        <p:nvSpPr>
          <p:cNvPr id="20" name="Shape 18"/>
          <p:cNvSpPr/>
          <p:nvPr/>
        </p:nvSpPr>
        <p:spPr>
          <a:xfrm>
            <a:off x="731520" y="2926080"/>
            <a:ext cx="2286000" cy="566928"/>
          </a:xfrm>
          <a:prstGeom prst="rect">
            <a:avLst/>
          </a:prstGeom>
          <a:solidFill>
            <a:srgbClr val="0D0D0D"/>
          </a:solidFill>
          <a:ln w="6350">
            <a:solidFill>
              <a:srgbClr val="2A2A2A"/>
            </a:solidFill>
            <a:prstDash val="solid"/>
          </a:ln>
        </p:spPr>
      </p:sp>
      <p:sp>
        <p:nvSpPr>
          <p:cNvPr id="21" name="Text 19"/>
          <p:cNvSpPr txBox="1"/>
          <p:nvPr/>
        </p:nvSpPr>
        <p:spPr>
          <a:xfrm>
            <a:off x="804672" y="2926080"/>
            <a:ext cx="2139696" cy="566928"/>
          </a:xfrm>
          <a:prstGeom prst="rect">
            <a:avLst/>
          </a:prstGeom>
          <a:noFill/>
          <a:ln/>
        </p:spPr>
        <p:txBody>
          <a:bodyPr wrap="square" lIns="0" tIns="0" rIns="0" bIns="0" rtlCol="0" anchor="ctr"/>
          <a:lstStyle/>
          <a:p>
            <a:pPr indent="0" marL="0">
              <a:buNone/>
            </a:pPr>
            <a:r>
              <a:rPr lang="en-US" sz="1250" b="1" dirty="0">
                <a:solidFill>
                  <a:srgbClr val="FFFFFF"/>
                </a:solidFill>
                <a:latin typeface="Courier New" pitchFamily="34" charset="0"/>
                <a:ea typeface="Courier New" pitchFamily="34" charset="-122"/>
                <a:cs typeface="Courier New" pitchFamily="34" charset="-120"/>
              </a:rPr>
              <a:t>sshd</a:t>
            </a:r>
            <a:endParaRPr lang="en-US" sz="1250" dirty="0"/>
          </a:p>
        </p:txBody>
      </p:sp>
      <p:sp>
        <p:nvSpPr>
          <p:cNvPr id="22" name="Shape 20"/>
          <p:cNvSpPr/>
          <p:nvPr/>
        </p:nvSpPr>
        <p:spPr>
          <a:xfrm>
            <a:off x="3017520" y="2926080"/>
            <a:ext cx="1920240" cy="566928"/>
          </a:xfrm>
          <a:prstGeom prst="rect">
            <a:avLst/>
          </a:prstGeom>
          <a:solidFill>
            <a:srgbClr val="0D0D0D"/>
          </a:solidFill>
          <a:ln w="6350">
            <a:solidFill>
              <a:srgbClr val="2A2A2A"/>
            </a:solidFill>
            <a:prstDash val="solid"/>
          </a:ln>
        </p:spPr>
      </p:sp>
      <p:sp>
        <p:nvSpPr>
          <p:cNvPr id="23" name="Text 21"/>
          <p:cNvSpPr txBox="1"/>
          <p:nvPr/>
        </p:nvSpPr>
        <p:spPr>
          <a:xfrm>
            <a:off x="3090672" y="2926080"/>
            <a:ext cx="1773936" cy="566928"/>
          </a:xfrm>
          <a:prstGeom prst="rect">
            <a:avLst/>
          </a:prstGeom>
          <a:noFill/>
          <a:ln/>
        </p:spPr>
        <p:txBody>
          <a:bodyPr wrap="square" lIns="0" tIns="0" rIns="0" bIns="0" rtlCol="0" anchor="ctr"/>
          <a:lstStyle/>
          <a:p>
            <a:pPr indent="0" marL="0">
              <a:buNone/>
            </a:pPr>
            <a:r>
              <a:rPr lang="en-US" sz="1100" dirty="0">
                <a:solidFill>
                  <a:srgbClr val="B8B8B8"/>
                </a:solidFill>
                <a:latin typeface="Calibri" pitchFamily="34" charset="0"/>
                <a:ea typeface="Calibri" pitchFamily="34" charset="-122"/>
                <a:cs typeface="Calibri" pitchFamily="34" charset="-120"/>
              </a:rPr>
              <a:t>8 MB</a:t>
            </a:r>
            <a:endParaRPr lang="en-US" sz="1100" dirty="0"/>
          </a:p>
        </p:txBody>
      </p:sp>
      <p:sp>
        <p:nvSpPr>
          <p:cNvPr id="24" name="Shape 22"/>
          <p:cNvSpPr/>
          <p:nvPr/>
        </p:nvSpPr>
        <p:spPr>
          <a:xfrm>
            <a:off x="4937760" y="2926080"/>
            <a:ext cx="1920240" cy="566928"/>
          </a:xfrm>
          <a:prstGeom prst="rect">
            <a:avLst/>
          </a:prstGeom>
          <a:solidFill>
            <a:srgbClr val="0D0D0D"/>
          </a:solidFill>
          <a:ln w="6350">
            <a:solidFill>
              <a:srgbClr val="2A2A2A"/>
            </a:solidFill>
            <a:prstDash val="solid"/>
          </a:ln>
        </p:spPr>
      </p:sp>
      <p:sp>
        <p:nvSpPr>
          <p:cNvPr id="25" name="Text 23"/>
          <p:cNvSpPr txBox="1"/>
          <p:nvPr/>
        </p:nvSpPr>
        <p:spPr>
          <a:xfrm>
            <a:off x="5010912" y="2926080"/>
            <a:ext cx="1773936" cy="566928"/>
          </a:xfrm>
          <a:prstGeom prst="rect">
            <a:avLst/>
          </a:prstGeom>
          <a:noFill/>
          <a:ln/>
        </p:spPr>
        <p:txBody>
          <a:bodyPr wrap="square" lIns="0" tIns="0" rIns="0" bIns="0" rtlCol="0" anchor="ctr"/>
          <a:lstStyle/>
          <a:p>
            <a:pPr indent="0" marL="0">
              <a:buNone/>
            </a:pPr>
            <a:r>
              <a:rPr lang="en-US" sz="1100" dirty="0">
                <a:solidFill>
                  <a:srgbClr val="B8B8B8"/>
                </a:solidFill>
                <a:latin typeface="Calibri" pitchFamily="34" charset="0"/>
                <a:ea typeface="Calibri" pitchFamily="34" charset="-122"/>
                <a:cs typeface="Calibri" pitchFamily="34" charset="-120"/>
              </a:rPr>
              <a:t>40 días</a:t>
            </a:r>
            <a:endParaRPr lang="en-US" sz="1100" dirty="0"/>
          </a:p>
        </p:txBody>
      </p:sp>
      <p:sp>
        <p:nvSpPr>
          <p:cNvPr id="26" name="Shape 24"/>
          <p:cNvSpPr/>
          <p:nvPr/>
        </p:nvSpPr>
        <p:spPr>
          <a:xfrm>
            <a:off x="6858000" y="2926080"/>
            <a:ext cx="1645920" cy="566928"/>
          </a:xfrm>
          <a:prstGeom prst="rect">
            <a:avLst/>
          </a:prstGeom>
          <a:solidFill>
            <a:srgbClr val="0D0D0D"/>
          </a:solidFill>
          <a:ln w="6350">
            <a:solidFill>
              <a:srgbClr val="2A2A2A"/>
            </a:solidFill>
            <a:prstDash val="solid"/>
          </a:ln>
        </p:spPr>
      </p:sp>
      <p:sp>
        <p:nvSpPr>
          <p:cNvPr id="27" name="Text 25"/>
          <p:cNvSpPr txBox="1"/>
          <p:nvPr/>
        </p:nvSpPr>
        <p:spPr>
          <a:xfrm>
            <a:off x="6931152" y="2926080"/>
            <a:ext cx="1499616" cy="566928"/>
          </a:xfrm>
          <a:prstGeom prst="rect">
            <a:avLst/>
          </a:prstGeom>
          <a:noFill/>
          <a:ln/>
        </p:spPr>
        <p:txBody>
          <a:bodyPr wrap="square" lIns="0" tIns="0" rIns="0" bIns="0" rtlCol="0" anchor="ctr"/>
          <a:lstStyle/>
          <a:p>
            <a:pPr indent="0" marL="0">
              <a:buNone/>
            </a:pPr>
            <a:r>
              <a:rPr lang="en-US" sz="1100" dirty="0">
                <a:solidFill>
                  <a:srgbClr val="B8B8B8"/>
                </a:solidFill>
                <a:latin typeface="Calibri" pitchFamily="34" charset="0"/>
                <a:ea typeface="Calibri" pitchFamily="34" charset="-122"/>
                <a:cs typeface="Calibri" pitchFamily="34" charset="-120"/>
              </a:rPr>
              <a:t>-1000</a:t>
            </a:r>
            <a:endParaRPr lang="en-US" sz="1100" dirty="0"/>
          </a:p>
        </p:txBody>
      </p:sp>
      <p:sp>
        <p:nvSpPr>
          <p:cNvPr id="28" name="Shape 26"/>
          <p:cNvSpPr/>
          <p:nvPr/>
        </p:nvSpPr>
        <p:spPr>
          <a:xfrm>
            <a:off x="8503920" y="2926080"/>
            <a:ext cx="3154680" cy="566928"/>
          </a:xfrm>
          <a:prstGeom prst="rect">
            <a:avLst/>
          </a:prstGeom>
          <a:solidFill>
            <a:srgbClr val="0D0D0D"/>
          </a:solidFill>
          <a:ln w="6350">
            <a:solidFill>
              <a:srgbClr val="2A2A2A"/>
            </a:solidFill>
            <a:prstDash val="solid"/>
          </a:ln>
        </p:spPr>
      </p:sp>
      <p:sp>
        <p:nvSpPr>
          <p:cNvPr id="29" name="Text 27"/>
          <p:cNvSpPr txBox="1"/>
          <p:nvPr/>
        </p:nvSpPr>
        <p:spPr>
          <a:xfrm>
            <a:off x="8577072" y="2926080"/>
            <a:ext cx="3008376" cy="566928"/>
          </a:xfrm>
          <a:prstGeom prst="rect">
            <a:avLst/>
          </a:prstGeom>
          <a:noFill/>
          <a:ln/>
        </p:spPr>
        <p:txBody>
          <a:bodyPr wrap="square" lIns="0" tIns="0" rIns="0" bIns="0" rtlCol="0" anchor="ctr"/>
          <a:lstStyle/>
          <a:p>
            <a:pPr indent="0" marL="0">
              <a:buNone/>
            </a:pPr>
            <a:r>
              <a:rPr lang="en-US" sz="1100" dirty="0">
                <a:solidFill>
                  <a:srgbClr val="B8B8B8"/>
                </a:solidFill>
                <a:latin typeface="Calibri" pitchFamily="34" charset="0"/>
                <a:ea typeface="Calibri" pitchFamily="34" charset="-122"/>
                <a:cs typeface="Calibri" pitchFamily="34" charset="-120"/>
              </a:rPr>
              <a:t>Acceso remoto al servidor</a:t>
            </a:r>
            <a:endParaRPr lang="en-US" sz="1100" dirty="0"/>
          </a:p>
        </p:txBody>
      </p:sp>
      <p:sp>
        <p:nvSpPr>
          <p:cNvPr id="30" name="Shape 28"/>
          <p:cNvSpPr/>
          <p:nvPr/>
        </p:nvSpPr>
        <p:spPr>
          <a:xfrm>
            <a:off x="731520" y="3493008"/>
            <a:ext cx="2286000" cy="566928"/>
          </a:xfrm>
          <a:prstGeom prst="rect">
            <a:avLst/>
          </a:prstGeom>
          <a:solidFill>
            <a:srgbClr val="141414"/>
          </a:solidFill>
          <a:ln w="6350">
            <a:solidFill>
              <a:srgbClr val="2A2A2A"/>
            </a:solidFill>
            <a:prstDash val="solid"/>
          </a:ln>
        </p:spPr>
      </p:sp>
      <p:sp>
        <p:nvSpPr>
          <p:cNvPr id="31" name="Text 29"/>
          <p:cNvSpPr txBox="1"/>
          <p:nvPr/>
        </p:nvSpPr>
        <p:spPr>
          <a:xfrm>
            <a:off x="804672" y="3493008"/>
            <a:ext cx="2139696" cy="566928"/>
          </a:xfrm>
          <a:prstGeom prst="rect">
            <a:avLst/>
          </a:prstGeom>
          <a:noFill/>
          <a:ln/>
        </p:spPr>
        <p:txBody>
          <a:bodyPr wrap="square" lIns="0" tIns="0" rIns="0" bIns="0" rtlCol="0" anchor="ctr"/>
          <a:lstStyle/>
          <a:p>
            <a:pPr indent="0" marL="0">
              <a:buNone/>
            </a:pPr>
            <a:r>
              <a:rPr lang="en-US" sz="1250" b="1" dirty="0">
                <a:solidFill>
                  <a:srgbClr val="FFFFFF"/>
                </a:solidFill>
                <a:latin typeface="Courier New" pitchFamily="34" charset="0"/>
                <a:ea typeface="Courier New" pitchFamily="34" charset="-122"/>
                <a:cs typeface="Courier New" pitchFamily="34" charset="-120"/>
              </a:rPr>
              <a:t>chrome (pestaña)</a:t>
            </a:r>
            <a:endParaRPr lang="en-US" sz="1250" dirty="0"/>
          </a:p>
        </p:txBody>
      </p:sp>
      <p:sp>
        <p:nvSpPr>
          <p:cNvPr id="32" name="Shape 30"/>
          <p:cNvSpPr/>
          <p:nvPr/>
        </p:nvSpPr>
        <p:spPr>
          <a:xfrm>
            <a:off x="3017520" y="3493008"/>
            <a:ext cx="1920240" cy="566928"/>
          </a:xfrm>
          <a:prstGeom prst="rect">
            <a:avLst/>
          </a:prstGeom>
          <a:solidFill>
            <a:srgbClr val="141414"/>
          </a:solidFill>
          <a:ln w="6350">
            <a:solidFill>
              <a:srgbClr val="2A2A2A"/>
            </a:solidFill>
            <a:prstDash val="solid"/>
          </a:ln>
        </p:spPr>
      </p:sp>
      <p:sp>
        <p:nvSpPr>
          <p:cNvPr id="33" name="Text 31"/>
          <p:cNvSpPr txBox="1"/>
          <p:nvPr/>
        </p:nvSpPr>
        <p:spPr>
          <a:xfrm>
            <a:off x="3090672" y="3493008"/>
            <a:ext cx="1773936" cy="566928"/>
          </a:xfrm>
          <a:prstGeom prst="rect">
            <a:avLst/>
          </a:prstGeom>
          <a:noFill/>
          <a:ln/>
        </p:spPr>
        <p:txBody>
          <a:bodyPr wrap="square" lIns="0" tIns="0" rIns="0" bIns="0" rtlCol="0" anchor="ctr"/>
          <a:lstStyle/>
          <a:p>
            <a:pPr indent="0" marL="0">
              <a:buNone/>
            </a:pPr>
            <a:r>
              <a:rPr lang="en-US" sz="1100" dirty="0">
                <a:solidFill>
                  <a:srgbClr val="B8B8B8"/>
                </a:solidFill>
                <a:latin typeface="Calibri" pitchFamily="34" charset="0"/>
                <a:ea typeface="Calibri" pitchFamily="34" charset="-122"/>
                <a:cs typeface="Calibri" pitchFamily="34" charset="-120"/>
              </a:rPr>
              <a:t>1.8 GB</a:t>
            </a:r>
            <a:endParaRPr lang="en-US" sz="1100" dirty="0"/>
          </a:p>
        </p:txBody>
      </p:sp>
      <p:sp>
        <p:nvSpPr>
          <p:cNvPr id="34" name="Shape 32"/>
          <p:cNvSpPr/>
          <p:nvPr/>
        </p:nvSpPr>
        <p:spPr>
          <a:xfrm>
            <a:off x="4937760" y="3493008"/>
            <a:ext cx="1920240" cy="566928"/>
          </a:xfrm>
          <a:prstGeom prst="rect">
            <a:avLst/>
          </a:prstGeom>
          <a:solidFill>
            <a:srgbClr val="141414"/>
          </a:solidFill>
          <a:ln w="6350">
            <a:solidFill>
              <a:srgbClr val="2A2A2A"/>
            </a:solidFill>
            <a:prstDash val="solid"/>
          </a:ln>
        </p:spPr>
      </p:sp>
      <p:sp>
        <p:nvSpPr>
          <p:cNvPr id="35" name="Text 33"/>
          <p:cNvSpPr txBox="1"/>
          <p:nvPr/>
        </p:nvSpPr>
        <p:spPr>
          <a:xfrm>
            <a:off x="5010912" y="3493008"/>
            <a:ext cx="1773936" cy="566928"/>
          </a:xfrm>
          <a:prstGeom prst="rect">
            <a:avLst/>
          </a:prstGeom>
          <a:noFill/>
          <a:ln/>
        </p:spPr>
        <p:txBody>
          <a:bodyPr wrap="square" lIns="0" tIns="0" rIns="0" bIns="0" rtlCol="0" anchor="ctr"/>
          <a:lstStyle/>
          <a:p>
            <a:pPr indent="0" marL="0">
              <a:buNone/>
            </a:pPr>
            <a:r>
              <a:rPr lang="en-US" sz="1100" dirty="0">
                <a:solidFill>
                  <a:srgbClr val="B8B8B8"/>
                </a:solidFill>
                <a:latin typeface="Calibri" pitchFamily="34" charset="0"/>
                <a:ea typeface="Calibri" pitchFamily="34" charset="-122"/>
                <a:cs typeface="Calibri" pitchFamily="34" charset="-120"/>
              </a:rPr>
              <a:t>6 min</a:t>
            </a:r>
            <a:endParaRPr lang="en-US" sz="1100" dirty="0"/>
          </a:p>
        </p:txBody>
      </p:sp>
      <p:sp>
        <p:nvSpPr>
          <p:cNvPr id="36" name="Shape 34"/>
          <p:cNvSpPr/>
          <p:nvPr/>
        </p:nvSpPr>
        <p:spPr>
          <a:xfrm>
            <a:off x="6858000" y="3493008"/>
            <a:ext cx="1645920" cy="566928"/>
          </a:xfrm>
          <a:prstGeom prst="rect">
            <a:avLst/>
          </a:prstGeom>
          <a:solidFill>
            <a:srgbClr val="141414"/>
          </a:solidFill>
          <a:ln w="6350">
            <a:solidFill>
              <a:srgbClr val="2A2A2A"/>
            </a:solidFill>
            <a:prstDash val="solid"/>
          </a:ln>
        </p:spPr>
      </p:sp>
      <p:sp>
        <p:nvSpPr>
          <p:cNvPr id="37" name="Text 35"/>
          <p:cNvSpPr txBox="1"/>
          <p:nvPr/>
        </p:nvSpPr>
        <p:spPr>
          <a:xfrm>
            <a:off x="6931152" y="3493008"/>
            <a:ext cx="1499616" cy="566928"/>
          </a:xfrm>
          <a:prstGeom prst="rect">
            <a:avLst/>
          </a:prstGeom>
          <a:noFill/>
          <a:ln/>
        </p:spPr>
        <p:txBody>
          <a:bodyPr wrap="square" lIns="0" tIns="0" rIns="0" bIns="0" rtlCol="0" anchor="ctr"/>
          <a:lstStyle/>
          <a:p>
            <a:pPr indent="0" marL="0">
              <a:buNone/>
            </a:pPr>
            <a:r>
              <a:rPr lang="en-US" sz="1100" dirty="0">
                <a:solidFill>
                  <a:srgbClr val="B8B8B8"/>
                </a:solidFill>
                <a:latin typeface="Calibri" pitchFamily="34" charset="0"/>
                <a:ea typeface="Calibri" pitchFamily="34" charset="-122"/>
                <a:cs typeface="Calibri" pitchFamily="34" charset="-120"/>
              </a:rPr>
              <a:t>0</a:t>
            </a:r>
            <a:endParaRPr lang="en-US" sz="1100" dirty="0"/>
          </a:p>
        </p:txBody>
      </p:sp>
      <p:sp>
        <p:nvSpPr>
          <p:cNvPr id="38" name="Shape 36"/>
          <p:cNvSpPr/>
          <p:nvPr/>
        </p:nvSpPr>
        <p:spPr>
          <a:xfrm>
            <a:off x="8503920" y="3493008"/>
            <a:ext cx="3154680" cy="566928"/>
          </a:xfrm>
          <a:prstGeom prst="rect">
            <a:avLst/>
          </a:prstGeom>
          <a:solidFill>
            <a:srgbClr val="141414"/>
          </a:solidFill>
          <a:ln w="6350">
            <a:solidFill>
              <a:srgbClr val="2A2A2A"/>
            </a:solidFill>
            <a:prstDash val="solid"/>
          </a:ln>
        </p:spPr>
      </p:sp>
      <p:sp>
        <p:nvSpPr>
          <p:cNvPr id="39" name="Text 37"/>
          <p:cNvSpPr txBox="1"/>
          <p:nvPr/>
        </p:nvSpPr>
        <p:spPr>
          <a:xfrm>
            <a:off x="8577072" y="3493008"/>
            <a:ext cx="3008376" cy="566928"/>
          </a:xfrm>
          <a:prstGeom prst="rect">
            <a:avLst/>
          </a:prstGeom>
          <a:noFill/>
          <a:ln/>
        </p:spPr>
        <p:txBody>
          <a:bodyPr wrap="square" lIns="0" tIns="0" rIns="0" bIns="0" rtlCol="0" anchor="ctr"/>
          <a:lstStyle/>
          <a:p>
            <a:pPr indent="0" marL="0">
              <a:buNone/>
            </a:pPr>
            <a:r>
              <a:rPr lang="en-US" sz="1100" dirty="0">
                <a:solidFill>
                  <a:srgbClr val="B8B8B8"/>
                </a:solidFill>
                <a:latin typeface="Calibri" pitchFamily="34" charset="0"/>
                <a:ea typeface="Calibri" pitchFamily="34" charset="-122"/>
                <a:cs typeface="Calibri" pitchFamily="34" charset="-120"/>
              </a:rPr>
              <a:t>Pestaña de usuario recién abierta</a:t>
            </a:r>
            <a:endParaRPr lang="en-US" sz="1100" dirty="0"/>
          </a:p>
        </p:txBody>
      </p:sp>
      <p:sp>
        <p:nvSpPr>
          <p:cNvPr id="40" name="Shape 38"/>
          <p:cNvSpPr/>
          <p:nvPr/>
        </p:nvSpPr>
        <p:spPr>
          <a:xfrm>
            <a:off x="731520" y="4059936"/>
            <a:ext cx="2286000" cy="566928"/>
          </a:xfrm>
          <a:prstGeom prst="rect">
            <a:avLst/>
          </a:prstGeom>
          <a:solidFill>
            <a:srgbClr val="0D0D0D"/>
          </a:solidFill>
          <a:ln w="6350">
            <a:solidFill>
              <a:srgbClr val="2A2A2A"/>
            </a:solidFill>
            <a:prstDash val="solid"/>
          </a:ln>
        </p:spPr>
      </p:sp>
      <p:sp>
        <p:nvSpPr>
          <p:cNvPr id="41" name="Text 39"/>
          <p:cNvSpPr txBox="1"/>
          <p:nvPr/>
        </p:nvSpPr>
        <p:spPr>
          <a:xfrm>
            <a:off x="804672" y="4059936"/>
            <a:ext cx="2139696" cy="566928"/>
          </a:xfrm>
          <a:prstGeom prst="rect">
            <a:avLst/>
          </a:prstGeom>
          <a:noFill/>
          <a:ln/>
        </p:spPr>
        <p:txBody>
          <a:bodyPr wrap="square" lIns="0" tIns="0" rIns="0" bIns="0" rtlCol="0" anchor="ctr"/>
          <a:lstStyle/>
          <a:p>
            <a:pPr indent="0" marL="0">
              <a:buNone/>
            </a:pPr>
            <a:r>
              <a:rPr lang="en-US" sz="1250" b="1" dirty="0">
                <a:solidFill>
                  <a:srgbClr val="FFFFFF"/>
                </a:solidFill>
                <a:latin typeface="Courier New" pitchFamily="34" charset="0"/>
                <a:ea typeface="Courier New" pitchFamily="34" charset="-122"/>
                <a:cs typeface="Courier New" pitchFamily="34" charset="-120"/>
              </a:rPr>
              <a:t>postgres</a:t>
            </a:r>
            <a:endParaRPr lang="en-US" sz="1250" dirty="0"/>
          </a:p>
        </p:txBody>
      </p:sp>
      <p:sp>
        <p:nvSpPr>
          <p:cNvPr id="42" name="Shape 40"/>
          <p:cNvSpPr/>
          <p:nvPr/>
        </p:nvSpPr>
        <p:spPr>
          <a:xfrm>
            <a:off x="3017520" y="4059936"/>
            <a:ext cx="1920240" cy="566928"/>
          </a:xfrm>
          <a:prstGeom prst="rect">
            <a:avLst/>
          </a:prstGeom>
          <a:solidFill>
            <a:srgbClr val="0D0D0D"/>
          </a:solidFill>
          <a:ln w="6350">
            <a:solidFill>
              <a:srgbClr val="2A2A2A"/>
            </a:solidFill>
            <a:prstDash val="solid"/>
          </a:ln>
        </p:spPr>
      </p:sp>
      <p:sp>
        <p:nvSpPr>
          <p:cNvPr id="43" name="Text 41"/>
          <p:cNvSpPr txBox="1"/>
          <p:nvPr/>
        </p:nvSpPr>
        <p:spPr>
          <a:xfrm>
            <a:off x="3090672" y="4059936"/>
            <a:ext cx="1773936" cy="566928"/>
          </a:xfrm>
          <a:prstGeom prst="rect">
            <a:avLst/>
          </a:prstGeom>
          <a:noFill/>
          <a:ln/>
        </p:spPr>
        <p:txBody>
          <a:bodyPr wrap="square" lIns="0" tIns="0" rIns="0" bIns="0" rtlCol="0" anchor="ctr"/>
          <a:lstStyle/>
          <a:p>
            <a:pPr indent="0" marL="0">
              <a:buNone/>
            </a:pPr>
            <a:r>
              <a:rPr lang="en-US" sz="1100" dirty="0">
                <a:solidFill>
                  <a:srgbClr val="B8B8B8"/>
                </a:solidFill>
                <a:latin typeface="Calibri" pitchFamily="34" charset="0"/>
                <a:ea typeface="Calibri" pitchFamily="34" charset="-122"/>
                <a:cs typeface="Calibri" pitchFamily="34" charset="-120"/>
              </a:rPr>
              <a:t>2.4 GB</a:t>
            </a:r>
            <a:endParaRPr lang="en-US" sz="1100" dirty="0"/>
          </a:p>
        </p:txBody>
      </p:sp>
      <p:sp>
        <p:nvSpPr>
          <p:cNvPr id="44" name="Shape 42"/>
          <p:cNvSpPr/>
          <p:nvPr/>
        </p:nvSpPr>
        <p:spPr>
          <a:xfrm>
            <a:off x="4937760" y="4059936"/>
            <a:ext cx="1920240" cy="566928"/>
          </a:xfrm>
          <a:prstGeom prst="rect">
            <a:avLst/>
          </a:prstGeom>
          <a:solidFill>
            <a:srgbClr val="0D0D0D"/>
          </a:solidFill>
          <a:ln w="6350">
            <a:solidFill>
              <a:srgbClr val="2A2A2A"/>
            </a:solidFill>
            <a:prstDash val="solid"/>
          </a:ln>
        </p:spPr>
      </p:sp>
      <p:sp>
        <p:nvSpPr>
          <p:cNvPr id="45" name="Text 43"/>
          <p:cNvSpPr txBox="1"/>
          <p:nvPr/>
        </p:nvSpPr>
        <p:spPr>
          <a:xfrm>
            <a:off x="5010912" y="4059936"/>
            <a:ext cx="1773936" cy="566928"/>
          </a:xfrm>
          <a:prstGeom prst="rect">
            <a:avLst/>
          </a:prstGeom>
          <a:noFill/>
          <a:ln/>
        </p:spPr>
        <p:txBody>
          <a:bodyPr wrap="square" lIns="0" tIns="0" rIns="0" bIns="0" rtlCol="0" anchor="ctr"/>
          <a:lstStyle/>
          <a:p>
            <a:pPr indent="0" marL="0">
              <a:buNone/>
            </a:pPr>
            <a:r>
              <a:rPr lang="en-US" sz="1100" dirty="0">
                <a:solidFill>
                  <a:srgbClr val="B8B8B8"/>
                </a:solidFill>
                <a:latin typeface="Calibri" pitchFamily="34" charset="0"/>
                <a:ea typeface="Calibri" pitchFamily="34" charset="-122"/>
                <a:cs typeface="Calibri" pitchFamily="34" charset="-120"/>
              </a:rPr>
              <a:t>40 días</a:t>
            </a:r>
            <a:endParaRPr lang="en-US" sz="1100" dirty="0"/>
          </a:p>
        </p:txBody>
      </p:sp>
      <p:sp>
        <p:nvSpPr>
          <p:cNvPr id="46" name="Shape 44"/>
          <p:cNvSpPr/>
          <p:nvPr/>
        </p:nvSpPr>
        <p:spPr>
          <a:xfrm>
            <a:off x="6858000" y="4059936"/>
            <a:ext cx="1645920" cy="566928"/>
          </a:xfrm>
          <a:prstGeom prst="rect">
            <a:avLst/>
          </a:prstGeom>
          <a:solidFill>
            <a:srgbClr val="0D0D0D"/>
          </a:solidFill>
          <a:ln w="6350">
            <a:solidFill>
              <a:srgbClr val="2A2A2A"/>
            </a:solidFill>
            <a:prstDash val="solid"/>
          </a:ln>
        </p:spPr>
      </p:sp>
      <p:sp>
        <p:nvSpPr>
          <p:cNvPr id="47" name="Text 45"/>
          <p:cNvSpPr txBox="1"/>
          <p:nvPr/>
        </p:nvSpPr>
        <p:spPr>
          <a:xfrm>
            <a:off x="6931152" y="4059936"/>
            <a:ext cx="1499616" cy="566928"/>
          </a:xfrm>
          <a:prstGeom prst="rect">
            <a:avLst/>
          </a:prstGeom>
          <a:noFill/>
          <a:ln/>
        </p:spPr>
        <p:txBody>
          <a:bodyPr wrap="square" lIns="0" tIns="0" rIns="0" bIns="0" rtlCol="0" anchor="ctr"/>
          <a:lstStyle/>
          <a:p>
            <a:pPr indent="0" marL="0">
              <a:buNone/>
            </a:pPr>
            <a:r>
              <a:rPr lang="en-US" sz="1100" dirty="0">
                <a:solidFill>
                  <a:srgbClr val="B8B8B8"/>
                </a:solidFill>
                <a:latin typeface="Calibri" pitchFamily="34" charset="0"/>
                <a:ea typeface="Calibri" pitchFamily="34" charset="-122"/>
                <a:cs typeface="Calibri" pitchFamily="34" charset="-120"/>
              </a:rPr>
              <a:t>0</a:t>
            </a:r>
            <a:endParaRPr lang="en-US" sz="1100" dirty="0"/>
          </a:p>
        </p:txBody>
      </p:sp>
      <p:sp>
        <p:nvSpPr>
          <p:cNvPr id="48" name="Shape 46"/>
          <p:cNvSpPr/>
          <p:nvPr/>
        </p:nvSpPr>
        <p:spPr>
          <a:xfrm>
            <a:off x="8503920" y="4059936"/>
            <a:ext cx="3154680" cy="566928"/>
          </a:xfrm>
          <a:prstGeom prst="rect">
            <a:avLst/>
          </a:prstGeom>
          <a:solidFill>
            <a:srgbClr val="0D0D0D"/>
          </a:solidFill>
          <a:ln w="6350">
            <a:solidFill>
              <a:srgbClr val="2A2A2A"/>
            </a:solidFill>
            <a:prstDash val="solid"/>
          </a:ln>
        </p:spPr>
      </p:sp>
      <p:sp>
        <p:nvSpPr>
          <p:cNvPr id="49" name="Text 47"/>
          <p:cNvSpPr txBox="1"/>
          <p:nvPr/>
        </p:nvSpPr>
        <p:spPr>
          <a:xfrm>
            <a:off x="8577072" y="4059936"/>
            <a:ext cx="3008376" cy="566928"/>
          </a:xfrm>
          <a:prstGeom prst="rect">
            <a:avLst/>
          </a:prstGeom>
          <a:noFill/>
          <a:ln/>
        </p:spPr>
        <p:txBody>
          <a:bodyPr wrap="square" lIns="0" tIns="0" rIns="0" bIns="0" rtlCol="0" anchor="ctr"/>
          <a:lstStyle/>
          <a:p>
            <a:pPr indent="0" marL="0">
              <a:buNone/>
            </a:pPr>
            <a:r>
              <a:rPr lang="en-US" sz="1100" dirty="0">
                <a:solidFill>
                  <a:srgbClr val="B8B8B8"/>
                </a:solidFill>
                <a:latin typeface="Calibri" pitchFamily="34" charset="0"/>
                <a:ea typeface="Calibri" pitchFamily="34" charset="-122"/>
                <a:cs typeface="Calibri" pitchFamily="34" charset="-120"/>
              </a:rPr>
              <a:t>Base de datos en producción</a:t>
            </a:r>
            <a:endParaRPr lang="en-US" sz="1100" dirty="0"/>
          </a:p>
        </p:txBody>
      </p:sp>
      <p:sp>
        <p:nvSpPr>
          <p:cNvPr id="50" name="Shape 48"/>
          <p:cNvSpPr/>
          <p:nvPr/>
        </p:nvSpPr>
        <p:spPr>
          <a:xfrm>
            <a:off x="731520" y="4626864"/>
            <a:ext cx="2286000" cy="566928"/>
          </a:xfrm>
          <a:prstGeom prst="rect">
            <a:avLst/>
          </a:prstGeom>
          <a:solidFill>
            <a:srgbClr val="141414"/>
          </a:solidFill>
          <a:ln w="6350">
            <a:solidFill>
              <a:srgbClr val="2A2A2A"/>
            </a:solidFill>
            <a:prstDash val="solid"/>
          </a:ln>
        </p:spPr>
      </p:sp>
      <p:sp>
        <p:nvSpPr>
          <p:cNvPr id="51" name="Text 49"/>
          <p:cNvSpPr txBox="1"/>
          <p:nvPr/>
        </p:nvSpPr>
        <p:spPr>
          <a:xfrm>
            <a:off x="804672" y="4626864"/>
            <a:ext cx="2139696" cy="566928"/>
          </a:xfrm>
          <a:prstGeom prst="rect">
            <a:avLst/>
          </a:prstGeom>
          <a:noFill/>
          <a:ln/>
        </p:spPr>
        <p:txBody>
          <a:bodyPr wrap="square" lIns="0" tIns="0" rIns="0" bIns="0" rtlCol="0" anchor="ctr"/>
          <a:lstStyle/>
          <a:p>
            <a:pPr indent="0" marL="0">
              <a:buNone/>
            </a:pPr>
            <a:r>
              <a:rPr lang="en-US" sz="1250" b="1" dirty="0">
                <a:solidFill>
                  <a:srgbClr val="FFFFFF"/>
                </a:solidFill>
                <a:latin typeface="Courier New" pitchFamily="34" charset="0"/>
                <a:ea typeface="Courier New" pitchFamily="34" charset="-122"/>
                <a:cs typeface="Courier New" pitchFamily="34" charset="-120"/>
              </a:rPr>
              <a:t>backup_script.sh</a:t>
            </a:r>
            <a:endParaRPr lang="en-US" sz="1250" dirty="0"/>
          </a:p>
        </p:txBody>
      </p:sp>
      <p:sp>
        <p:nvSpPr>
          <p:cNvPr id="52" name="Shape 50"/>
          <p:cNvSpPr/>
          <p:nvPr/>
        </p:nvSpPr>
        <p:spPr>
          <a:xfrm>
            <a:off x="3017520" y="4626864"/>
            <a:ext cx="1920240" cy="566928"/>
          </a:xfrm>
          <a:prstGeom prst="rect">
            <a:avLst/>
          </a:prstGeom>
          <a:solidFill>
            <a:srgbClr val="141414"/>
          </a:solidFill>
          <a:ln w="6350">
            <a:solidFill>
              <a:srgbClr val="2A2A2A"/>
            </a:solidFill>
            <a:prstDash val="solid"/>
          </a:ln>
        </p:spPr>
      </p:sp>
      <p:sp>
        <p:nvSpPr>
          <p:cNvPr id="53" name="Text 51"/>
          <p:cNvSpPr txBox="1"/>
          <p:nvPr/>
        </p:nvSpPr>
        <p:spPr>
          <a:xfrm>
            <a:off x="3090672" y="4626864"/>
            <a:ext cx="1773936" cy="566928"/>
          </a:xfrm>
          <a:prstGeom prst="rect">
            <a:avLst/>
          </a:prstGeom>
          <a:noFill/>
          <a:ln/>
        </p:spPr>
        <p:txBody>
          <a:bodyPr wrap="square" lIns="0" tIns="0" rIns="0" bIns="0" rtlCol="0" anchor="ctr"/>
          <a:lstStyle/>
          <a:p>
            <a:pPr indent="0" marL="0">
              <a:buNone/>
            </a:pPr>
            <a:r>
              <a:rPr lang="en-US" sz="1100" dirty="0">
                <a:solidFill>
                  <a:srgbClr val="B8B8B8"/>
                </a:solidFill>
                <a:latin typeface="Calibri" pitchFamily="34" charset="0"/>
                <a:ea typeface="Calibri" pitchFamily="34" charset="-122"/>
                <a:cs typeface="Calibri" pitchFamily="34" charset="-120"/>
              </a:rPr>
              <a:t>120 MB</a:t>
            </a:r>
            <a:endParaRPr lang="en-US" sz="1100" dirty="0"/>
          </a:p>
        </p:txBody>
      </p:sp>
      <p:sp>
        <p:nvSpPr>
          <p:cNvPr id="54" name="Shape 52"/>
          <p:cNvSpPr/>
          <p:nvPr/>
        </p:nvSpPr>
        <p:spPr>
          <a:xfrm>
            <a:off x="4937760" y="4626864"/>
            <a:ext cx="1920240" cy="566928"/>
          </a:xfrm>
          <a:prstGeom prst="rect">
            <a:avLst/>
          </a:prstGeom>
          <a:solidFill>
            <a:srgbClr val="141414"/>
          </a:solidFill>
          <a:ln w="6350">
            <a:solidFill>
              <a:srgbClr val="2A2A2A"/>
            </a:solidFill>
            <a:prstDash val="solid"/>
          </a:ln>
        </p:spPr>
      </p:sp>
      <p:sp>
        <p:nvSpPr>
          <p:cNvPr id="55" name="Text 53"/>
          <p:cNvSpPr txBox="1"/>
          <p:nvPr/>
        </p:nvSpPr>
        <p:spPr>
          <a:xfrm>
            <a:off x="5010912" y="4626864"/>
            <a:ext cx="1773936" cy="566928"/>
          </a:xfrm>
          <a:prstGeom prst="rect">
            <a:avLst/>
          </a:prstGeom>
          <a:noFill/>
          <a:ln/>
        </p:spPr>
        <p:txBody>
          <a:bodyPr wrap="square" lIns="0" tIns="0" rIns="0" bIns="0" rtlCol="0" anchor="ctr"/>
          <a:lstStyle/>
          <a:p>
            <a:pPr indent="0" marL="0">
              <a:buNone/>
            </a:pPr>
            <a:r>
              <a:rPr lang="en-US" sz="1100" dirty="0">
                <a:solidFill>
                  <a:srgbClr val="B8B8B8"/>
                </a:solidFill>
                <a:latin typeface="Calibri" pitchFamily="34" charset="0"/>
                <a:ea typeface="Calibri" pitchFamily="34" charset="-122"/>
                <a:cs typeface="Calibri" pitchFamily="34" charset="-120"/>
              </a:rPr>
              <a:t>2 min</a:t>
            </a:r>
            <a:endParaRPr lang="en-US" sz="1100" dirty="0"/>
          </a:p>
        </p:txBody>
      </p:sp>
      <p:sp>
        <p:nvSpPr>
          <p:cNvPr id="56" name="Shape 54"/>
          <p:cNvSpPr/>
          <p:nvPr/>
        </p:nvSpPr>
        <p:spPr>
          <a:xfrm>
            <a:off x="6858000" y="4626864"/>
            <a:ext cx="1645920" cy="566928"/>
          </a:xfrm>
          <a:prstGeom prst="rect">
            <a:avLst/>
          </a:prstGeom>
          <a:solidFill>
            <a:srgbClr val="141414"/>
          </a:solidFill>
          <a:ln w="6350">
            <a:solidFill>
              <a:srgbClr val="2A2A2A"/>
            </a:solidFill>
            <a:prstDash val="solid"/>
          </a:ln>
        </p:spPr>
      </p:sp>
      <p:sp>
        <p:nvSpPr>
          <p:cNvPr id="57" name="Text 55"/>
          <p:cNvSpPr txBox="1"/>
          <p:nvPr/>
        </p:nvSpPr>
        <p:spPr>
          <a:xfrm>
            <a:off x="6931152" y="4626864"/>
            <a:ext cx="1499616" cy="566928"/>
          </a:xfrm>
          <a:prstGeom prst="rect">
            <a:avLst/>
          </a:prstGeom>
          <a:noFill/>
          <a:ln/>
        </p:spPr>
        <p:txBody>
          <a:bodyPr wrap="square" lIns="0" tIns="0" rIns="0" bIns="0" rtlCol="0" anchor="ctr"/>
          <a:lstStyle/>
          <a:p>
            <a:pPr indent="0" marL="0">
              <a:buNone/>
            </a:pPr>
            <a:r>
              <a:rPr lang="en-US" sz="1100" dirty="0">
                <a:solidFill>
                  <a:srgbClr val="B8B8B8"/>
                </a:solidFill>
                <a:latin typeface="Calibri" pitchFamily="34" charset="0"/>
                <a:ea typeface="Calibri" pitchFamily="34" charset="-122"/>
                <a:cs typeface="Calibri" pitchFamily="34" charset="-120"/>
              </a:rPr>
              <a:t>+200</a:t>
            </a:r>
            <a:endParaRPr lang="en-US" sz="1100" dirty="0"/>
          </a:p>
        </p:txBody>
      </p:sp>
      <p:sp>
        <p:nvSpPr>
          <p:cNvPr id="58" name="Shape 56"/>
          <p:cNvSpPr/>
          <p:nvPr/>
        </p:nvSpPr>
        <p:spPr>
          <a:xfrm>
            <a:off x="8503920" y="4626864"/>
            <a:ext cx="3154680" cy="566928"/>
          </a:xfrm>
          <a:prstGeom prst="rect">
            <a:avLst/>
          </a:prstGeom>
          <a:solidFill>
            <a:srgbClr val="141414"/>
          </a:solidFill>
          <a:ln w="6350">
            <a:solidFill>
              <a:srgbClr val="2A2A2A"/>
            </a:solidFill>
            <a:prstDash val="solid"/>
          </a:ln>
        </p:spPr>
      </p:sp>
      <p:sp>
        <p:nvSpPr>
          <p:cNvPr id="59" name="Text 57"/>
          <p:cNvSpPr txBox="1"/>
          <p:nvPr/>
        </p:nvSpPr>
        <p:spPr>
          <a:xfrm>
            <a:off x="8577072" y="4626864"/>
            <a:ext cx="3008376" cy="566928"/>
          </a:xfrm>
          <a:prstGeom prst="rect">
            <a:avLst/>
          </a:prstGeom>
          <a:noFill/>
          <a:ln/>
        </p:spPr>
        <p:txBody>
          <a:bodyPr wrap="square" lIns="0" tIns="0" rIns="0" bIns="0" rtlCol="0" anchor="ctr"/>
          <a:lstStyle/>
          <a:p>
            <a:pPr indent="0" marL="0">
              <a:buNone/>
            </a:pPr>
            <a:r>
              <a:rPr lang="en-US" sz="1100" dirty="0">
                <a:solidFill>
                  <a:srgbClr val="B8B8B8"/>
                </a:solidFill>
                <a:latin typeface="Calibri" pitchFamily="34" charset="0"/>
                <a:ea typeface="Calibri" pitchFamily="34" charset="-122"/>
                <a:cs typeface="Calibri" pitchFamily="34" charset="-120"/>
              </a:rPr>
              <a:t>Job de respaldo nocturno</a:t>
            </a:r>
            <a:endParaRPr lang="en-US" sz="1100" dirty="0"/>
          </a:p>
        </p:txBody>
      </p:sp>
      <p:sp>
        <p:nvSpPr>
          <p:cNvPr id="60" name="Shape 58"/>
          <p:cNvSpPr/>
          <p:nvPr/>
        </p:nvSpPr>
        <p:spPr>
          <a:xfrm>
            <a:off x="731520" y="5193792"/>
            <a:ext cx="2286000" cy="566928"/>
          </a:xfrm>
          <a:prstGeom prst="rect">
            <a:avLst/>
          </a:prstGeom>
          <a:solidFill>
            <a:srgbClr val="0D0D0D"/>
          </a:solidFill>
          <a:ln w="6350">
            <a:solidFill>
              <a:srgbClr val="2A2A2A"/>
            </a:solidFill>
            <a:prstDash val="solid"/>
          </a:ln>
        </p:spPr>
      </p:sp>
      <p:sp>
        <p:nvSpPr>
          <p:cNvPr id="61" name="Text 59"/>
          <p:cNvSpPr txBox="1"/>
          <p:nvPr/>
        </p:nvSpPr>
        <p:spPr>
          <a:xfrm>
            <a:off x="804672" y="5193792"/>
            <a:ext cx="2139696" cy="566928"/>
          </a:xfrm>
          <a:prstGeom prst="rect">
            <a:avLst/>
          </a:prstGeom>
          <a:noFill/>
          <a:ln/>
        </p:spPr>
        <p:txBody>
          <a:bodyPr wrap="square" lIns="0" tIns="0" rIns="0" bIns="0" rtlCol="0" anchor="ctr"/>
          <a:lstStyle/>
          <a:p>
            <a:pPr indent="0" marL="0">
              <a:buNone/>
            </a:pPr>
            <a:r>
              <a:rPr lang="en-US" sz="1250" b="1" dirty="0">
                <a:solidFill>
                  <a:srgbClr val="FFFFFF"/>
                </a:solidFill>
                <a:latin typeface="Courier New" pitchFamily="34" charset="0"/>
                <a:ea typeface="Courier New" pitchFamily="34" charset="-122"/>
                <a:cs typeface="Courier New" pitchFamily="34" charset="-120"/>
              </a:rPr>
              <a:t>log_analyzer</a:t>
            </a:r>
            <a:endParaRPr lang="en-US" sz="1250" dirty="0"/>
          </a:p>
        </p:txBody>
      </p:sp>
      <p:sp>
        <p:nvSpPr>
          <p:cNvPr id="62" name="Shape 60"/>
          <p:cNvSpPr/>
          <p:nvPr/>
        </p:nvSpPr>
        <p:spPr>
          <a:xfrm>
            <a:off x="3017520" y="5193792"/>
            <a:ext cx="1920240" cy="566928"/>
          </a:xfrm>
          <a:prstGeom prst="rect">
            <a:avLst/>
          </a:prstGeom>
          <a:solidFill>
            <a:srgbClr val="0D0D0D"/>
          </a:solidFill>
          <a:ln w="6350">
            <a:solidFill>
              <a:srgbClr val="2A2A2A"/>
            </a:solidFill>
            <a:prstDash val="solid"/>
          </a:ln>
        </p:spPr>
      </p:sp>
      <p:sp>
        <p:nvSpPr>
          <p:cNvPr id="63" name="Text 61"/>
          <p:cNvSpPr txBox="1"/>
          <p:nvPr/>
        </p:nvSpPr>
        <p:spPr>
          <a:xfrm>
            <a:off x="3090672" y="5193792"/>
            <a:ext cx="1773936" cy="566928"/>
          </a:xfrm>
          <a:prstGeom prst="rect">
            <a:avLst/>
          </a:prstGeom>
          <a:noFill/>
          <a:ln/>
        </p:spPr>
        <p:txBody>
          <a:bodyPr wrap="square" lIns="0" tIns="0" rIns="0" bIns="0" rtlCol="0" anchor="ctr"/>
          <a:lstStyle/>
          <a:p>
            <a:pPr indent="0" marL="0">
              <a:buNone/>
            </a:pPr>
            <a:r>
              <a:rPr lang="en-US" sz="1100" dirty="0">
                <a:solidFill>
                  <a:srgbClr val="B8B8B8"/>
                </a:solidFill>
                <a:latin typeface="Calibri" pitchFamily="34" charset="0"/>
                <a:ea typeface="Calibri" pitchFamily="34" charset="-122"/>
                <a:cs typeface="Calibri" pitchFamily="34" charset="-120"/>
              </a:rPr>
              <a:t>3.1 GB</a:t>
            </a:r>
            <a:endParaRPr lang="en-US" sz="1100" dirty="0"/>
          </a:p>
        </p:txBody>
      </p:sp>
      <p:sp>
        <p:nvSpPr>
          <p:cNvPr id="64" name="Shape 62"/>
          <p:cNvSpPr/>
          <p:nvPr/>
        </p:nvSpPr>
        <p:spPr>
          <a:xfrm>
            <a:off x="4937760" y="5193792"/>
            <a:ext cx="1920240" cy="566928"/>
          </a:xfrm>
          <a:prstGeom prst="rect">
            <a:avLst/>
          </a:prstGeom>
          <a:solidFill>
            <a:srgbClr val="0D0D0D"/>
          </a:solidFill>
          <a:ln w="6350">
            <a:solidFill>
              <a:srgbClr val="2A2A2A"/>
            </a:solidFill>
            <a:prstDash val="solid"/>
          </a:ln>
        </p:spPr>
      </p:sp>
      <p:sp>
        <p:nvSpPr>
          <p:cNvPr id="65" name="Text 63"/>
          <p:cNvSpPr txBox="1"/>
          <p:nvPr/>
        </p:nvSpPr>
        <p:spPr>
          <a:xfrm>
            <a:off x="5010912" y="5193792"/>
            <a:ext cx="1773936" cy="566928"/>
          </a:xfrm>
          <a:prstGeom prst="rect">
            <a:avLst/>
          </a:prstGeom>
          <a:noFill/>
          <a:ln/>
        </p:spPr>
        <p:txBody>
          <a:bodyPr wrap="square" lIns="0" tIns="0" rIns="0" bIns="0" rtlCol="0" anchor="ctr"/>
          <a:lstStyle/>
          <a:p>
            <a:pPr indent="0" marL="0">
              <a:buNone/>
            </a:pPr>
            <a:r>
              <a:rPr lang="en-US" sz="1100" dirty="0">
                <a:solidFill>
                  <a:srgbClr val="B8B8B8"/>
                </a:solidFill>
                <a:latin typeface="Calibri" pitchFamily="34" charset="0"/>
                <a:ea typeface="Calibri" pitchFamily="34" charset="-122"/>
                <a:cs typeface="Calibri" pitchFamily="34" charset="-120"/>
              </a:rPr>
              <a:t>18 min</a:t>
            </a:r>
            <a:endParaRPr lang="en-US" sz="1100" dirty="0"/>
          </a:p>
        </p:txBody>
      </p:sp>
      <p:sp>
        <p:nvSpPr>
          <p:cNvPr id="66" name="Shape 64"/>
          <p:cNvSpPr/>
          <p:nvPr/>
        </p:nvSpPr>
        <p:spPr>
          <a:xfrm>
            <a:off x="6858000" y="5193792"/>
            <a:ext cx="1645920" cy="566928"/>
          </a:xfrm>
          <a:prstGeom prst="rect">
            <a:avLst/>
          </a:prstGeom>
          <a:solidFill>
            <a:srgbClr val="0D0D0D"/>
          </a:solidFill>
          <a:ln w="6350">
            <a:solidFill>
              <a:srgbClr val="2A2A2A"/>
            </a:solidFill>
            <a:prstDash val="solid"/>
          </a:ln>
        </p:spPr>
      </p:sp>
      <p:sp>
        <p:nvSpPr>
          <p:cNvPr id="67" name="Text 65"/>
          <p:cNvSpPr txBox="1"/>
          <p:nvPr/>
        </p:nvSpPr>
        <p:spPr>
          <a:xfrm>
            <a:off x="6931152" y="5193792"/>
            <a:ext cx="1499616" cy="566928"/>
          </a:xfrm>
          <a:prstGeom prst="rect">
            <a:avLst/>
          </a:prstGeom>
          <a:noFill/>
          <a:ln/>
        </p:spPr>
        <p:txBody>
          <a:bodyPr wrap="square" lIns="0" tIns="0" rIns="0" bIns="0" rtlCol="0" anchor="ctr"/>
          <a:lstStyle/>
          <a:p>
            <a:pPr indent="0" marL="0">
              <a:buNone/>
            </a:pPr>
            <a:r>
              <a:rPr lang="en-US" sz="1100" dirty="0">
                <a:solidFill>
                  <a:srgbClr val="B8B8B8"/>
                </a:solidFill>
                <a:latin typeface="Calibri" pitchFamily="34" charset="0"/>
                <a:ea typeface="Calibri" pitchFamily="34" charset="-122"/>
                <a:cs typeface="Calibri" pitchFamily="34" charset="-120"/>
              </a:rPr>
              <a:t>0</a:t>
            </a:r>
            <a:endParaRPr lang="en-US" sz="1100" dirty="0"/>
          </a:p>
        </p:txBody>
      </p:sp>
      <p:sp>
        <p:nvSpPr>
          <p:cNvPr id="68" name="Shape 66"/>
          <p:cNvSpPr/>
          <p:nvPr/>
        </p:nvSpPr>
        <p:spPr>
          <a:xfrm>
            <a:off x="8503920" y="5193792"/>
            <a:ext cx="3154680" cy="566928"/>
          </a:xfrm>
          <a:prstGeom prst="rect">
            <a:avLst/>
          </a:prstGeom>
          <a:solidFill>
            <a:srgbClr val="0D0D0D"/>
          </a:solidFill>
          <a:ln w="6350">
            <a:solidFill>
              <a:srgbClr val="2A2A2A"/>
            </a:solidFill>
            <a:prstDash val="solid"/>
          </a:ln>
        </p:spPr>
      </p:sp>
      <p:sp>
        <p:nvSpPr>
          <p:cNvPr id="69" name="Text 67"/>
          <p:cNvSpPr txBox="1"/>
          <p:nvPr/>
        </p:nvSpPr>
        <p:spPr>
          <a:xfrm>
            <a:off x="8577072" y="5193792"/>
            <a:ext cx="3008376" cy="566928"/>
          </a:xfrm>
          <a:prstGeom prst="rect">
            <a:avLst/>
          </a:prstGeom>
          <a:noFill/>
          <a:ln/>
        </p:spPr>
        <p:txBody>
          <a:bodyPr wrap="square" lIns="0" tIns="0" rIns="0" bIns="0" rtlCol="0" anchor="ctr"/>
          <a:lstStyle/>
          <a:p>
            <a:pPr indent="0" marL="0">
              <a:buNone/>
            </a:pPr>
            <a:r>
              <a:rPr lang="en-US" sz="1100" dirty="0">
                <a:solidFill>
                  <a:srgbClr val="B8B8B8"/>
                </a:solidFill>
                <a:latin typeface="Calibri" pitchFamily="34" charset="0"/>
                <a:ea typeface="Calibri" pitchFamily="34" charset="-122"/>
                <a:cs typeface="Calibri" pitchFamily="34" charset="-120"/>
              </a:rPr>
              <a:t>Proceso propio del estudiante, con fuga de memoria</a:t>
            </a:r>
            <a:endParaRPr lang="en-US" sz="1100" dirty="0"/>
          </a:p>
        </p:txBody>
      </p:sp>
      <p:sp>
        <p:nvSpPr>
          <p:cNvPr id="70" name="Text 68"/>
          <p:cNvSpPr txBox="1"/>
          <p:nvPr/>
        </p:nvSpPr>
        <p:spPr>
          <a:xfrm>
            <a:off x="731520" y="5943600"/>
            <a:ext cx="10698480" cy="457200"/>
          </a:xfrm>
          <a:prstGeom prst="rect">
            <a:avLst/>
          </a:prstGeom>
          <a:noFill/>
          <a:ln/>
        </p:spPr>
        <p:txBody>
          <a:bodyPr wrap="square" lIns="0" tIns="0" rIns="0" bIns="0" rtlCol="0" anchor="ctr"/>
          <a:lstStyle/>
          <a:p>
            <a:pPr indent="0" marL="0">
              <a:buNone/>
            </a:pPr>
            <a:r>
              <a:rPr lang="en-US" sz="1200" i="1" dirty="0">
                <a:solidFill>
                  <a:srgbClr val="B8B8B8"/>
                </a:solidFill>
                <a:latin typeface="Calibri" pitchFamily="34" charset="0"/>
                <a:ea typeface="Calibri" pitchFamily="34" charset="-122"/>
                <a:cs typeface="Calibri" pitchFamily="34" charset="-120"/>
              </a:rPr>
              <a:t>Piensen en oom_badness(), en el impacto de cada consecuencia, y en qué haría un administrador antes de que el kernel tenga que decidir.</a:t>
            </a:r>
            <a:endParaRPr lang="en-US" sz="1200" dirty="0"/>
          </a:p>
        </p:txBody>
      </p:sp>
      <p:sp>
        <p:nvSpPr>
          <p:cNvPr id="71" name="Text 69"/>
          <p:cNvSpPr txBox="1"/>
          <p:nvPr/>
        </p:nvSpPr>
        <p:spPr>
          <a:xfrm>
            <a:off x="502920" y="6473952"/>
            <a:ext cx="5486400" cy="274320"/>
          </a:xfrm>
          <a:prstGeom prst="rect">
            <a:avLst/>
          </a:prstGeom>
          <a:noFill/>
          <a:ln/>
        </p:spPr>
        <p:txBody>
          <a:bodyPr wrap="square" lIns="0" tIns="0" rIns="0" bIns="0" rtlCol="0" anchor="ctr"/>
          <a:lstStyle/>
          <a:p>
            <a:pPr indent="0" marL="0">
              <a:buNone/>
            </a:pPr>
            <a:r>
              <a:rPr lang="en-US" sz="1000" dirty="0">
                <a:solidFill>
                  <a:srgbClr val="B8B8B8"/>
                </a:solidFill>
                <a:latin typeface="Arial" pitchFamily="34" charset="0"/>
                <a:ea typeface="Arial" pitchFamily="34" charset="-122"/>
                <a:cs typeface="Arial" pitchFamily="34" charset="-120"/>
              </a:rPr>
              <a:t>OOM KILLER  ·  UTP – FISC  ·  1IL143</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10881360" y="457200"/>
            <a:ext cx="1097280" cy="320040"/>
          </a:xfrm>
          <a:prstGeom prst="rect">
            <a:avLst/>
          </a:prstGeom>
          <a:noFill/>
          <a:ln/>
        </p:spPr>
        <p:txBody>
          <a:bodyPr wrap="square" lIns="0" tIns="0" rIns="0" bIns="0" rtlCol="0" anchor="ctr"/>
          <a:lstStyle/>
          <a:p>
            <a:pPr algn="r" indent="0" marL="0">
              <a:buNone/>
            </a:pPr>
            <a:r>
              <a:rPr lang="en-US" sz="1100" dirty="0">
                <a:solidFill>
                  <a:srgbClr val="B8B8B8"/>
                </a:solidFill>
                <a:latin typeface="Arial" pitchFamily="34" charset="0"/>
                <a:ea typeface="Arial" pitchFamily="34" charset="-122"/>
                <a:cs typeface="Arial" pitchFamily="34" charset="-120"/>
              </a:rPr>
              <a:t>16 / 17</a:t>
            </a:r>
            <a:endParaRPr lang="en-US" sz="1100" dirty="0"/>
          </a:p>
        </p:txBody>
      </p:sp>
      <p:sp>
        <p:nvSpPr>
          <p:cNvPr id="3" name="Text 1"/>
          <p:cNvSpPr txBox="1"/>
          <p:nvPr/>
        </p:nvSpPr>
        <p:spPr>
          <a:xfrm>
            <a:off x="731520" y="594360"/>
            <a:ext cx="7315200" cy="320040"/>
          </a:xfrm>
          <a:prstGeom prst="rect">
            <a:avLst/>
          </a:prstGeom>
          <a:noFill/>
          <a:ln/>
        </p:spPr>
        <p:txBody>
          <a:bodyPr wrap="square" lIns="0" tIns="0" rIns="0" bIns="0" rtlCol="0" anchor="ctr"/>
          <a:lstStyle/>
          <a:p>
            <a:pPr indent="0" marL="0">
              <a:buNone/>
            </a:pPr>
            <a:r>
              <a:rPr lang="en-US" sz="1200" b="1" spc="200" kern="0" dirty="0">
                <a:solidFill>
                  <a:srgbClr val="FF1A1A"/>
                </a:solidFill>
                <a:latin typeface="Arial" pitchFamily="34" charset="0"/>
                <a:ea typeface="Arial" pitchFamily="34" charset="-122"/>
                <a:cs typeface="Arial" pitchFamily="34" charset="-120"/>
              </a:rPr>
              <a:t>CIERRE</a:t>
            </a:r>
            <a:endParaRPr lang="en-US" sz="1200" dirty="0"/>
          </a:p>
        </p:txBody>
      </p:sp>
      <p:sp>
        <p:nvSpPr>
          <p:cNvPr id="4" name="Text 2"/>
          <p:cNvSpPr txBox="1"/>
          <p:nvPr/>
        </p:nvSpPr>
        <p:spPr>
          <a:xfrm>
            <a:off x="644652" y="850392"/>
            <a:ext cx="7315200" cy="914400"/>
          </a:xfrm>
          <a:prstGeom prst="rect">
            <a:avLst/>
          </a:prstGeom>
          <a:noFill/>
          <a:ln/>
        </p:spPr>
        <p:txBody>
          <a:bodyPr wrap="square" lIns="0" tIns="0" rIns="0" bIns="0" rtlCol="0" anchor="ctr"/>
          <a:lstStyle/>
          <a:p>
            <a:pPr algn="l" indent="0" marL="0">
              <a:buNone/>
            </a:pPr>
            <a:r>
              <a:rPr lang="en-US" sz="3800" b="1" dirty="0">
                <a:solidFill>
                  <a:srgbClr val="00E5FF">
                    <a:alpha val="45000"/>
                  </a:srgbClr>
                </a:solidFill>
                <a:latin typeface="Arial Black" pitchFamily="34" charset="0"/>
                <a:ea typeface="Arial Black" pitchFamily="34" charset="-122"/>
                <a:cs typeface="Arial Black" pitchFamily="34" charset="-120"/>
              </a:rPr>
              <a:t>CONCLUSIONES</a:t>
            </a:r>
            <a:endParaRPr lang="en-US" sz="3800" dirty="0"/>
          </a:p>
        </p:txBody>
      </p:sp>
      <p:sp>
        <p:nvSpPr>
          <p:cNvPr id="5" name="Text 3"/>
          <p:cNvSpPr txBox="1"/>
          <p:nvPr/>
        </p:nvSpPr>
        <p:spPr>
          <a:xfrm>
            <a:off x="726948" y="891540"/>
            <a:ext cx="7315200" cy="914400"/>
          </a:xfrm>
          <a:prstGeom prst="rect">
            <a:avLst/>
          </a:prstGeom>
          <a:noFill/>
          <a:ln/>
        </p:spPr>
        <p:txBody>
          <a:bodyPr wrap="square" lIns="0" tIns="0" rIns="0" bIns="0" rtlCol="0" anchor="ctr"/>
          <a:lstStyle/>
          <a:p>
            <a:pPr algn="l" indent="0" marL="0">
              <a:buNone/>
            </a:pPr>
            <a:r>
              <a:rPr lang="en-US" sz="3800" b="1" dirty="0">
                <a:solidFill>
                  <a:srgbClr val="8A0000">
                    <a:alpha val="65000"/>
                  </a:srgbClr>
                </a:solidFill>
                <a:latin typeface="Arial Black" pitchFamily="34" charset="0"/>
                <a:ea typeface="Arial Black" pitchFamily="34" charset="-122"/>
                <a:cs typeface="Arial Black" pitchFamily="34" charset="-120"/>
              </a:rPr>
              <a:t>CONCLUSIONES</a:t>
            </a:r>
            <a:endParaRPr lang="en-US" sz="3800" dirty="0"/>
          </a:p>
        </p:txBody>
      </p:sp>
      <p:sp>
        <p:nvSpPr>
          <p:cNvPr id="6" name="Text 4"/>
          <p:cNvSpPr txBox="1"/>
          <p:nvPr/>
        </p:nvSpPr>
        <p:spPr>
          <a:xfrm>
            <a:off x="685800" y="868680"/>
            <a:ext cx="7315200" cy="914400"/>
          </a:xfrm>
          <a:prstGeom prst="rect">
            <a:avLst/>
          </a:prstGeom>
          <a:noFill/>
          <a:ln/>
        </p:spPr>
        <p:txBody>
          <a:bodyPr wrap="square" lIns="0" tIns="0" rIns="0" bIns="0" rtlCol="0" anchor="ctr"/>
          <a:lstStyle/>
          <a:p>
            <a:pPr algn="l" indent="0" marL="0">
              <a:buNone/>
            </a:pPr>
            <a:r>
              <a:rPr lang="en-US" sz="3800" b="1" dirty="0">
                <a:solidFill>
                  <a:srgbClr val="FF1A1A"/>
                </a:solidFill>
                <a:latin typeface="Arial Black" pitchFamily="34" charset="0"/>
                <a:ea typeface="Arial Black" pitchFamily="34" charset="-122"/>
                <a:cs typeface="Arial Black" pitchFamily="34" charset="-120"/>
              </a:rPr>
              <a:t>CONCLUSIONES</a:t>
            </a:r>
            <a:endParaRPr lang="en-US" sz="3800" dirty="0"/>
          </a:p>
        </p:txBody>
      </p:sp>
      <p:sp>
        <p:nvSpPr>
          <p:cNvPr id="7" name="Shape 5"/>
          <p:cNvSpPr/>
          <p:nvPr/>
        </p:nvSpPr>
        <p:spPr>
          <a:xfrm>
            <a:off x="1271016" y="1033272"/>
            <a:ext cx="1609344" cy="32004"/>
          </a:xfrm>
          <a:prstGeom prst="rect">
            <a:avLst/>
          </a:prstGeom>
          <a:solidFill>
            <a:srgbClr val="00E5FF">
              <a:alpha val="70000"/>
            </a:srgbClr>
          </a:solidFill>
          <a:ln/>
        </p:spPr>
      </p:sp>
      <p:sp>
        <p:nvSpPr>
          <p:cNvPr id="8" name="Shape 6"/>
          <p:cNvSpPr/>
          <p:nvPr/>
        </p:nvSpPr>
        <p:spPr>
          <a:xfrm>
            <a:off x="4709160" y="1581912"/>
            <a:ext cx="2194560" cy="32004"/>
          </a:xfrm>
          <a:prstGeom prst="rect">
            <a:avLst/>
          </a:prstGeom>
          <a:solidFill>
            <a:srgbClr val="FF1A1A">
              <a:alpha val="80000"/>
            </a:srgbClr>
          </a:solidFill>
          <a:ln/>
        </p:spPr>
      </p:sp>
      <p:sp>
        <p:nvSpPr>
          <p:cNvPr id="9" name="Shape 7"/>
          <p:cNvSpPr/>
          <p:nvPr/>
        </p:nvSpPr>
        <p:spPr>
          <a:xfrm>
            <a:off x="777240" y="2112264"/>
            <a:ext cx="109728" cy="457200"/>
          </a:xfrm>
          <a:prstGeom prst="rect">
            <a:avLst/>
          </a:prstGeom>
          <a:solidFill>
            <a:srgbClr val="FF1A1A"/>
          </a:solidFill>
          <a:ln/>
        </p:spPr>
      </p:sp>
      <p:sp>
        <p:nvSpPr>
          <p:cNvPr id="10" name="Text 8"/>
          <p:cNvSpPr txBox="1"/>
          <p:nvPr/>
        </p:nvSpPr>
        <p:spPr>
          <a:xfrm>
            <a:off x="1051560" y="2057400"/>
            <a:ext cx="493776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No es un bug</a:t>
            </a:r>
            <a:endParaRPr lang="en-US" sz="1600" dirty="0"/>
          </a:p>
        </p:txBody>
      </p:sp>
      <p:sp>
        <p:nvSpPr>
          <p:cNvPr id="11" name="Text 9"/>
          <p:cNvSpPr txBox="1"/>
          <p:nvPr/>
        </p:nvSpPr>
        <p:spPr>
          <a:xfrm>
            <a:off x="1051560" y="2423160"/>
            <a:ext cx="9875520" cy="457200"/>
          </a:xfrm>
          <a:prstGeom prst="rect">
            <a:avLst/>
          </a:prstGeom>
          <a:noFill/>
          <a:ln/>
        </p:spPr>
        <p:txBody>
          <a:bodyPr wrap="square" lIns="0" tIns="0" rIns="0" bIns="0" rtlCol="0" anchor="ctr"/>
          <a:lstStyle/>
          <a:p>
            <a:pPr indent="0" marL="0">
              <a:buNone/>
            </a:pPr>
            <a:r>
              <a:rPr lang="en-US" sz="1250" dirty="0">
                <a:solidFill>
                  <a:srgbClr val="B8B8B8"/>
                </a:solidFill>
                <a:latin typeface="Calibri" pitchFamily="34" charset="0"/>
                <a:ea typeface="Calibri" pitchFamily="34" charset="-122"/>
                <a:cs typeface="Calibri" pitchFamily="34" charset="-120"/>
              </a:rPr>
              <a:t>Es la consecuencia lógica y necesaria de permitir overcommit de memoria.</a:t>
            </a:r>
            <a:endParaRPr lang="en-US" sz="1250" dirty="0"/>
          </a:p>
        </p:txBody>
      </p:sp>
      <p:sp>
        <p:nvSpPr>
          <p:cNvPr id="12" name="Shape 10"/>
          <p:cNvSpPr/>
          <p:nvPr/>
        </p:nvSpPr>
        <p:spPr>
          <a:xfrm>
            <a:off x="777240" y="3044952"/>
            <a:ext cx="109728" cy="457200"/>
          </a:xfrm>
          <a:prstGeom prst="rect">
            <a:avLst/>
          </a:prstGeom>
          <a:solidFill>
            <a:srgbClr val="FF1A1A"/>
          </a:solidFill>
          <a:ln/>
        </p:spPr>
      </p:sp>
      <p:sp>
        <p:nvSpPr>
          <p:cNvPr id="13" name="Text 11"/>
          <p:cNvSpPr txBox="1"/>
          <p:nvPr/>
        </p:nvSpPr>
        <p:spPr>
          <a:xfrm>
            <a:off x="1051560" y="2990088"/>
            <a:ext cx="493776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Es predecible</a:t>
            </a:r>
            <a:endParaRPr lang="en-US" sz="1600" dirty="0"/>
          </a:p>
        </p:txBody>
      </p:sp>
      <p:sp>
        <p:nvSpPr>
          <p:cNvPr id="14" name="Text 12"/>
          <p:cNvSpPr txBox="1"/>
          <p:nvPr/>
        </p:nvSpPr>
        <p:spPr>
          <a:xfrm>
            <a:off x="1051560" y="3355848"/>
            <a:ext cx="9875520" cy="457200"/>
          </a:xfrm>
          <a:prstGeom prst="rect">
            <a:avLst/>
          </a:prstGeom>
          <a:noFill/>
          <a:ln/>
        </p:spPr>
        <p:txBody>
          <a:bodyPr wrap="square" lIns="0" tIns="0" rIns="0" bIns="0" rtlCol="0" anchor="ctr"/>
          <a:lstStyle/>
          <a:p>
            <a:pPr indent="0" marL="0">
              <a:buNone/>
            </a:pPr>
            <a:r>
              <a:rPr lang="en-US" sz="1250" dirty="0">
                <a:solidFill>
                  <a:srgbClr val="B8B8B8"/>
                </a:solidFill>
                <a:latin typeface="Calibri" pitchFamily="34" charset="0"/>
                <a:ea typeface="Calibri" pitchFamily="34" charset="-122"/>
                <a:cs typeface="Calibri" pitchFamily="34" charset="-120"/>
              </a:rPr>
              <a:t>Se puede controlar con oom_score_adj y los límites de cgroup.</a:t>
            </a:r>
            <a:endParaRPr lang="en-US" sz="1250" dirty="0"/>
          </a:p>
        </p:txBody>
      </p:sp>
      <p:sp>
        <p:nvSpPr>
          <p:cNvPr id="15" name="Shape 13"/>
          <p:cNvSpPr/>
          <p:nvPr/>
        </p:nvSpPr>
        <p:spPr>
          <a:xfrm>
            <a:off x="777240" y="3977640"/>
            <a:ext cx="109728" cy="457200"/>
          </a:xfrm>
          <a:prstGeom prst="rect">
            <a:avLst/>
          </a:prstGeom>
          <a:solidFill>
            <a:srgbClr val="FF1A1A"/>
          </a:solidFill>
          <a:ln/>
        </p:spPr>
      </p:sp>
      <p:sp>
        <p:nvSpPr>
          <p:cNvPr id="16" name="Text 14"/>
          <p:cNvSpPr txBox="1"/>
          <p:nvPr/>
        </p:nvSpPr>
        <p:spPr>
          <a:xfrm>
            <a:off x="1051560" y="3922776"/>
            <a:ext cx="493776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Tiene un costo real</a:t>
            </a:r>
            <a:endParaRPr lang="en-US" sz="1600" dirty="0"/>
          </a:p>
        </p:txBody>
      </p:sp>
      <p:sp>
        <p:nvSpPr>
          <p:cNvPr id="17" name="Text 15"/>
          <p:cNvSpPr txBox="1"/>
          <p:nvPr/>
        </p:nvSpPr>
        <p:spPr>
          <a:xfrm>
            <a:off x="1051560" y="4288536"/>
            <a:ext cx="9875520" cy="457200"/>
          </a:xfrm>
          <a:prstGeom prst="rect">
            <a:avLst/>
          </a:prstGeom>
          <a:noFill/>
          <a:ln/>
        </p:spPr>
        <p:txBody>
          <a:bodyPr wrap="square" lIns="0" tIns="0" rIns="0" bIns="0" rtlCol="0" anchor="ctr"/>
          <a:lstStyle/>
          <a:p>
            <a:pPr indent="0" marL="0">
              <a:buNone/>
            </a:pPr>
            <a:r>
              <a:rPr lang="en-US" sz="1250" dirty="0">
                <a:solidFill>
                  <a:srgbClr val="B8B8B8"/>
                </a:solidFill>
                <a:latin typeface="Calibri" pitchFamily="34" charset="0"/>
                <a:ea typeface="Calibri" pitchFamily="34" charset="-122"/>
                <a:cs typeface="Calibri" pitchFamily="34" charset="-120"/>
              </a:rPr>
              <a:t>SIGKILL, pérdida de trabajo no guardado y downtime — nunca es gratis.</a:t>
            </a:r>
            <a:endParaRPr lang="en-US" sz="1250" dirty="0"/>
          </a:p>
        </p:txBody>
      </p:sp>
      <p:sp>
        <p:nvSpPr>
          <p:cNvPr id="18" name="Shape 16"/>
          <p:cNvSpPr/>
          <p:nvPr/>
        </p:nvSpPr>
        <p:spPr>
          <a:xfrm>
            <a:off x="777240" y="4910328"/>
            <a:ext cx="109728" cy="457200"/>
          </a:xfrm>
          <a:prstGeom prst="rect">
            <a:avLst/>
          </a:prstGeom>
          <a:solidFill>
            <a:srgbClr val="FF1A1A"/>
          </a:solidFill>
          <a:ln/>
        </p:spPr>
      </p:sp>
      <p:sp>
        <p:nvSpPr>
          <p:cNvPr id="19" name="Text 17"/>
          <p:cNvSpPr txBox="1"/>
          <p:nvPr/>
        </p:nvSpPr>
        <p:spPr>
          <a:xfrm>
            <a:off x="1051560" y="4855464"/>
            <a:ext cx="493776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El origen importa</a:t>
            </a:r>
            <a:endParaRPr lang="en-US" sz="1600" dirty="0"/>
          </a:p>
        </p:txBody>
      </p:sp>
      <p:sp>
        <p:nvSpPr>
          <p:cNvPr id="20" name="Text 18"/>
          <p:cNvSpPr txBox="1"/>
          <p:nvPr/>
        </p:nvSpPr>
        <p:spPr>
          <a:xfrm>
            <a:off x="1051560" y="5221224"/>
            <a:ext cx="9875520" cy="457200"/>
          </a:xfrm>
          <a:prstGeom prst="rect">
            <a:avLst/>
          </a:prstGeom>
          <a:noFill/>
          <a:ln/>
        </p:spPr>
        <p:txBody>
          <a:bodyPr wrap="square" lIns="0" tIns="0" rIns="0" bIns="0" rtlCol="0" anchor="ctr"/>
          <a:lstStyle/>
          <a:p>
            <a:pPr indent="0" marL="0">
              <a:buNone/>
            </a:pPr>
            <a:r>
              <a:rPr lang="en-US" sz="1250" dirty="0">
                <a:solidFill>
                  <a:srgbClr val="B8B8B8"/>
                </a:solidFill>
                <a:latin typeface="Calibri" pitchFamily="34" charset="0"/>
                <a:ea typeface="Calibri" pitchFamily="34" charset="-122"/>
                <a:cs typeface="Calibri" pitchFamily="34" charset="-120"/>
              </a:rPr>
              <a:t>En contenedores, distinguir si mató el kernel o el orquestador es clave para el diagnóstico.</a:t>
            </a:r>
            <a:endParaRPr lang="en-US" sz="1250" dirty="0"/>
          </a:p>
        </p:txBody>
      </p:sp>
      <p:sp>
        <p:nvSpPr>
          <p:cNvPr id="21" name="Text 19"/>
          <p:cNvSpPr txBox="1"/>
          <p:nvPr/>
        </p:nvSpPr>
        <p:spPr>
          <a:xfrm>
            <a:off x="685800" y="5806440"/>
            <a:ext cx="7315200" cy="640080"/>
          </a:xfrm>
          <a:prstGeom prst="rect">
            <a:avLst/>
          </a:prstGeom>
          <a:noFill/>
          <a:ln/>
        </p:spPr>
        <p:txBody>
          <a:bodyPr wrap="square" lIns="0" tIns="0" rIns="0" bIns="0" rtlCol="0" anchor="ctr"/>
          <a:lstStyle/>
          <a:p>
            <a:pPr indent="0" marL="0">
              <a:buNone/>
            </a:pPr>
            <a:r>
              <a:rPr lang="en-US" sz="2400" b="1" dirty="0">
                <a:solidFill>
                  <a:srgbClr val="FF1A1A"/>
                </a:solidFill>
                <a:latin typeface="Arial Black" pitchFamily="34" charset="0"/>
                <a:ea typeface="Arial Black" pitchFamily="34" charset="-122"/>
                <a:cs typeface="Arial Black" pitchFamily="34" charset="-120"/>
              </a:rPr>
              <a:t>¿PREGUNTAS?</a:t>
            </a:r>
            <a:endParaRPr lang="en-US" sz="2400" dirty="0"/>
          </a:p>
        </p:txBody>
      </p:sp>
      <p:sp>
        <p:nvSpPr>
          <p:cNvPr id="22" name="Text 20"/>
          <p:cNvSpPr txBox="1"/>
          <p:nvPr/>
        </p:nvSpPr>
        <p:spPr>
          <a:xfrm>
            <a:off x="502920" y="6473952"/>
            <a:ext cx="5486400" cy="274320"/>
          </a:xfrm>
          <a:prstGeom prst="rect">
            <a:avLst/>
          </a:prstGeom>
          <a:noFill/>
          <a:ln/>
        </p:spPr>
        <p:txBody>
          <a:bodyPr wrap="square" lIns="0" tIns="0" rIns="0" bIns="0" rtlCol="0" anchor="ctr"/>
          <a:lstStyle/>
          <a:p>
            <a:pPr indent="0" marL="0">
              <a:buNone/>
            </a:pPr>
            <a:r>
              <a:rPr lang="en-US" sz="1000" dirty="0">
                <a:solidFill>
                  <a:srgbClr val="B8B8B8"/>
                </a:solidFill>
                <a:latin typeface="Arial" pitchFamily="34" charset="0"/>
                <a:ea typeface="Arial" pitchFamily="34" charset="-122"/>
                <a:cs typeface="Arial" pitchFamily="34" charset="-120"/>
              </a:rPr>
              <a:t>OOM KILLER  ·  UTP – FISC  ·  1IL143</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690372" y="2633472"/>
            <a:ext cx="7315200" cy="1097280"/>
          </a:xfrm>
          <a:prstGeom prst="rect">
            <a:avLst/>
          </a:prstGeom>
          <a:noFill/>
          <a:ln/>
        </p:spPr>
        <p:txBody>
          <a:bodyPr wrap="square" lIns="0" tIns="0" rIns="0" bIns="0" rtlCol="0" anchor="ctr"/>
          <a:lstStyle/>
          <a:p>
            <a:pPr algn="l" indent="0" marL="0">
              <a:buNone/>
            </a:pPr>
            <a:r>
              <a:rPr lang="en-US" sz="6000" b="1" dirty="0">
                <a:solidFill>
                  <a:srgbClr val="00E5FF">
                    <a:alpha val="45000"/>
                  </a:srgbClr>
                </a:solidFill>
                <a:latin typeface="Arial Black" pitchFamily="34" charset="0"/>
                <a:ea typeface="Arial Black" pitchFamily="34" charset="-122"/>
                <a:cs typeface="Arial Black" pitchFamily="34" charset="-120"/>
              </a:rPr>
              <a:t>GRACIAS</a:t>
            </a:r>
            <a:endParaRPr lang="en-US" sz="6000" dirty="0"/>
          </a:p>
        </p:txBody>
      </p:sp>
      <p:sp>
        <p:nvSpPr>
          <p:cNvPr id="3" name="Text 1"/>
          <p:cNvSpPr txBox="1"/>
          <p:nvPr/>
        </p:nvSpPr>
        <p:spPr>
          <a:xfrm>
            <a:off x="772668" y="2674620"/>
            <a:ext cx="7315200" cy="1097280"/>
          </a:xfrm>
          <a:prstGeom prst="rect">
            <a:avLst/>
          </a:prstGeom>
          <a:noFill/>
          <a:ln/>
        </p:spPr>
        <p:txBody>
          <a:bodyPr wrap="square" lIns="0" tIns="0" rIns="0" bIns="0" rtlCol="0" anchor="ctr"/>
          <a:lstStyle/>
          <a:p>
            <a:pPr algn="l" indent="0" marL="0">
              <a:buNone/>
            </a:pPr>
            <a:r>
              <a:rPr lang="en-US" sz="6000" b="1" dirty="0">
                <a:solidFill>
                  <a:srgbClr val="8A0000">
                    <a:alpha val="65000"/>
                  </a:srgbClr>
                </a:solidFill>
                <a:latin typeface="Arial Black" pitchFamily="34" charset="0"/>
                <a:ea typeface="Arial Black" pitchFamily="34" charset="-122"/>
                <a:cs typeface="Arial Black" pitchFamily="34" charset="-120"/>
              </a:rPr>
              <a:t>GRACIAS</a:t>
            </a:r>
            <a:endParaRPr lang="en-US" sz="6000" dirty="0"/>
          </a:p>
        </p:txBody>
      </p:sp>
      <p:sp>
        <p:nvSpPr>
          <p:cNvPr id="4" name="Text 2"/>
          <p:cNvSpPr txBox="1"/>
          <p:nvPr/>
        </p:nvSpPr>
        <p:spPr>
          <a:xfrm>
            <a:off x="731520" y="2651760"/>
            <a:ext cx="7315200" cy="1097280"/>
          </a:xfrm>
          <a:prstGeom prst="rect">
            <a:avLst/>
          </a:prstGeom>
          <a:noFill/>
          <a:ln/>
        </p:spPr>
        <p:txBody>
          <a:bodyPr wrap="square" lIns="0" tIns="0" rIns="0" bIns="0" rtlCol="0" anchor="ctr"/>
          <a:lstStyle/>
          <a:p>
            <a:pPr algn="l" indent="0" marL="0">
              <a:buNone/>
            </a:pPr>
            <a:r>
              <a:rPr lang="en-US" sz="6000" b="1" dirty="0">
                <a:solidFill>
                  <a:srgbClr val="FF1A1A"/>
                </a:solidFill>
                <a:latin typeface="Arial Black" pitchFamily="34" charset="0"/>
                <a:ea typeface="Arial Black" pitchFamily="34" charset="-122"/>
                <a:cs typeface="Arial Black" pitchFamily="34" charset="-120"/>
              </a:rPr>
              <a:t>GRACIAS</a:t>
            </a:r>
            <a:endParaRPr lang="en-US" sz="6000" dirty="0"/>
          </a:p>
        </p:txBody>
      </p:sp>
      <p:sp>
        <p:nvSpPr>
          <p:cNvPr id="5" name="Shape 3"/>
          <p:cNvSpPr/>
          <p:nvPr/>
        </p:nvSpPr>
        <p:spPr>
          <a:xfrm>
            <a:off x="1316736" y="2849270"/>
            <a:ext cx="1609344" cy="32004"/>
          </a:xfrm>
          <a:prstGeom prst="rect">
            <a:avLst/>
          </a:prstGeom>
          <a:solidFill>
            <a:srgbClr val="00E5FF">
              <a:alpha val="70000"/>
            </a:srgbClr>
          </a:solidFill>
          <a:ln/>
        </p:spPr>
      </p:sp>
      <p:sp>
        <p:nvSpPr>
          <p:cNvPr id="6" name="Shape 4"/>
          <p:cNvSpPr/>
          <p:nvPr/>
        </p:nvSpPr>
        <p:spPr>
          <a:xfrm>
            <a:off x="4754880" y="3507638"/>
            <a:ext cx="2194560" cy="32004"/>
          </a:xfrm>
          <a:prstGeom prst="rect">
            <a:avLst/>
          </a:prstGeom>
          <a:solidFill>
            <a:srgbClr val="FF1A1A">
              <a:alpha val="80000"/>
            </a:srgbClr>
          </a:solidFill>
          <a:ln/>
        </p:spPr>
      </p:sp>
      <p:sp>
        <p:nvSpPr>
          <p:cNvPr id="7" name="Text 5"/>
          <p:cNvSpPr txBox="1"/>
          <p:nvPr/>
        </p:nvSpPr>
        <p:spPr>
          <a:xfrm>
            <a:off x="777240" y="3794760"/>
            <a:ext cx="9144000" cy="365760"/>
          </a:xfrm>
          <a:prstGeom prst="rect">
            <a:avLst/>
          </a:prstGeom>
          <a:noFill/>
          <a:ln/>
        </p:spPr>
        <p:txBody>
          <a:bodyPr wrap="square" lIns="0" tIns="0" rIns="0" bIns="0" rtlCol="0" anchor="ctr"/>
          <a:lstStyle/>
          <a:p>
            <a:pPr indent="0" marL="0">
              <a:buNone/>
            </a:pPr>
            <a:r>
              <a:rPr lang="en-US" sz="1400" dirty="0">
                <a:solidFill>
                  <a:srgbClr val="B8B8B8"/>
                </a:solidFill>
                <a:latin typeface="Calibri" pitchFamily="34" charset="0"/>
                <a:ea typeface="Calibri" pitchFamily="34" charset="-122"/>
                <a:cs typeface="Calibri" pitchFamily="34" charset="-120"/>
              </a:rPr>
              <a:t>James Tack  ·  Ingeniería en Sistemas y Computación  ·  UTP</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2026-09-11T19:00:57Z</dcterms:created>
  <dcterms:modified xsi:type="dcterms:W3CDTF">2026-09-11T19:00:57Z</dcterms:modified>
</cp:coreProperties>
</file>